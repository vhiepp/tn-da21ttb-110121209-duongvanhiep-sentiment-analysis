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3B7DA3F-2391-40E1-BBE1-5BC64BB0DCDB}">
          <p14:sldIdLst>
            <p14:sldId id="256"/>
          </p14:sldIdLst>
        </p14:section>
        <p14:section name="Body" id="{1B9D7128-194D-4FFA-895B-7199127650EE}">
          <p14:sldIdLst>
            <p14:sldId id="257"/>
            <p14:sldId id="258"/>
            <p14:sldId id="259"/>
            <p14:sldId id="260"/>
            <p14:sldId id="261"/>
            <p14:sldId id="262"/>
            <p14:sldId id="263"/>
            <p14:sldId id="264"/>
            <p14:sldId id="265"/>
            <p14:sldId id="266"/>
            <p14:sldId id="267"/>
            <p14:sldId id="268"/>
            <p14:sldId id="269"/>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C00"/>
    <a:srgbClr val="0533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55" autoAdjust="0"/>
    <p:restoredTop sz="79419" autoAdjust="0"/>
  </p:normalViewPr>
  <p:slideViewPr>
    <p:cSldViewPr snapToGrid="0">
      <p:cViewPr varScale="1">
        <p:scale>
          <a:sx n="88" d="100"/>
          <a:sy n="88" d="100"/>
        </p:scale>
        <p:origin x="1326" y="78"/>
      </p:cViewPr>
      <p:guideLst/>
    </p:cSldViewPr>
  </p:slideViewPr>
  <p:outlineViewPr>
    <p:cViewPr>
      <p:scale>
        <a:sx n="33" d="100"/>
        <a:sy n="33" d="100"/>
      </p:scale>
      <p:origin x="0" y="0"/>
    </p:cViewPr>
  </p:outlin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0158F7-4B1B-432F-97DD-86161B7B4351}" type="datetimeFigureOut">
              <a:rPr lang="en-AU" smtClean="0"/>
              <a:t>3/09/2025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DD2A79F-59E5-49B9-A316-22BCC94F9756}" type="slidenum">
              <a:rPr lang="en-AU" smtClean="0"/>
              <a:t>‹#›</a:t>
            </a:fld>
            <a:endParaRPr lang="en-AU"/>
          </a:p>
        </p:txBody>
      </p:sp>
    </p:spTree>
    <p:extLst>
      <p:ext uri="{BB962C8B-B14F-4D97-AF65-F5344CB8AC3E}">
        <p14:creationId xmlns:p14="http://schemas.microsoft.com/office/powerpoint/2010/main" val="29050142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FDD2A79F-59E5-49B9-A316-22BCC94F9756}" type="slidenum">
              <a:rPr lang="en-AU" smtClean="0"/>
              <a:t>0</a:t>
            </a:fld>
            <a:endParaRPr lang="en-AU"/>
          </a:p>
        </p:txBody>
      </p:sp>
    </p:spTree>
    <p:extLst>
      <p:ext uri="{BB962C8B-B14F-4D97-AF65-F5344CB8AC3E}">
        <p14:creationId xmlns:p14="http://schemas.microsoft.com/office/powerpoint/2010/main" val="132411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DD2A79F-59E5-49B9-A316-22BCC94F9756}" type="slidenum">
              <a:rPr lang="en-AU" smtClean="0"/>
              <a:t>1</a:t>
            </a:fld>
            <a:endParaRPr lang="en-AU"/>
          </a:p>
        </p:txBody>
      </p:sp>
    </p:spTree>
    <p:extLst>
      <p:ext uri="{BB962C8B-B14F-4D97-AF65-F5344CB8AC3E}">
        <p14:creationId xmlns:p14="http://schemas.microsoft.com/office/powerpoint/2010/main" val="267135400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62C55-8F3C-835A-935F-BF67B41999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437354-8E7A-0FF7-04A2-FFECF8202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7A59B1-D59B-F2B7-EC8E-FFDA3EA33EEA}"/>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90BDD9-7C30-3451-3632-5F635116314B}"/>
              </a:ext>
            </a:extLst>
          </p:cNvPr>
          <p:cNvSpPr>
            <a:spLocks noGrp="1"/>
          </p:cNvSpPr>
          <p:nvPr>
            <p:ph type="sldNum" sz="quarter" idx="5"/>
          </p:nvPr>
        </p:nvSpPr>
        <p:spPr/>
        <p:txBody>
          <a:bodyPr/>
          <a:lstStyle/>
          <a:p>
            <a:fld id="{FDD2A79F-59E5-49B9-A316-22BCC94F9756}" type="slidenum">
              <a:rPr lang="en-AU" smtClean="0"/>
              <a:t>2</a:t>
            </a:fld>
            <a:endParaRPr lang="en-AU"/>
          </a:p>
        </p:txBody>
      </p:sp>
    </p:spTree>
    <p:extLst>
      <p:ext uri="{BB962C8B-B14F-4D97-AF65-F5344CB8AC3E}">
        <p14:creationId xmlns:p14="http://schemas.microsoft.com/office/powerpoint/2010/main" val="15137886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DF7F-9C52-0EB9-CECA-96C714F7F5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CD0423-4DFC-A985-C022-E0A876ED20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67F75-B7B9-4A8B-16FB-7958EE558AE7}"/>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4B5B2E4-1767-7BFF-FAE2-2AF5518CE86D}"/>
              </a:ext>
            </a:extLst>
          </p:cNvPr>
          <p:cNvSpPr>
            <a:spLocks noGrp="1"/>
          </p:cNvSpPr>
          <p:nvPr>
            <p:ph type="sldNum" sz="quarter" idx="5"/>
          </p:nvPr>
        </p:nvSpPr>
        <p:spPr/>
        <p:txBody>
          <a:bodyPr/>
          <a:lstStyle/>
          <a:p>
            <a:fld id="{FDD2A79F-59E5-49B9-A316-22BCC94F9756}" type="slidenum">
              <a:rPr lang="en-AU" smtClean="0"/>
              <a:t>3</a:t>
            </a:fld>
            <a:endParaRPr lang="en-AU"/>
          </a:p>
        </p:txBody>
      </p:sp>
    </p:spTree>
    <p:extLst>
      <p:ext uri="{BB962C8B-B14F-4D97-AF65-F5344CB8AC3E}">
        <p14:creationId xmlns:p14="http://schemas.microsoft.com/office/powerpoint/2010/main" val="1527534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B35CA-7735-178C-D8B9-16118ED535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A33BF9-837F-1777-9BD8-F1D9AAF3FE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AF74F6-BA66-5F0E-7BF0-2FF4A0110E62}"/>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E68664F-2450-D885-82CC-3F1BD6797613}"/>
              </a:ext>
            </a:extLst>
          </p:cNvPr>
          <p:cNvSpPr>
            <a:spLocks noGrp="1"/>
          </p:cNvSpPr>
          <p:nvPr>
            <p:ph type="sldNum" sz="quarter" idx="5"/>
          </p:nvPr>
        </p:nvSpPr>
        <p:spPr/>
        <p:txBody>
          <a:bodyPr/>
          <a:lstStyle/>
          <a:p>
            <a:fld id="{FDD2A79F-59E5-49B9-A316-22BCC94F9756}" type="slidenum">
              <a:rPr lang="en-AU" smtClean="0"/>
              <a:t>4</a:t>
            </a:fld>
            <a:endParaRPr lang="en-AU"/>
          </a:p>
        </p:txBody>
      </p:sp>
    </p:spTree>
    <p:extLst>
      <p:ext uri="{BB962C8B-B14F-4D97-AF65-F5344CB8AC3E}">
        <p14:creationId xmlns:p14="http://schemas.microsoft.com/office/powerpoint/2010/main" val="10540803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CB9C3-1869-0C15-AA11-ACB9818EC6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B4C175-6BBF-07FC-0ADA-4BA278E849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15E79-019F-CCAC-AFDA-8D492B9C5B5D}"/>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7FA14839-8951-2AAF-A11C-2B7C9825A1FD}"/>
              </a:ext>
            </a:extLst>
          </p:cNvPr>
          <p:cNvSpPr>
            <a:spLocks noGrp="1"/>
          </p:cNvSpPr>
          <p:nvPr>
            <p:ph type="sldNum" sz="quarter" idx="5"/>
          </p:nvPr>
        </p:nvSpPr>
        <p:spPr/>
        <p:txBody>
          <a:bodyPr/>
          <a:lstStyle/>
          <a:p>
            <a:fld id="{FDD2A79F-59E5-49B9-A316-22BCC94F9756}" type="slidenum">
              <a:rPr lang="en-AU" smtClean="0"/>
              <a:t>5</a:t>
            </a:fld>
            <a:endParaRPr lang="en-AU"/>
          </a:p>
        </p:txBody>
      </p:sp>
    </p:spTree>
    <p:extLst>
      <p:ext uri="{BB962C8B-B14F-4D97-AF65-F5344CB8AC3E}">
        <p14:creationId xmlns:p14="http://schemas.microsoft.com/office/powerpoint/2010/main" val="24978847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046BF-74F0-0334-5B71-A709EB2BB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DF813-50FB-01E5-A061-1F8DCE2F5D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4F8C24-A137-7DBF-3A79-8C9CE482B856}"/>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5758618A-0696-7C2A-408C-98BD8D844070}"/>
              </a:ext>
            </a:extLst>
          </p:cNvPr>
          <p:cNvSpPr>
            <a:spLocks noGrp="1"/>
          </p:cNvSpPr>
          <p:nvPr>
            <p:ph type="sldNum" sz="quarter" idx="5"/>
          </p:nvPr>
        </p:nvSpPr>
        <p:spPr/>
        <p:txBody>
          <a:bodyPr/>
          <a:lstStyle/>
          <a:p>
            <a:fld id="{FDD2A79F-59E5-49B9-A316-22BCC94F9756}" type="slidenum">
              <a:rPr lang="en-AU" smtClean="0"/>
              <a:t>6</a:t>
            </a:fld>
            <a:endParaRPr lang="en-AU"/>
          </a:p>
        </p:txBody>
      </p:sp>
    </p:spTree>
    <p:extLst>
      <p:ext uri="{BB962C8B-B14F-4D97-AF65-F5344CB8AC3E}">
        <p14:creationId xmlns:p14="http://schemas.microsoft.com/office/powerpoint/2010/main" val="25872277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CA6DE-B252-687B-47C3-540BABBAD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E7BFA-2285-E676-0429-E727BF91E4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2CBAE-DC51-7355-E34F-904957808A7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22FD5899-D7B9-5C31-C0F8-C632CFD9B880}"/>
              </a:ext>
            </a:extLst>
          </p:cNvPr>
          <p:cNvSpPr>
            <a:spLocks noGrp="1"/>
          </p:cNvSpPr>
          <p:nvPr>
            <p:ph type="sldNum" sz="quarter" idx="5"/>
          </p:nvPr>
        </p:nvSpPr>
        <p:spPr/>
        <p:txBody>
          <a:bodyPr/>
          <a:lstStyle/>
          <a:p>
            <a:fld id="{FDD2A79F-59E5-49B9-A316-22BCC94F9756}" type="slidenum">
              <a:rPr lang="en-AU" smtClean="0"/>
              <a:t>7</a:t>
            </a:fld>
            <a:endParaRPr lang="en-AU"/>
          </a:p>
        </p:txBody>
      </p:sp>
    </p:spTree>
    <p:extLst>
      <p:ext uri="{BB962C8B-B14F-4D97-AF65-F5344CB8AC3E}">
        <p14:creationId xmlns:p14="http://schemas.microsoft.com/office/powerpoint/2010/main" val="2165287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50B01-8B9D-D8DC-07F6-BF2636542D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C120F0-879A-0BB6-11A2-0F27884A97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E9D5D-C0D6-7C0D-8BDD-9749CE777F0B}"/>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81686E1A-6BE6-B3B6-14A4-9A6B5AD51873}"/>
              </a:ext>
            </a:extLst>
          </p:cNvPr>
          <p:cNvSpPr>
            <a:spLocks noGrp="1"/>
          </p:cNvSpPr>
          <p:nvPr>
            <p:ph type="sldNum" sz="quarter" idx="5"/>
          </p:nvPr>
        </p:nvSpPr>
        <p:spPr/>
        <p:txBody>
          <a:bodyPr/>
          <a:lstStyle/>
          <a:p>
            <a:fld id="{FDD2A79F-59E5-49B9-A316-22BCC94F9756}" type="slidenum">
              <a:rPr lang="en-AU" smtClean="0"/>
              <a:t>8</a:t>
            </a:fld>
            <a:endParaRPr lang="en-AU"/>
          </a:p>
        </p:txBody>
      </p:sp>
    </p:spTree>
    <p:extLst>
      <p:ext uri="{BB962C8B-B14F-4D97-AF65-F5344CB8AC3E}">
        <p14:creationId xmlns:p14="http://schemas.microsoft.com/office/powerpoint/2010/main" val="34300996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22505-40F7-6B5D-5022-B5E2338478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4B3880-F3FC-1D1E-1832-ECB4CB8ECD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205A29-15AD-E06E-1DAD-5BB28C8B43EF}"/>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F15F57EE-3BA4-EC02-B38C-6D0DE1FE5844}"/>
              </a:ext>
            </a:extLst>
          </p:cNvPr>
          <p:cNvSpPr>
            <a:spLocks noGrp="1"/>
          </p:cNvSpPr>
          <p:nvPr>
            <p:ph type="sldNum" sz="quarter" idx="5"/>
          </p:nvPr>
        </p:nvSpPr>
        <p:spPr/>
        <p:txBody>
          <a:bodyPr/>
          <a:lstStyle/>
          <a:p>
            <a:fld id="{FDD2A79F-59E5-49B9-A316-22BCC94F9756}" type="slidenum">
              <a:rPr lang="en-AU" smtClean="0"/>
              <a:t>9</a:t>
            </a:fld>
            <a:endParaRPr lang="en-AU"/>
          </a:p>
        </p:txBody>
      </p:sp>
    </p:spTree>
    <p:extLst>
      <p:ext uri="{BB962C8B-B14F-4D97-AF65-F5344CB8AC3E}">
        <p14:creationId xmlns:p14="http://schemas.microsoft.com/office/powerpoint/2010/main" val="15500839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E66F4E-B3EC-4221-6BD1-D68E0EC441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11A2F-DC36-6381-D914-9716D16D58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441926-C296-579F-CFB1-7BDAB9080290}"/>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30ADF5F7-022C-DCBD-EDCE-A3D103678AE4}"/>
              </a:ext>
            </a:extLst>
          </p:cNvPr>
          <p:cNvSpPr>
            <a:spLocks noGrp="1"/>
          </p:cNvSpPr>
          <p:nvPr>
            <p:ph type="sldNum" sz="quarter" idx="5"/>
          </p:nvPr>
        </p:nvSpPr>
        <p:spPr/>
        <p:txBody>
          <a:bodyPr/>
          <a:lstStyle/>
          <a:p>
            <a:fld id="{FDD2A79F-59E5-49B9-A316-22BCC94F9756}" type="slidenum">
              <a:rPr lang="en-AU" smtClean="0"/>
              <a:t>10</a:t>
            </a:fld>
            <a:endParaRPr lang="en-AU"/>
          </a:p>
        </p:txBody>
      </p:sp>
    </p:spTree>
    <p:extLst>
      <p:ext uri="{BB962C8B-B14F-4D97-AF65-F5344CB8AC3E}">
        <p14:creationId xmlns:p14="http://schemas.microsoft.com/office/powerpoint/2010/main" val="1377321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E71B3-162F-E79F-BDAF-A48016CFB0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B664C5-89E6-E7E6-D01E-95B62448E1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CA083-6CFD-D3AE-1FE9-5934CB31E454}"/>
              </a:ext>
            </a:extLst>
          </p:cNvPr>
          <p:cNvSpPr>
            <a:spLocks noGrp="1"/>
          </p:cNvSpPr>
          <p:nvPr>
            <p:ph type="body" idx="1"/>
          </p:nvPr>
        </p:nvSpPr>
        <p:spPr/>
        <p:txBody>
          <a:bodyPr/>
          <a:lstStyle/>
          <a:p>
            <a:r>
              <a:rPr lang="en-US" dirty="0" err="1"/>
              <a:t>Hiện</a:t>
            </a:r>
            <a:r>
              <a:rPr lang="en-US" dirty="0"/>
              <a:t> </a:t>
            </a:r>
            <a:r>
              <a:rPr lang="en-US" dirty="0" err="1"/>
              <a:t>tại</a:t>
            </a:r>
            <a:r>
              <a:rPr lang="en-US" dirty="0"/>
              <a:t>…</a:t>
            </a:r>
          </a:p>
          <a:p>
            <a:r>
              <a:rPr lang="en-US" dirty="0" err="1"/>
              <a:t>Từ</a:t>
            </a:r>
            <a:r>
              <a:rPr lang="en-US" dirty="0"/>
              <a:t> </a:t>
            </a:r>
            <a:r>
              <a:rPr lang="en-US" dirty="0" err="1"/>
              <a:t>đó</a:t>
            </a:r>
            <a:r>
              <a:rPr lang="en-US" dirty="0"/>
              <a:t>….</a:t>
            </a:r>
          </a:p>
          <a:p>
            <a:r>
              <a:rPr lang="en-US" dirty="0"/>
              <a:t>….</a:t>
            </a:r>
          </a:p>
        </p:txBody>
      </p:sp>
      <p:sp>
        <p:nvSpPr>
          <p:cNvPr id="4" name="Slide Number Placeholder 3">
            <a:extLst>
              <a:ext uri="{FF2B5EF4-FFF2-40B4-BE49-F238E27FC236}">
                <a16:creationId xmlns:a16="http://schemas.microsoft.com/office/drawing/2014/main" id="{0FA69E79-4A70-58DA-5F79-8D0FB5603BFC}"/>
              </a:ext>
            </a:extLst>
          </p:cNvPr>
          <p:cNvSpPr>
            <a:spLocks noGrp="1"/>
          </p:cNvSpPr>
          <p:nvPr>
            <p:ph type="sldNum" sz="quarter" idx="5"/>
          </p:nvPr>
        </p:nvSpPr>
        <p:spPr/>
        <p:txBody>
          <a:bodyPr/>
          <a:lstStyle/>
          <a:p>
            <a:fld id="{FDD2A79F-59E5-49B9-A316-22BCC94F9756}" type="slidenum">
              <a:rPr lang="en-AU" smtClean="0"/>
              <a:t>11</a:t>
            </a:fld>
            <a:endParaRPr lang="en-AU"/>
          </a:p>
        </p:txBody>
      </p:sp>
    </p:spTree>
    <p:extLst>
      <p:ext uri="{BB962C8B-B14F-4D97-AF65-F5344CB8AC3E}">
        <p14:creationId xmlns:p14="http://schemas.microsoft.com/office/powerpoint/2010/main" val="32112399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0F75-94A3-D60F-84CA-9C0A201B67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3D315E-17E4-EEA0-CB7B-27CBA6E949A6}"/>
              </a:ext>
            </a:extLst>
          </p:cNvPr>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mn-lt"/>
                          <a:ea typeface="+mn-ea"/>
                          <a:cs typeface="+mn-cs"/>
                        </a:rPr>
                        <m:t>𝑃</m:t>
                      </m:r>
                      <m:r>
                        <a:rPr lang="en-US" sz="1200" i="1" kern="1200">
                          <a:solidFill>
                            <a:schemeClr val="tx1"/>
                          </a:solidFill>
                          <a:effectLst/>
                          <a:latin typeface="+mn-lt"/>
                          <a:ea typeface="+mn-ea"/>
                          <a:cs typeface="+mn-cs"/>
                        </a:rPr>
                        <m:t>(</m:t>
                      </m:r>
                      <m:r>
                        <a:rPr lang="en-US" sz="1200" i="1" kern="1200">
                          <a:solidFill>
                            <a:schemeClr val="tx1"/>
                          </a:solidFill>
                          <a:effectLst/>
                          <a:latin typeface="+mn-lt"/>
                          <a:ea typeface="+mn-ea"/>
                          <a:cs typeface="+mn-cs"/>
                        </a:rPr>
                        <m:t>𝐶</m:t>
                      </m:r>
                      <m:r>
                        <a:rPr lang="en-US" sz="1200" i="1" kern="1200">
                          <a:solidFill>
                            <a:schemeClr val="tx1"/>
                          </a:solidFill>
                          <a:effectLst/>
                          <a:latin typeface="+mn-lt"/>
                          <a:ea typeface="+mn-ea"/>
                          <a:cs typeface="+mn-cs"/>
                        </a:rPr>
                        <m:t>|</m:t>
                      </m:r>
                      <m:r>
                        <a:rPr lang="en-US" sz="1200" i="1" kern="1200">
                          <a:solidFill>
                            <a:schemeClr val="tx1"/>
                          </a:solidFill>
                          <a:effectLst/>
                          <a:latin typeface="+mn-lt"/>
                          <a:ea typeface="+mn-ea"/>
                          <a:cs typeface="+mn-cs"/>
                        </a:rPr>
                        <m:t>𝑋</m:t>
                      </m:r>
                      <m:r>
                        <a:rPr lang="en-US" sz="1200" i="1" kern="1200">
                          <a:solidFill>
                            <a:schemeClr val="tx1"/>
                          </a:solidFill>
                          <a:effectLst/>
                          <a:latin typeface="+mn-lt"/>
                          <a:ea typeface="+mn-ea"/>
                          <a:cs typeface="+mn-cs"/>
                        </a:rPr>
                        <m:t>)</m:t>
                      </m:r>
                      <m:r>
                        <a:rPr lang="en-US" sz="1200" kern="1200">
                          <a:solidFill>
                            <a:schemeClr val="tx1"/>
                          </a:solidFill>
                          <a:effectLst/>
                          <a:latin typeface="+mn-lt"/>
                          <a:ea typeface="+mn-ea"/>
                          <a:cs typeface="+mn-cs"/>
                        </a:rPr>
                        <m:t>=</m:t>
                      </m:r>
                      <m:f>
                        <m:fPr>
                          <m:ctrlPr>
                            <a:rPr lang="en-US" sz="1200" i="1" kern="1200">
                              <a:solidFill>
                                <a:schemeClr val="tx1"/>
                              </a:solidFill>
                              <a:effectLst/>
                              <a:latin typeface="+mn-lt"/>
                              <a:ea typeface="+mn-ea"/>
                              <a:cs typeface="+mn-cs"/>
                            </a:rPr>
                          </m:ctrlPr>
                        </m:fPr>
                        <m:num>
                          <m:r>
                            <a:rPr lang="en-US" sz="1200" i="1" kern="1200">
                              <a:solidFill>
                                <a:schemeClr val="tx1"/>
                              </a:solidFill>
                              <a:effectLst/>
                              <a:latin typeface="+mn-lt"/>
                              <a:ea typeface="+mn-ea"/>
                              <a:cs typeface="+mn-cs"/>
                            </a:rPr>
                            <m:t>𝑃</m:t>
                          </m:r>
                          <m:d>
                            <m:dPr>
                              <m:ctrlPr>
                                <a:rPr lang="en-US" sz="1200" i="1" kern="1200">
                                  <a:solidFill>
                                    <a:schemeClr val="tx1"/>
                                  </a:solidFill>
                                  <a:effectLst/>
                                  <a:latin typeface="+mn-lt"/>
                                  <a:ea typeface="+mn-ea"/>
                                  <a:cs typeface="+mn-cs"/>
                                </a:rPr>
                              </m:ctrlPr>
                            </m:dPr>
                            <m:e>
                              <m:r>
                                <a:rPr lang="en-US" sz="1200" i="1" kern="1200">
                                  <a:solidFill>
                                    <a:schemeClr val="tx1"/>
                                  </a:solidFill>
                                  <a:effectLst/>
                                  <a:latin typeface="+mn-lt"/>
                                  <a:ea typeface="+mn-ea"/>
                                  <a:cs typeface="+mn-cs"/>
                                </a:rPr>
                                <m:t>𝑋</m:t>
                              </m:r>
                            </m:e>
                            <m:e>
                              <m:r>
                                <a:rPr lang="en-US" sz="1200" i="1" kern="1200">
                                  <a:solidFill>
                                    <a:schemeClr val="tx1"/>
                                  </a:solidFill>
                                  <a:effectLst/>
                                  <a:latin typeface="+mn-lt"/>
                                  <a:ea typeface="+mn-ea"/>
                                  <a:cs typeface="+mn-cs"/>
                                </a:rPr>
                                <m:t>𝐶</m:t>
                              </m:r>
                            </m:e>
                          </m:d>
                          <m:r>
                            <a:rPr lang="en-US" sz="1200" i="1" kern="1200">
                              <a:solidFill>
                                <a:schemeClr val="tx1"/>
                              </a:solidFill>
                              <a:effectLst/>
                              <a:latin typeface="+mn-lt"/>
                              <a:ea typeface="+mn-ea"/>
                              <a:cs typeface="+mn-cs"/>
                            </a:rPr>
                            <m:t> . </m:t>
                          </m:r>
                          <m:r>
                            <a:rPr lang="en-US" sz="1200" i="1" kern="1200">
                              <a:solidFill>
                                <a:schemeClr val="tx1"/>
                              </a:solidFill>
                              <a:effectLst/>
                              <a:latin typeface="+mn-lt"/>
                              <a:ea typeface="+mn-ea"/>
                              <a:cs typeface="+mn-cs"/>
                            </a:rPr>
                            <m:t>𝑃</m:t>
                          </m:r>
                          <m:r>
                            <a:rPr lang="en-US" sz="1200" i="1" kern="1200">
                              <a:solidFill>
                                <a:schemeClr val="tx1"/>
                              </a:solidFill>
                              <a:effectLst/>
                              <a:latin typeface="+mn-lt"/>
                              <a:ea typeface="+mn-ea"/>
                              <a:cs typeface="+mn-cs"/>
                            </a:rPr>
                            <m:t>(</m:t>
                          </m:r>
                          <m:r>
                            <a:rPr lang="en-US" sz="1200" i="1" kern="1200">
                              <a:solidFill>
                                <a:schemeClr val="tx1"/>
                              </a:solidFill>
                              <a:effectLst/>
                              <a:latin typeface="+mn-lt"/>
                              <a:ea typeface="+mn-ea"/>
                              <a:cs typeface="+mn-cs"/>
                            </a:rPr>
                            <m:t>𝐶</m:t>
                          </m:r>
                          <m:r>
                            <a:rPr lang="en-US" sz="1200" i="1" kern="1200">
                              <a:solidFill>
                                <a:schemeClr val="tx1"/>
                              </a:solidFill>
                              <a:effectLst/>
                              <a:latin typeface="+mn-lt"/>
                              <a:ea typeface="+mn-ea"/>
                              <a:cs typeface="+mn-cs"/>
                            </a:rPr>
                            <m:t>)</m:t>
                          </m:r>
                        </m:num>
                        <m:den>
                          <m:r>
                            <m:rPr>
                              <m:sty m:val="p"/>
                            </m:rPr>
                            <a:rPr lang="en-US" sz="1200" kern="1200">
                              <a:solidFill>
                                <a:schemeClr val="tx1"/>
                              </a:solidFill>
                              <a:effectLst/>
                              <a:latin typeface="+mn-lt"/>
                              <a:ea typeface="+mn-ea"/>
                              <a:cs typeface="+mn-cs"/>
                            </a:rPr>
                            <m:t>P</m:t>
                          </m:r>
                          <m:r>
                            <a:rPr lang="en-US" sz="1200" kern="1200">
                              <a:solidFill>
                                <a:schemeClr val="tx1"/>
                              </a:solidFill>
                              <a:effectLst/>
                              <a:latin typeface="+mn-lt"/>
                              <a:ea typeface="+mn-ea"/>
                              <a:cs typeface="+mn-cs"/>
                            </a:rPr>
                            <m:t>(</m:t>
                          </m:r>
                          <m:r>
                            <m:rPr>
                              <m:sty m:val="p"/>
                            </m:rPr>
                            <a:rPr lang="en-US" sz="1200" kern="1200">
                              <a:solidFill>
                                <a:schemeClr val="tx1"/>
                              </a:solidFill>
                              <a:effectLst/>
                              <a:latin typeface="+mn-lt"/>
                              <a:ea typeface="+mn-ea"/>
                              <a:cs typeface="+mn-cs"/>
                            </a:rPr>
                            <m:t>X</m:t>
                          </m:r>
                          <m:r>
                            <a:rPr lang="en-US" sz="1200" kern="1200">
                              <a:solidFill>
                                <a:schemeClr val="tx1"/>
                              </a:solidFill>
                              <a:effectLst/>
                              <a:latin typeface="+mn-lt"/>
                              <a:ea typeface="+mn-ea"/>
                              <a:cs typeface="+mn-cs"/>
                            </a:rPr>
                            <m:t>)</m:t>
                          </m:r>
                        </m:den>
                      </m:f>
                    </m:oMath>
                  </m:oMathPara>
                </a14:m>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14:m>
                  <m:oMathPara xmlns:m="http://schemas.openxmlformats.org/officeDocument/2006/math">
                    <m:oMathParaPr>
                      <m:jc m:val="centerGroup"/>
                    </m:oMathParaPr>
                    <m:oMath xmlns:m="http://schemas.openxmlformats.org/officeDocument/2006/math">
                      <m:r>
                        <a:rPr lang="en-US" sz="1200" i="1" kern="1200">
                          <a:solidFill>
                            <a:schemeClr val="tx1"/>
                          </a:solidFill>
                          <a:effectLst/>
                          <a:latin typeface="+mn-lt"/>
                          <a:ea typeface="+mn-ea"/>
                          <a:cs typeface="+mn-cs"/>
                        </a:rPr>
                        <m:t>𝑃</m:t>
                      </m:r>
                      <m:d>
                        <m:dPr>
                          <m:ctrlPr>
                            <a:rPr lang="en-US" sz="1200" i="1" kern="1200">
                              <a:solidFill>
                                <a:schemeClr val="tx1"/>
                              </a:solidFill>
                              <a:effectLst/>
                              <a:latin typeface="+mn-lt"/>
                              <a:ea typeface="+mn-ea"/>
                              <a:cs typeface="+mn-cs"/>
                            </a:rPr>
                          </m:ctrlPr>
                        </m:dPr>
                        <m:e>
                          <m:r>
                            <a:rPr lang="en-US" sz="1200" i="1" kern="1200">
                              <a:solidFill>
                                <a:schemeClr val="tx1"/>
                              </a:solidFill>
                              <a:effectLst/>
                              <a:latin typeface="+mn-lt"/>
                              <a:ea typeface="+mn-ea"/>
                              <a:cs typeface="+mn-cs"/>
                            </a:rPr>
                            <m:t>𝑋</m:t>
                          </m:r>
                        </m:e>
                        <m:e>
                          <m:r>
                            <a:rPr lang="en-US" sz="1200" i="1" kern="1200">
                              <a:solidFill>
                                <a:schemeClr val="tx1"/>
                              </a:solidFill>
                              <a:effectLst/>
                              <a:latin typeface="+mn-lt"/>
                              <a:ea typeface="+mn-ea"/>
                              <a:cs typeface="+mn-cs"/>
                            </a:rPr>
                            <m:t>𝐶</m:t>
                          </m:r>
                        </m:e>
                      </m:d>
                      <m:r>
                        <a:rPr lang="en-US" sz="1200" i="1" kern="1200">
                          <a:solidFill>
                            <a:schemeClr val="tx1"/>
                          </a:solidFill>
                          <a:effectLst/>
                          <a:latin typeface="+mn-lt"/>
                          <a:ea typeface="+mn-ea"/>
                          <a:cs typeface="+mn-cs"/>
                        </a:rPr>
                        <m:t>=</m:t>
                      </m:r>
                      <m:r>
                        <a:rPr lang="en-US" sz="1200" i="1" kern="1200">
                          <a:solidFill>
                            <a:schemeClr val="tx1"/>
                          </a:solidFill>
                          <a:effectLst/>
                          <a:latin typeface="+mn-lt"/>
                          <a:ea typeface="+mn-ea"/>
                          <a:cs typeface="+mn-cs"/>
                        </a:rPr>
                        <m:t>𝑃</m:t>
                      </m:r>
                      <m:d>
                        <m:dPr>
                          <m:ctrlPr>
                            <a:rPr lang="en-US" sz="1200" i="1" kern="1200">
                              <a:solidFill>
                                <a:schemeClr val="tx1"/>
                              </a:solidFill>
                              <a:effectLst/>
                              <a:latin typeface="+mn-lt"/>
                              <a:ea typeface="+mn-ea"/>
                              <a:cs typeface="+mn-cs"/>
                            </a:rPr>
                          </m:ctrlPr>
                        </m:dPr>
                        <m:e>
                          <m:sSub>
                            <m:sSubPr>
                              <m:ctrlPr>
                                <a:rPr lang="en-US" sz="1200" i="1" kern="1200">
                                  <a:solidFill>
                                    <a:schemeClr val="tx1"/>
                                  </a:solidFill>
                                  <a:effectLst/>
                                  <a:latin typeface="+mn-lt"/>
                                  <a:ea typeface="+mn-ea"/>
                                  <a:cs typeface="+mn-cs"/>
                                </a:rPr>
                              </m:ctrlPr>
                            </m:sSubPr>
                            <m:e>
                              <m:r>
                                <a:rPr lang="en-US" sz="1200" i="1" kern="1200">
                                  <a:solidFill>
                                    <a:schemeClr val="tx1"/>
                                  </a:solidFill>
                                  <a:effectLst/>
                                  <a:latin typeface="+mn-lt"/>
                                  <a:ea typeface="+mn-ea"/>
                                  <a:cs typeface="+mn-cs"/>
                                </a:rPr>
                                <m:t>𝑥</m:t>
                              </m:r>
                            </m:e>
                            <m:sub>
                              <m:r>
                                <a:rPr lang="en-US" sz="1200" i="1" kern="1200">
                                  <a:solidFill>
                                    <a:schemeClr val="tx1"/>
                                  </a:solidFill>
                                  <a:effectLst/>
                                  <a:latin typeface="+mn-lt"/>
                                  <a:ea typeface="+mn-ea"/>
                                  <a:cs typeface="+mn-cs"/>
                                </a:rPr>
                                <m:t>1</m:t>
                              </m:r>
                            </m:sub>
                          </m:sSub>
                          <m:r>
                            <a:rPr lang="en-US" sz="1200" i="1" kern="1200">
                              <a:solidFill>
                                <a:schemeClr val="tx1"/>
                              </a:solidFill>
                              <a:effectLst/>
                              <a:latin typeface="+mn-lt"/>
                              <a:ea typeface="+mn-ea"/>
                              <a:cs typeface="+mn-cs"/>
                            </a:rPr>
                            <m:t>,</m:t>
                          </m:r>
                          <m:sSub>
                            <m:sSubPr>
                              <m:ctrlPr>
                                <a:rPr lang="en-US" sz="1200" i="1" kern="1200">
                                  <a:solidFill>
                                    <a:schemeClr val="tx1"/>
                                  </a:solidFill>
                                  <a:effectLst/>
                                  <a:latin typeface="+mn-lt"/>
                                  <a:ea typeface="+mn-ea"/>
                                  <a:cs typeface="+mn-cs"/>
                                </a:rPr>
                              </m:ctrlPr>
                            </m:sSubPr>
                            <m:e>
                              <m:r>
                                <a:rPr lang="en-US" sz="1200" i="1" kern="1200">
                                  <a:solidFill>
                                    <a:schemeClr val="tx1"/>
                                  </a:solidFill>
                                  <a:effectLst/>
                                  <a:latin typeface="+mn-lt"/>
                                  <a:ea typeface="+mn-ea"/>
                                  <a:cs typeface="+mn-cs"/>
                                </a:rPr>
                                <m:t>𝑥</m:t>
                              </m:r>
                            </m:e>
                            <m:sub>
                              <m:r>
                                <a:rPr lang="en-US" sz="1200" i="1" kern="1200">
                                  <a:solidFill>
                                    <a:schemeClr val="tx1"/>
                                  </a:solidFill>
                                  <a:effectLst/>
                                  <a:latin typeface="+mn-lt"/>
                                  <a:ea typeface="+mn-ea"/>
                                  <a:cs typeface="+mn-cs"/>
                                </a:rPr>
                                <m:t>2</m:t>
                              </m:r>
                            </m:sub>
                          </m:sSub>
                          <m:r>
                            <a:rPr lang="en-US" sz="1200" i="1" kern="1200">
                              <a:solidFill>
                                <a:schemeClr val="tx1"/>
                              </a:solidFill>
                              <a:effectLst/>
                              <a:latin typeface="+mn-lt"/>
                              <a:ea typeface="+mn-ea"/>
                              <a:cs typeface="+mn-cs"/>
                            </a:rPr>
                            <m:t>,…,</m:t>
                          </m:r>
                          <m:sSub>
                            <m:sSubPr>
                              <m:ctrlPr>
                                <a:rPr lang="en-US" sz="1200" i="1" kern="1200">
                                  <a:solidFill>
                                    <a:schemeClr val="tx1"/>
                                  </a:solidFill>
                                  <a:effectLst/>
                                  <a:latin typeface="+mn-lt"/>
                                  <a:ea typeface="+mn-ea"/>
                                  <a:cs typeface="+mn-cs"/>
                                </a:rPr>
                              </m:ctrlPr>
                            </m:sSubPr>
                            <m:e>
                              <m:r>
                                <a:rPr lang="en-US" sz="1200" i="1" kern="1200">
                                  <a:solidFill>
                                    <a:schemeClr val="tx1"/>
                                  </a:solidFill>
                                  <a:effectLst/>
                                  <a:latin typeface="+mn-lt"/>
                                  <a:ea typeface="+mn-ea"/>
                                  <a:cs typeface="+mn-cs"/>
                                </a:rPr>
                                <m:t>𝑥</m:t>
                              </m:r>
                            </m:e>
                            <m:sub>
                              <m:r>
                                <a:rPr lang="en-US" sz="1200" i="1" kern="1200">
                                  <a:solidFill>
                                    <a:schemeClr val="tx1"/>
                                  </a:solidFill>
                                  <a:effectLst/>
                                  <a:latin typeface="+mn-lt"/>
                                  <a:ea typeface="+mn-ea"/>
                                  <a:cs typeface="+mn-cs"/>
                                </a:rPr>
                                <m:t>𝑛</m:t>
                              </m:r>
                            </m:sub>
                          </m:sSub>
                          <m:r>
                            <a:rPr lang="en-US" sz="1200" i="1" kern="1200">
                              <a:solidFill>
                                <a:schemeClr val="tx1"/>
                              </a:solidFill>
                              <a:effectLst/>
                              <a:latin typeface="+mn-lt"/>
                              <a:ea typeface="+mn-ea"/>
                              <a:cs typeface="+mn-cs"/>
                            </a:rPr>
                            <m:t>|</m:t>
                          </m:r>
                          <m:r>
                            <a:rPr lang="en-US" sz="1200" i="1" kern="1200">
                              <a:solidFill>
                                <a:schemeClr val="tx1"/>
                              </a:solidFill>
                              <a:effectLst/>
                              <a:latin typeface="+mn-lt"/>
                              <a:ea typeface="+mn-ea"/>
                              <a:cs typeface="+mn-cs"/>
                            </a:rPr>
                            <m:t>𝐶</m:t>
                          </m:r>
                        </m:e>
                      </m:d>
                      <m:r>
                        <a:rPr lang="en-US" sz="1200" i="1" kern="1200">
                          <a:solidFill>
                            <a:schemeClr val="tx1"/>
                          </a:solidFill>
                          <a:effectLst/>
                          <a:latin typeface="+mn-lt"/>
                          <a:ea typeface="+mn-ea"/>
                          <a:cs typeface="+mn-cs"/>
                        </a:rPr>
                        <m:t>=</m:t>
                      </m:r>
                      <m:nary>
                        <m:naryPr>
                          <m:chr m:val="∏"/>
                          <m:limLoc m:val="undOvr"/>
                          <m:ctrlPr>
                            <a:rPr lang="en-US" sz="1200" i="1" kern="1200">
                              <a:solidFill>
                                <a:schemeClr val="tx1"/>
                              </a:solidFill>
                              <a:effectLst/>
                              <a:latin typeface="+mn-lt"/>
                              <a:ea typeface="+mn-ea"/>
                              <a:cs typeface="+mn-cs"/>
                            </a:rPr>
                          </m:ctrlPr>
                        </m:naryPr>
                        <m:sub>
                          <m:r>
                            <a:rPr lang="en-US" sz="1200" i="1" kern="1200">
                              <a:solidFill>
                                <a:schemeClr val="tx1"/>
                              </a:solidFill>
                              <a:effectLst/>
                              <a:latin typeface="+mn-lt"/>
                              <a:ea typeface="+mn-ea"/>
                              <a:cs typeface="+mn-cs"/>
                            </a:rPr>
                            <m:t>𝑖</m:t>
                          </m:r>
                          <m:r>
                            <a:rPr lang="en-US" sz="1200" i="1" kern="1200">
                              <a:solidFill>
                                <a:schemeClr val="tx1"/>
                              </a:solidFill>
                              <a:effectLst/>
                              <a:latin typeface="+mn-lt"/>
                              <a:ea typeface="+mn-ea"/>
                              <a:cs typeface="+mn-cs"/>
                            </a:rPr>
                            <m:t>=1</m:t>
                          </m:r>
                        </m:sub>
                        <m:sup>
                          <m:r>
                            <a:rPr lang="en-US" sz="1200" i="1" kern="1200">
                              <a:solidFill>
                                <a:schemeClr val="tx1"/>
                              </a:solidFill>
                              <a:effectLst/>
                              <a:latin typeface="+mn-lt"/>
                              <a:ea typeface="+mn-ea"/>
                              <a:cs typeface="+mn-cs"/>
                            </a:rPr>
                            <m:t>𝑛</m:t>
                          </m:r>
                        </m:sup>
                        <m:e>
                          <m:r>
                            <a:rPr lang="en-US" sz="1200" i="1" kern="1200">
                              <a:solidFill>
                                <a:schemeClr val="tx1"/>
                              </a:solidFill>
                              <a:effectLst/>
                              <a:latin typeface="+mn-lt"/>
                              <a:ea typeface="+mn-ea"/>
                              <a:cs typeface="+mn-cs"/>
                            </a:rPr>
                            <m:t>𝑃</m:t>
                          </m:r>
                          <m:r>
                            <a:rPr lang="en-US" sz="1200" i="1" kern="1200">
                              <a:solidFill>
                                <a:schemeClr val="tx1"/>
                              </a:solidFill>
                              <a:effectLst/>
                              <a:latin typeface="+mn-lt"/>
                              <a:ea typeface="+mn-ea"/>
                              <a:cs typeface="+mn-cs"/>
                            </a:rPr>
                            <m:t>(</m:t>
                          </m:r>
                          <m:sSub>
                            <m:sSubPr>
                              <m:ctrlPr>
                                <a:rPr lang="en-US" sz="1200" i="1" kern="1200">
                                  <a:solidFill>
                                    <a:schemeClr val="tx1"/>
                                  </a:solidFill>
                                  <a:effectLst/>
                                  <a:latin typeface="+mn-lt"/>
                                  <a:ea typeface="+mn-ea"/>
                                  <a:cs typeface="+mn-cs"/>
                                </a:rPr>
                              </m:ctrlPr>
                            </m:sSubPr>
                            <m:e>
                              <m:r>
                                <a:rPr lang="en-US" sz="1200" i="1" kern="1200">
                                  <a:solidFill>
                                    <a:schemeClr val="tx1"/>
                                  </a:solidFill>
                                  <a:effectLst/>
                                  <a:latin typeface="+mn-lt"/>
                                  <a:ea typeface="+mn-ea"/>
                                  <a:cs typeface="+mn-cs"/>
                                </a:rPr>
                                <m:t>𝑥</m:t>
                              </m:r>
                            </m:e>
                            <m:sub>
                              <m:r>
                                <a:rPr lang="en-US" sz="1200" i="1" kern="1200">
                                  <a:solidFill>
                                    <a:schemeClr val="tx1"/>
                                  </a:solidFill>
                                  <a:effectLst/>
                                  <a:latin typeface="+mn-lt"/>
                                  <a:ea typeface="+mn-ea"/>
                                  <a:cs typeface="+mn-cs"/>
                                </a:rPr>
                                <m:t>𝑖</m:t>
                              </m:r>
                            </m:sub>
                          </m:sSub>
                          <m:r>
                            <a:rPr lang="en-US" sz="1200" i="1" kern="1200">
                              <a:solidFill>
                                <a:schemeClr val="tx1"/>
                              </a:solidFill>
                              <a:effectLst/>
                              <a:latin typeface="+mn-lt"/>
                              <a:ea typeface="+mn-ea"/>
                              <a:cs typeface="+mn-cs"/>
                            </a:rPr>
                            <m:t>|</m:t>
                          </m:r>
                          <m:r>
                            <a:rPr lang="en-US" sz="1200" i="1" kern="1200">
                              <a:solidFill>
                                <a:schemeClr val="tx1"/>
                              </a:solidFill>
                              <a:effectLst/>
                              <a:latin typeface="+mn-lt"/>
                              <a:ea typeface="+mn-ea"/>
                              <a:cs typeface="+mn-cs"/>
                            </a:rPr>
                            <m:t>𝐶</m:t>
                          </m:r>
                          <m:r>
                            <a:rPr lang="en-US" sz="1200" i="1" kern="1200">
                              <a:solidFill>
                                <a:schemeClr val="tx1"/>
                              </a:solidFill>
                              <a:effectLst/>
                              <a:latin typeface="+mn-lt"/>
                              <a:ea typeface="+mn-ea"/>
                              <a:cs typeface="+mn-cs"/>
                            </a:rPr>
                            <m:t>)</m:t>
                          </m:r>
                        </m:e>
                      </m:nary>
                    </m:oMath>
                  </m:oMathPara>
                </a14:m>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Choice>
        <mc:Fallback>
          <p:sp>
            <p:nvSpPr>
              <p:cNvPr id="3" name="Notes Placeholder 2">
                <a:extLst>
                  <a:ext uri="{FF2B5EF4-FFF2-40B4-BE49-F238E27FC236}">
                    <a16:creationId xmlns:a16="http://schemas.microsoft.com/office/drawing/2014/main" id="{8CB07E70-7222-DEC4-7C58-83707DDBD067}"/>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Naïve Bayes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Bayes,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hậu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mẫu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𝑃(𝐶|𝑋)=(𝑃(𝑋│𝐶)  . 𝑃(𝐶))/(P(X))</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Trong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b="1" i="1" kern="1200" dirty="0">
                    <a:solidFill>
                      <a:schemeClr val="tx1"/>
                    </a:solidFill>
                    <a:effectLst/>
                    <a:latin typeface="+mn-lt"/>
                    <a:ea typeface="+mn-ea"/>
                    <a:cs typeface="+mn-cs"/>
                  </a:rPr>
                  <a:t>P(X):</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xảy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b="1" i="1" kern="1200" dirty="0">
                    <a:solidFill>
                      <a:schemeClr val="tx1"/>
                    </a:solidFill>
                    <a:effectLst/>
                    <a:latin typeface="+mn-lt"/>
                    <a:ea typeface="+mn-ea"/>
                    <a:cs typeface="+mn-cs"/>
                  </a:rPr>
                  <a:t>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“Naïve” –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điều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kiện</a:t>
                </a:r>
                <a:endParaRPr lang="en-US" sz="1200" b="1"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Naive Bayes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hóa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P(X∣C)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a:t>
                </a:r>
                <a:r>
                  <a:rPr lang="en-US" sz="1200" i="1" kern="1200" baseline="-25000" dirty="0">
                    <a:solidFill>
                      <a:schemeClr val="tx1"/>
                    </a:solidFill>
                    <a:effectLst/>
                    <a:latin typeface="+mn-lt"/>
                    <a:ea typeface="+mn-ea"/>
                    <a:cs typeface="+mn-cs"/>
                  </a:rPr>
                  <a:t>1</a:t>
                </a:r>
                <a:r>
                  <a:rPr lang="en-US" sz="1200" i="1" kern="1200" dirty="0">
                    <a:solidFill>
                      <a:schemeClr val="tx1"/>
                    </a:solidFill>
                    <a:effectLst/>
                    <a:latin typeface="+mn-lt"/>
                    <a:ea typeface="+mn-ea"/>
                    <a:cs typeface="+mn-cs"/>
                  </a:rPr>
                  <a:t>, x</a:t>
                </a:r>
                <a:r>
                  <a:rPr lang="en-US" sz="1200" i="1" kern="1200" baseline="-25000" dirty="0">
                    <a:solidFill>
                      <a:schemeClr val="tx1"/>
                    </a:solidFill>
                    <a:effectLst/>
                    <a:latin typeface="+mn-lt"/>
                    <a:ea typeface="+mn-ea"/>
                    <a:cs typeface="+mn-cs"/>
                  </a:rPr>
                  <a:t>2</a:t>
                </a:r>
                <a:r>
                  <a:rPr lang="en-US" sz="1200" i="1" kern="1200" dirty="0">
                    <a:solidFill>
                      <a:schemeClr val="tx1"/>
                    </a:solidFill>
                    <a:effectLst/>
                    <a:latin typeface="+mn-lt"/>
                    <a:ea typeface="+mn-ea"/>
                    <a:cs typeface="+mn-cs"/>
                  </a:rPr>
                  <a:t>,…</a:t>
                </a:r>
                <a:r>
                  <a:rPr lang="en-US" sz="1200" i="1" kern="1200" dirty="0" err="1">
                    <a:solidFill>
                      <a:schemeClr val="tx1"/>
                    </a:solidFill>
                    <a:effectLst/>
                    <a:latin typeface="+mn-lt"/>
                    <a:ea typeface="+mn-ea"/>
                    <a:cs typeface="+mn-cs"/>
                  </a:rPr>
                  <a:t>x</a:t>
                </a:r>
                <a:r>
                  <a:rPr lang="en-US" sz="1200" i="1" kern="1200" baseline="-25000" dirty="0" err="1">
                    <a:solidFill>
                      <a:schemeClr val="tx1"/>
                    </a:solidFill>
                    <a:effectLst/>
                    <a:latin typeface="+mn-lt"/>
                    <a:ea typeface="+mn-ea"/>
                    <a:cs typeface="+mn-cs"/>
                  </a:rPr>
                  <a:t>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X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i="1" kern="1200" dirty="0">
                    <a:solidFill>
                      <a:schemeClr val="tx1"/>
                    </a:solidFill>
                    <a:effectLst/>
                    <a:latin typeface="+mn-lt"/>
                    <a:ea typeface="+mn-ea"/>
                    <a:cs typeface="+mn-cs"/>
                  </a:rPr>
                  <a:t>C</a:t>
                </a:r>
                <a:r>
                  <a:rPr lang="en-US" sz="1200" kern="1200" dirty="0">
                    <a:solidFill>
                      <a:schemeClr val="tx1"/>
                    </a:solidFill>
                    <a:effectLst/>
                    <a:latin typeface="+mn-lt"/>
                    <a:ea typeface="+mn-ea"/>
                    <a:cs typeface="+mn-cs"/>
                  </a:rPr>
                  <a:t>:</a:t>
                </a:r>
              </a:p>
              <a:p>
                <a:r>
                  <a:rPr lang="en-US" sz="1200" i="0" kern="1200">
                    <a:solidFill>
                      <a:schemeClr val="tx1"/>
                    </a:solidFill>
                    <a:effectLst/>
                    <a:latin typeface="+mn-lt"/>
                    <a:ea typeface="+mn-ea"/>
                    <a:cs typeface="+mn-cs"/>
                  </a:rPr>
                  <a:t>𝑃(𝑋│𝐶)=𝑃(𝑥_1,𝑥_2,…,𝑥_𝑛 |𝐶)=∏1_(𝑖=1)^𝑛▒〖𝑃(𝑥_𝑖 |𝐶)〗</a:t>
                </a: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xem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Khi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n-gram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Mỗi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vector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nhị</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nhãn</a:t>
                </a:r>
                <a:r>
                  <a:rPr lang="en-US" sz="120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id="{29FFD63D-0264-C042-EDC3-E08F1B1DAF1D}"/>
              </a:ext>
            </a:extLst>
          </p:cNvPr>
          <p:cNvSpPr>
            <a:spLocks noGrp="1"/>
          </p:cNvSpPr>
          <p:nvPr>
            <p:ph type="sldNum" sz="quarter" idx="5"/>
          </p:nvPr>
        </p:nvSpPr>
        <p:spPr/>
        <p:txBody>
          <a:bodyPr/>
          <a:lstStyle/>
          <a:p>
            <a:fld id="{FDD2A79F-59E5-49B9-A316-22BCC94F9756}" type="slidenum">
              <a:rPr lang="en-AU" smtClean="0"/>
              <a:t>12</a:t>
            </a:fld>
            <a:endParaRPr lang="en-AU"/>
          </a:p>
        </p:txBody>
      </p:sp>
    </p:spTree>
    <p:extLst>
      <p:ext uri="{BB962C8B-B14F-4D97-AF65-F5344CB8AC3E}">
        <p14:creationId xmlns:p14="http://schemas.microsoft.com/office/powerpoint/2010/main" val="20593958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03D28-8F01-CA0E-AB36-80180E2B45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8388B0-EAAB-FA24-1B9E-11A07721C6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E62A77-A68C-C133-521D-E8A2E8DA1EE9}"/>
              </a:ext>
            </a:extLst>
          </p:cNvPr>
          <p:cNvSpPr>
            <a:spLocks noGrp="1"/>
          </p:cNvSpPr>
          <p:nvPr>
            <p:ph type="body" idx="1"/>
          </p:nvPr>
        </p:nvSpPr>
        <p:spPr/>
        <p:txBody>
          <a:bodyPr/>
          <a:lstStyle/>
          <a:p>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giản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triển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khai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thuyết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Tốc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nhanh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đều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hồi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hưởng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bởi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nhiễu</a:t>
            </a:r>
            <a:r>
              <a:rPr lang="en-US" sz="1200" b="1" kern="1200" dirty="0">
                <a:solidFill>
                  <a:schemeClr val="tx1"/>
                </a:solidFill>
                <a:effectLst/>
                <a:latin typeface="+mn-lt"/>
                <a:ea typeface="+mn-ea"/>
                <a:cs typeface="+mn-cs"/>
              </a:rPr>
              <a:t>: </a:t>
            </a:r>
            <a:r>
              <a:rPr lang="en-US" sz="1200" kern="1200" dirty="0">
                <a:solidFill>
                  <a:schemeClr val="tx1"/>
                </a:solidFill>
                <a:effectLst/>
                <a:latin typeface="+mn-lt"/>
                <a:ea typeface="+mn-ea"/>
                <a:cs typeface="+mn-cs"/>
              </a:rPr>
              <a:t>Do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tổng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nhiễu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hưởng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nghiêm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Hoạt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nhỏ</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ngay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còn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lượng</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r>
              <a:rPr lang="en-US" sz="1200" b="1"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Giả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định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lập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thực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tế</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nhau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vi </a:t>
            </a:r>
            <a:r>
              <a:rPr lang="en-US" sz="1200" kern="1200" dirty="0" err="1">
                <a:solidFill>
                  <a:schemeClr val="tx1"/>
                </a:solidFill>
                <a:effectLst/>
                <a:latin typeface="+mn-lt"/>
                <a:ea typeface="+mn-ea"/>
                <a:cs typeface="+mn-cs"/>
              </a:rPr>
              <a:t>phạm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Không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xét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thứ</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tự</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theo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bị</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sai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lệch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nếu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có</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chưa</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từng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chưa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thuộc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P(</a:t>
            </a:r>
            <a:r>
              <a:rPr lang="en-US" sz="1200" kern="1200" dirty="0" err="1">
                <a:solidFill>
                  <a:schemeClr val="tx1"/>
                </a:solidFill>
                <a:effectLst/>
                <a:latin typeface="+mn-lt"/>
                <a:ea typeface="+mn-ea"/>
                <a:cs typeface="+mn-cs"/>
              </a:rPr>
              <a:t>x</a:t>
            </a:r>
            <a:r>
              <a:rPr lang="en-US" sz="1200" kern="1200" baseline="-25000" dirty="0" err="1">
                <a:solidFill>
                  <a:schemeClr val="tx1"/>
                </a:solidFill>
                <a:effectLst/>
                <a:latin typeface="+mn-lt"/>
                <a:ea typeface="+mn-ea"/>
                <a:cs typeface="+mn-cs"/>
              </a:rPr>
              <a:t>i</a:t>
            </a:r>
            <a:r>
              <a:rPr lang="en-US" sz="1200" kern="1200" dirty="0" err="1">
                <a:solidFill>
                  <a:schemeClr val="tx1"/>
                </a:solidFill>
                <a:effectLst/>
                <a:latin typeface="+mn-lt"/>
                <a:ea typeface="+mn-ea"/>
                <a:cs typeface="+mn-cs"/>
              </a:rPr>
              <a:t>|C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a:t>
            </a:r>
            <a:r>
              <a:rPr lang="en-US" sz="1200" kern="1200" dirty="0" err="1">
                <a:solidFill>
                  <a:schemeClr val="tx1"/>
                </a:solidFill>
                <a:effectLst/>
                <a:latin typeface="+mn-lt"/>
                <a:ea typeface="+mn-ea"/>
                <a:cs typeface="+mn-cs"/>
              </a:rPr>
              <a:t>khiến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toàn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0. Tuy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bằng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yếu</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Độ</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thấp</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 so </a:t>
            </a:r>
            <a:r>
              <a:rPr lang="en-US" sz="1200" b="1" kern="1200" dirty="0" err="1">
                <a:solidFill>
                  <a:schemeClr val="tx1"/>
                </a:solidFill>
                <a:effectLst/>
                <a:latin typeface="+mn-lt"/>
                <a:ea typeface="+mn-ea"/>
                <a:cs typeface="+mn-cs"/>
              </a:rPr>
              <a:t>với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các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mô</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hình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hiện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đại</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LSTM, Transformer (BERT, GPT),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máy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SVM,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thấp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F1844F7A-998F-3884-1E38-6420B6C66C9D}"/>
              </a:ext>
            </a:extLst>
          </p:cNvPr>
          <p:cNvSpPr>
            <a:spLocks noGrp="1"/>
          </p:cNvSpPr>
          <p:nvPr>
            <p:ph type="sldNum" sz="quarter" idx="5"/>
          </p:nvPr>
        </p:nvSpPr>
        <p:spPr/>
        <p:txBody>
          <a:bodyPr/>
          <a:lstStyle/>
          <a:p>
            <a:fld id="{FDD2A79F-59E5-49B9-A316-22BCC94F9756}" type="slidenum">
              <a:rPr lang="en-AU" smtClean="0"/>
              <a:t>13</a:t>
            </a:fld>
            <a:endParaRPr lang="en-AU"/>
          </a:p>
        </p:txBody>
      </p:sp>
    </p:spTree>
    <p:extLst>
      <p:ext uri="{BB962C8B-B14F-4D97-AF65-F5344CB8AC3E}">
        <p14:creationId xmlns:p14="http://schemas.microsoft.com/office/powerpoint/2010/main" val="33628259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6E13A-6742-CE58-2402-1535E5F3D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7A84C0-5E08-6C1E-F0AD-5D853F7E39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424AFC-BBA5-4277-14BD-DCC0EBD7292D}"/>
              </a:ext>
            </a:extLst>
          </p:cNvPr>
          <p:cNvSpPr>
            <a:spLocks noGrp="1"/>
          </p:cNvSpPr>
          <p:nvPr>
            <p:ph type="body" idx="1"/>
          </p:nvPr>
        </p:nvSpPr>
        <p:spPr/>
        <p:txBody>
          <a:bodyPr/>
          <a:lstStyle/>
          <a:p>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(pre-trained language model) </a:t>
            </a:r>
            <a:r>
              <a:rPr lang="en-US" sz="1200" kern="1200" dirty="0" err="1">
                <a:solidFill>
                  <a:schemeClr val="tx1"/>
                </a:solidFill>
                <a:effectLst/>
                <a:latin typeface="+mn-lt"/>
                <a:ea typeface="+mn-ea"/>
                <a:cs typeface="+mn-cs"/>
              </a:rPr>
              <a:t>dành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BERT (Bidirectional Encoder Representations from Transformers)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Google. </a:t>
            </a:r>
            <a:r>
              <a:rPr lang="en-US" sz="1200" kern="1200" dirty="0" err="1">
                <a:solidFill>
                  <a:schemeClr val="tx1"/>
                </a:solidFill>
                <a:effectLst/>
                <a:latin typeface="+mn-lt"/>
                <a:ea typeface="+mn-ea"/>
                <a:cs typeface="+mn-cs"/>
              </a:rPr>
              <a:t>Đây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bước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thuật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về</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rõ</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rệt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Anh</a:t>
            </a:r>
            <a:endParaRPr lang="en-US" dirty="0"/>
          </a:p>
        </p:txBody>
      </p:sp>
      <p:sp>
        <p:nvSpPr>
          <p:cNvPr id="4" name="Slide Number Placeholder 3">
            <a:extLst>
              <a:ext uri="{FF2B5EF4-FFF2-40B4-BE49-F238E27FC236}">
                <a16:creationId xmlns:a16="http://schemas.microsoft.com/office/drawing/2014/main" id="{1342B3CF-1E04-C947-EE71-7085782B57EC}"/>
              </a:ext>
            </a:extLst>
          </p:cNvPr>
          <p:cNvSpPr>
            <a:spLocks noGrp="1"/>
          </p:cNvSpPr>
          <p:nvPr>
            <p:ph type="sldNum" sz="quarter" idx="5"/>
          </p:nvPr>
        </p:nvSpPr>
        <p:spPr/>
        <p:txBody>
          <a:bodyPr/>
          <a:lstStyle/>
          <a:p>
            <a:fld id="{FDD2A79F-59E5-49B9-A316-22BCC94F9756}" type="slidenum">
              <a:rPr lang="en-AU" smtClean="0"/>
              <a:t>14</a:t>
            </a:fld>
            <a:endParaRPr lang="en-AU"/>
          </a:p>
        </p:txBody>
      </p:sp>
    </p:spTree>
    <p:extLst>
      <p:ext uri="{BB962C8B-B14F-4D97-AF65-F5344CB8AC3E}">
        <p14:creationId xmlns:p14="http://schemas.microsoft.com/office/powerpoint/2010/main" val="31385736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C9C8E-9501-FD0C-E611-7337B646FE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9AC34-C5F2-79BA-D400-F889C1DE4D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178C82-ED64-6352-718F-F066FFF2EF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9A7A7-2CAC-59A5-A176-26608633919D}"/>
              </a:ext>
            </a:extLst>
          </p:cNvPr>
          <p:cNvSpPr>
            <a:spLocks noGrp="1"/>
          </p:cNvSpPr>
          <p:nvPr>
            <p:ph type="sldNum" sz="quarter" idx="5"/>
          </p:nvPr>
        </p:nvSpPr>
        <p:spPr/>
        <p:txBody>
          <a:bodyPr/>
          <a:lstStyle/>
          <a:p>
            <a:fld id="{FDD2A79F-59E5-49B9-A316-22BCC94F9756}" type="slidenum">
              <a:rPr lang="en-AU" smtClean="0"/>
              <a:t>15</a:t>
            </a:fld>
            <a:endParaRPr lang="en-AU"/>
          </a:p>
        </p:txBody>
      </p:sp>
    </p:spTree>
    <p:extLst>
      <p:ext uri="{BB962C8B-B14F-4D97-AF65-F5344CB8AC3E}">
        <p14:creationId xmlns:p14="http://schemas.microsoft.com/office/powerpoint/2010/main" val="8111287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637D2-9539-A928-31ED-20526FFC25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5B6B2E-AE63-CA11-34C1-D85BA5D48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46C72-2BEF-9CE3-84B6-7B3D8DD7A82F}"/>
              </a:ext>
            </a:extLst>
          </p:cNvPr>
          <p:cNvSpPr>
            <a:spLocks noGrp="1"/>
          </p:cNvSpPr>
          <p:nvPr>
            <p:ph type="body" idx="1"/>
          </p:nvPr>
        </p:nvSpPr>
        <p:spPr/>
        <p:txBody>
          <a:bodyPr/>
          <a:lstStyle/>
          <a:p>
            <a:pPr lvl="3"/>
            <a:r>
              <a:rPr lang="en-US" sz="1200" b="1" kern="1200" dirty="0" err="1">
                <a:solidFill>
                  <a:schemeClr val="tx1"/>
                </a:solidFill>
                <a:effectLst/>
                <a:latin typeface="+mn-lt"/>
                <a:ea typeface="+mn-ea"/>
                <a:cs typeface="+mn-cs"/>
              </a:rPr>
              <a:t>Ưu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Được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biệt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tiếng</a:t>
            </a:r>
            <a:r>
              <a:rPr lang="en-US" sz="1200" b="1" kern="1200" dirty="0">
                <a:solidFill>
                  <a:schemeClr val="tx1"/>
                </a:solidFill>
                <a:effectLst/>
                <a:latin typeface="+mn-lt"/>
                <a:ea typeface="+mn-ea"/>
                <a:cs typeface="+mn-cs"/>
              </a:rPr>
              <a:t> Việt: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gồm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trưng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cú</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cấu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sắc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toán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Hiểu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cảnh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tốt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nhờ</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kiến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trúc</a:t>
            </a:r>
            <a:r>
              <a:rPr lang="en-US" sz="1200" b="1" kern="1200" dirty="0">
                <a:solidFill>
                  <a:schemeClr val="tx1"/>
                </a:solidFill>
                <a:effectLst/>
                <a:latin typeface="+mn-lt"/>
                <a:ea typeface="+mn-ea"/>
                <a:cs typeface="+mn-cs"/>
              </a:rPr>
              <a:t> Transformer:</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trúc</a:t>
            </a:r>
            <a:r>
              <a:rPr lang="en-US" sz="1200" kern="1200" dirty="0">
                <a:solidFill>
                  <a:schemeClr val="tx1"/>
                </a:solidFill>
                <a:effectLst/>
                <a:latin typeface="+mn-lt"/>
                <a:ea typeface="+mn-ea"/>
                <a:cs typeface="+mn-cs"/>
              </a:rPr>
              <a:t> Transformer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tự</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chú</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phép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giữa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phải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trọng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nắm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bắt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thường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ngụ</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ẩn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văn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tiếng</a:t>
            </a:r>
            <a:r>
              <a:rPr lang="en-US" sz="1200" kern="1200" dirty="0">
                <a:solidFill>
                  <a:schemeClr val="tx1"/>
                </a:solidFill>
                <a:effectLst/>
                <a:latin typeface="+mn-lt"/>
                <a:ea typeface="+mn-ea"/>
                <a:cs typeface="+mn-cs"/>
              </a:rPr>
              <a:t> Việt.</a:t>
            </a:r>
          </a:p>
          <a:p>
            <a:r>
              <a:rPr lang="en-US" sz="1200" b="1" kern="1200" dirty="0" err="1">
                <a:solidFill>
                  <a:schemeClr val="tx1"/>
                </a:solidFill>
                <a:effectLst/>
                <a:latin typeface="+mn-lt"/>
                <a:ea typeface="+mn-ea"/>
                <a:cs typeface="+mn-cs"/>
              </a:rPr>
              <a:t>Khả</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năng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biểu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diễn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ngôn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mạnh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mẽ</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Các vector </a:t>
            </a:r>
            <a:r>
              <a:rPr lang="en-US" sz="1200" kern="1200" dirty="0" err="1">
                <a:solidFill>
                  <a:schemeClr val="tx1"/>
                </a:solidFill>
                <a:effectLst/>
                <a:latin typeface="+mn-lt"/>
                <a:ea typeface="+mn-ea"/>
                <a:cs typeface="+mn-cs"/>
              </a:rPr>
              <a:t>biểu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diễn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từ</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tạo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mang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nghĩa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cao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điểm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trích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xuất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NLP </a:t>
            </a:r>
            <a:r>
              <a:rPr lang="en-US" sz="1200" kern="1200" dirty="0" err="1">
                <a:solidFill>
                  <a:schemeClr val="tx1"/>
                </a:solidFill>
                <a:effectLst/>
                <a:latin typeface="+mn-lt"/>
                <a:ea typeface="+mn-ea"/>
                <a:cs typeface="+mn-cs"/>
              </a:rPr>
              <a:t>khác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Dễ</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dàng</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theo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bài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thể</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fine-tune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một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nhỏ</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cụ</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giúp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tăng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chính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những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mục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loại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xúc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phẩm</a:t>
            </a:r>
            <a:r>
              <a:rPr lang="en-US" sz="1200" kern="1200" dirty="0">
                <a:solidFill>
                  <a:schemeClr val="tx1"/>
                </a:solidFill>
                <a:effectLst/>
                <a:latin typeface="+mn-lt"/>
                <a:ea typeface="+mn-ea"/>
                <a:cs typeface="+mn-cs"/>
              </a:rPr>
              <a:t>, ý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người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dùng</a:t>
            </a:r>
            <a:r>
              <a:rPr lang="en-US" sz="1200" kern="1200" dirty="0">
                <a:solidFill>
                  <a:schemeClr val="tx1"/>
                </a:solidFill>
                <a:effectLst/>
                <a:latin typeface="+mn-lt"/>
                <a:ea typeface="+mn-ea"/>
                <a:cs typeface="+mn-cs"/>
              </a:rPr>
              <a:t>,…</a:t>
            </a:r>
          </a:p>
          <a:p>
            <a:pPr lvl="3"/>
            <a:r>
              <a:rPr lang="en-US" sz="1200" b="1" kern="1200" dirty="0" err="1">
                <a:solidFill>
                  <a:schemeClr val="tx1"/>
                </a:solidFill>
                <a:effectLst/>
                <a:latin typeface="+mn-lt"/>
                <a:ea typeface="+mn-ea"/>
                <a:cs typeface="+mn-cs"/>
              </a:rPr>
              <a:t>Nhược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điểm</a:t>
            </a:r>
            <a:endParaRPr lang="en-US" sz="1200" b="1" kern="1200" dirty="0">
              <a:solidFill>
                <a:schemeClr val="tx1"/>
              </a:solidFill>
              <a:effectLst/>
              <a:latin typeface="+mn-lt"/>
              <a:ea typeface="+mn-ea"/>
              <a:cs typeface="+mn-cs"/>
            </a:endParaRPr>
          </a:p>
          <a:p>
            <a:r>
              <a:rPr lang="en-US" sz="1200" b="1" kern="1200" dirty="0" err="1">
                <a:solidFill>
                  <a:schemeClr val="tx1"/>
                </a:solidFill>
                <a:effectLst/>
                <a:latin typeface="+mn-lt"/>
                <a:ea typeface="+mn-ea"/>
                <a:cs typeface="+mn-cs"/>
              </a:rPr>
              <a:t>Yêu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cầu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tài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nguyên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tính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toán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lớn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hàng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huấn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luyện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luận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mạnh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GPU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nhớ</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Điều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này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rào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cản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hệ</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tài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chế</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Thời</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gian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huấn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luyện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suy</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luận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chậm</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hơn</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So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truyền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thống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như</a:t>
            </a:r>
            <a:r>
              <a:rPr lang="en-US" sz="1200" kern="1200" dirty="0">
                <a:solidFill>
                  <a:schemeClr val="tx1"/>
                </a:solidFill>
                <a:effectLst/>
                <a:latin typeface="+mn-lt"/>
                <a:ea typeface="+mn-ea"/>
                <a:cs typeface="+mn-cs"/>
              </a:rPr>
              <a:t> Naive Bayes,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độ</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chậm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hơn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biệt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làm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với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tập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lớn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thời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gian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thực</a:t>
            </a:r>
            <a:r>
              <a:rPr lang="en-US" sz="1200" kern="1200" dirty="0">
                <a:solidFill>
                  <a:schemeClr val="tx1"/>
                </a:solidFill>
                <a:effectLst/>
                <a:latin typeface="+mn-lt"/>
                <a:ea typeface="+mn-ea"/>
                <a:cs typeface="+mn-cs"/>
              </a:rPr>
              <a:t>.</a:t>
            </a:r>
          </a:p>
          <a:p>
            <a:r>
              <a:rPr lang="en-US" sz="1200" b="1" kern="1200" dirty="0" err="1">
                <a:solidFill>
                  <a:schemeClr val="tx1"/>
                </a:solidFill>
                <a:effectLst/>
                <a:latin typeface="+mn-lt"/>
                <a:ea typeface="+mn-ea"/>
                <a:cs typeface="+mn-cs"/>
              </a:rPr>
              <a:t>Cần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tiền</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xử</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lý</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dữ</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liệu</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hợp</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dụng</a:t>
            </a:r>
            <a:r>
              <a:rPr lang="en-US" sz="1200" kern="1200" dirty="0">
                <a:solidFill>
                  <a:schemeClr val="tx1"/>
                </a:solidFill>
                <a:effectLst/>
                <a:latin typeface="+mn-lt"/>
                <a:ea typeface="+mn-ea"/>
                <a:cs typeface="+mn-cs"/>
              </a:rPr>
              <a:t> tokenizer </a:t>
            </a:r>
            <a:r>
              <a:rPr lang="en-US" sz="1200" kern="1200" dirty="0" err="1">
                <a:solidFill>
                  <a:schemeClr val="tx1"/>
                </a:solidFill>
                <a:effectLst/>
                <a:latin typeface="+mn-lt"/>
                <a:ea typeface="+mn-ea"/>
                <a:cs typeface="+mn-cs"/>
              </a:rPr>
              <a:t>riêng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dựa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phương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pháp</a:t>
            </a:r>
            <a:r>
              <a:rPr lang="en-US" sz="1200" kern="1200" dirty="0">
                <a:solidFill>
                  <a:schemeClr val="tx1"/>
                </a:solidFill>
                <a:effectLst/>
                <a:latin typeface="+mn-lt"/>
                <a:ea typeface="+mn-ea"/>
                <a:cs typeface="+mn-cs"/>
              </a:rPr>
              <a:t> BPE. Do </a:t>
            </a:r>
            <a:r>
              <a:rPr lang="en-US" sz="1200" kern="1200" dirty="0" err="1">
                <a:solidFill>
                  <a:schemeClr val="tx1"/>
                </a:solidFill>
                <a:effectLst/>
                <a:latin typeface="+mn-lt"/>
                <a:ea typeface="+mn-ea"/>
                <a:cs typeface="+mn-cs"/>
              </a:rPr>
              <a:t>đó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quá</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tiền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xử</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dữ</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vào</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tuân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thủ</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định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dạng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yêu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cầu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của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sẽ</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dẫn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sai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lệch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kết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phân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tích</a:t>
            </a:r>
            <a:r>
              <a:rPr lang="en-US" sz="1200" kern="1200" dirty="0">
                <a:solidFill>
                  <a:schemeClr val="tx1"/>
                </a:solidFill>
                <a:effectLst/>
                <a:latin typeface="+mn-lt"/>
                <a:ea typeface="+mn-ea"/>
                <a:cs typeface="+mn-cs"/>
              </a:rPr>
              <a:t>.</a:t>
            </a:r>
          </a:p>
          <a:p>
            <a:r>
              <a:rPr lang="en-US" sz="1200" b="1" kern="1200" dirty="0">
                <a:solidFill>
                  <a:schemeClr val="tx1"/>
                </a:solidFill>
                <a:effectLst/>
                <a:latin typeface="+mn-lt"/>
                <a:ea typeface="+mn-ea"/>
                <a:cs typeface="+mn-cs"/>
              </a:rPr>
              <a:t>Hiệu </a:t>
            </a:r>
            <a:r>
              <a:rPr lang="en-US" sz="1200" b="1" kern="1200" dirty="0" err="1">
                <a:solidFill>
                  <a:schemeClr val="tx1"/>
                </a:solidFill>
                <a:effectLst/>
                <a:latin typeface="+mn-lt"/>
                <a:ea typeface="+mn-ea"/>
                <a:cs typeface="+mn-cs"/>
              </a:rPr>
              <a:t>suất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phụ</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thuộc</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vào</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kỹ</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thuật</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tinh</a:t>
            </a:r>
            <a:r>
              <a:rPr lang="en-US" sz="1200" b="1" kern="1200" dirty="0">
                <a:solidFill>
                  <a:schemeClr val="tx1"/>
                </a:solidFill>
                <a:effectLst/>
                <a:latin typeface="+mn-lt"/>
                <a:ea typeface="+mn-ea"/>
                <a:cs typeface="+mn-cs"/>
              </a:rPr>
              <a:t> </a:t>
            </a:r>
            <a:r>
              <a:rPr lang="en-US" sz="1200" b="1" kern="1200" dirty="0" err="1">
                <a:solidFill>
                  <a:schemeClr val="tx1"/>
                </a:solidFill>
                <a:effectLst/>
                <a:latin typeface="+mn-lt"/>
                <a:ea typeface="+mn-ea"/>
                <a:cs typeface="+mn-cs"/>
              </a:rPr>
              <a:t>chỉnh</a:t>
            </a:r>
            <a:r>
              <a:rPr lang="en-US" sz="1200" b="1" kern="1200" dirty="0">
                <a:solidFill>
                  <a:schemeClr val="tx1"/>
                </a:solidFill>
                <a:effectLst/>
                <a:latin typeface="+mn-lt"/>
                <a:ea typeface="+mn-ea"/>
                <a:cs typeface="+mn-cs"/>
              </a:rPr>
              <a: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Nếu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đúng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cách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hoặc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chọn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được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siêu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tham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số</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phù</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hợp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hình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PhoBERT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có</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thể</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không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phát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huy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tối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hiệu</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quả</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Việc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chỉnh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cũng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đòi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hỏi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kiến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thức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chuyên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môn</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và</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kinh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nghiệm</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trong</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lĩnh</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vực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học</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sâu</a:t>
            </a:r>
            <a:r>
              <a:rPr lang="en-US" sz="1200" kern="1200" dirty="0">
                <a:solidFill>
                  <a:schemeClr val="tx1"/>
                </a:solidFill>
                <a:effectLst/>
                <a:latin typeface="+mn-lt"/>
                <a:ea typeface="+mn-ea"/>
                <a:cs typeface="+mn-cs"/>
              </a:rPr>
              <a:t>.</a:t>
            </a:r>
            <a:endParaRPr lang="en-US" b="1" dirty="0"/>
          </a:p>
        </p:txBody>
      </p:sp>
      <p:sp>
        <p:nvSpPr>
          <p:cNvPr id="4" name="Slide Number Placeholder 3">
            <a:extLst>
              <a:ext uri="{FF2B5EF4-FFF2-40B4-BE49-F238E27FC236}">
                <a16:creationId xmlns:a16="http://schemas.microsoft.com/office/drawing/2014/main" id="{16FB5AC3-AA88-FF85-A40D-97F39DB11268}"/>
              </a:ext>
            </a:extLst>
          </p:cNvPr>
          <p:cNvSpPr>
            <a:spLocks noGrp="1"/>
          </p:cNvSpPr>
          <p:nvPr>
            <p:ph type="sldNum" sz="quarter" idx="5"/>
          </p:nvPr>
        </p:nvSpPr>
        <p:spPr/>
        <p:txBody>
          <a:bodyPr/>
          <a:lstStyle/>
          <a:p>
            <a:fld id="{FDD2A79F-59E5-49B9-A316-22BCC94F9756}" type="slidenum">
              <a:rPr lang="en-AU" smtClean="0"/>
              <a:t>16</a:t>
            </a:fld>
            <a:endParaRPr lang="en-AU"/>
          </a:p>
        </p:txBody>
      </p:sp>
    </p:spTree>
    <p:extLst>
      <p:ext uri="{BB962C8B-B14F-4D97-AF65-F5344CB8AC3E}">
        <p14:creationId xmlns:p14="http://schemas.microsoft.com/office/powerpoint/2010/main" val="26863454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6D88E-7C7A-6FBF-450E-B43C140B7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0C520-CEFC-0E5B-3FB0-A024015B5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CFE0DC-3D4D-1FDA-A941-6EF147A51DD9}"/>
              </a:ext>
            </a:extLst>
          </p:cNvPr>
          <p:cNvSpPr>
            <a:spLocks noGrp="1"/>
          </p:cNvSpPr>
          <p:nvPr>
            <p:ph type="body" idx="1"/>
          </p:nvPr>
        </p:nvSpPr>
        <p:spPr/>
        <p:txBody>
          <a:bodyPr/>
          <a:lstStyle/>
          <a:p>
            <a:pPr lvl="3"/>
            <a:endParaRPr lang="en-US" b="1" dirty="0"/>
          </a:p>
        </p:txBody>
      </p:sp>
      <p:sp>
        <p:nvSpPr>
          <p:cNvPr id="4" name="Slide Number Placeholder 3">
            <a:extLst>
              <a:ext uri="{FF2B5EF4-FFF2-40B4-BE49-F238E27FC236}">
                <a16:creationId xmlns:a16="http://schemas.microsoft.com/office/drawing/2014/main" id="{13E52121-E445-06B2-EEF0-A8A35D41CF89}"/>
              </a:ext>
            </a:extLst>
          </p:cNvPr>
          <p:cNvSpPr>
            <a:spLocks noGrp="1"/>
          </p:cNvSpPr>
          <p:nvPr>
            <p:ph type="sldNum" sz="quarter" idx="5"/>
          </p:nvPr>
        </p:nvSpPr>
        <p:spPr/>
        <p:txBody>
          <a:bodyPr/>
          <a:lstStyle/>
          <a:p>
            <a:fld id="{FDD2A79F-59E5-49B9-A316-22BCC94F9756}" type="slidenum">
              <a:rPr lang="en-AU" smtClean="0"/>
              <a:t>17</a:t>
            </a:fld>
            <a:endParaRPr lang="en-AU"/>
          </a:p>
        </p:txBody>
      </p:sp>
    </p:spTree>
    <p:extLst>
      <p:ext uri="{BB962C8B-B14F-4D97-AF65-F5344CB8AC3E}">
        <p14:creationId xmlns:p14="http://schemas.microsoft.com/office/powerpoint/2010/main" val="23846657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13C269-A818-2E42-080B-AE52357E9E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5C324253-6E52-30FF-1412-575C7E6752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B0D0A5F7-188B-349E-DA7B-BA371A5B1212}"/>
              </a:ext>
            </a:extLst>
          </p:cNvPr>
          <p:cNvSpPr>
            <a:spLocks noGrp="1"/>
          </p:cNvSpPr>
          <p:nvPr>
            <p:ph type="dt" sz="half" idx="10"/>
          </p:nvPr>
        </p:nvSpPr>
        <p:spPr/>
        <p:txBody>
          <a:bodyPr/>
          <a:lstStyle/>
          <a:p>
            <a:fld id="{DB2BBBA9-7FA0-4BE4-8F04-92472A33ED22}" type="datetime1">
              <a:rPr lang="en-AU" smtClean="0"/>
              <a:t>3/09/2025</a:t>
            </a:fld>
            <a:endParaRPr lang="en-AU"/>
          </a:p>
        </p:txBody>
      </p:sp>
      <p:sp>
        <p:nvSpPr>
          <p:cNvPr id="5" name="Footer Placeholder 4">
            <a:extLst>
              <a:ext uri="{FF2B5EF4-FFF2-40B4-BE49-F238E27FC236}">
                <a16:creationId xmlns:a16="http://schemas.microsoft.com/office/drawing/2014/main" id="{507701EA-36CB-748F-FA83-8F519F74466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1988244-48A3-CB37-F507-87CB471707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3859107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4B9EE-6A2F-EAC4-7C16-EC9CA298F95C}"/>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18F1F84-2AB7-EEB1-D124-922B0358ABD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19DFB11-BB70-75FF-B392-B2C77241680C}"/>
              </a:ext>
            </a:extLst>
          </p:cNvPr>
          <p:cNvSpPr>
            <a:spLocks noGrp="1"/>
          </p:cNvSpPr>
          <p:nvPr>
            <p:ph type="dt" sz="half" idx="10"/>
          </p:nvPr>
        </p:nvSpPr>
        <p:spPr/>
        <p:txBody>
          <a:bodyPr/>
          <a:lstStyle/>
          <a:p>
            <a:fld id="{0E100AE7-E8FF-4927-98BF-867B14D6459F}" type="datetime1">
              <a:rPr lang="en-AU" smtClean="0"/>
              <a:t>3/09/2025</a:t>
            </a:fld>
            <a:endParaRPr lang="en-AU"/>
          </a:p>
        </p:txBody>
      </p:sp>
      <p:sp>
        <p:nvSpPr>
          <p:cNvPr id="5" name="Footer Placeholder 4">
            <a:extLst>
              <a:ext uri="{FF2B5EF4-FFF2-40B4-BE49-F238E27FC236}">
                <a16:creationId xmlns:a16="http://schemas.microsoft.com/office/drawing/2014/main" id="{702938B6-6CB7-2CE2-CE2A-1DBDA62E121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D254541-4F17-CD05-9D0D-B2E1F2A3E4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152780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DF4F9-9F31-8C70-C3D3-F5BB05BE98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D2AB0EC-7418-4254-5170-73F32C7249D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14B254C-7726-67A4-A7F4-6642CD82DF63}"/>
              </a:ext>
            </a:extLst>
          </p:cNvPr>
          <p:cNvSpPr>
            <a:spLocks noGrp="1"/>
          </p:cNvSpPr>
          <p:nvPr>
            <p:ph type="dt" sz="half" idx="10"/>
          </p:nvPr>
        </p:nvSpPr>
        <p:spPr/>
        <p:txBody>
          <a:bodyPr/>
          <a:lstStyle/>
          <a:p>
            <a:fld id="{16B4E545-433C-4248-BA07-B45BCF609E6D}" type="datetime1">
              <a:rPr lang="en-AU" smtClean="0"/>
              <a:t>3/09/2025</a:t>
            </a:fld>
            <a:endParaRPr lang="en-AU"/>
          </a:p>
        </p:txBody>
      </p:sp>
      <p:sp>
        <p:nvSpPr>
          <p:cNvPr id="5" name="Footer Placeholder 4">
            <a:extLst>
              <a:ext uri="{FF2B5EF4-FFF2-40B4-BE49-F238E27FC236}">
                <a16:creationId xmlns:a16="http://schemas.microsoft.com/office/drawing/2014/main" id="{BE336924-0D1A-B337-AA13-6691FCA9D62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A85711-A453-870D-7D55-1E90898ED7E6}"/>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11182366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0B81B9-6886-CA1E-1AE9-4844599BCB6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214D813-0048-572E-A857-75CFF0AC821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2106DF0-C971-6883-96D5-3FB15E3DBF1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06581C3C-2BC5-FFAA-7479-9467921BB438}"/>
              </a:ext>
            </a:extLst>
          </p:cNvPr>
          <p:cNvSpPr>
            <a:spLocks noGrp="1"/>
          </p:cNvSpPr>
          <p:nvPr>
            <p:ph type="dt" sz="half" idx="10"/>
          </p:nvPr>
        </p:nvSpPr>
        <p:spPr/>
        <p:txBody>
          <a:bodyPr/>
          <a:lstStyle/>
          <a:p>
            <a:fld id="{5DA07EC2-CCBC-4CD1-881F-C10752CFBB2D}" type="datetime1">
              <a:rPr lang="en-AU" smtClean="0"/>
              <a:t>3/09/2025</a:t>
            </a:fld>
            <a:endParaRPr lang="en-AU"/>
          </a:p>
        </p:txBody>
      </p:sp>
      <p:sp>
        <p:nvSpPr>
          <p:cNvPr id="6" name="Footer Placeholder 5">
            <a:extLst>
              <a:ext uri="{FF2B5EF4-FFF2-40B4-BE49-F238E27FC236}">
                <a16:creationId xmlns:a16="http://schemas.microsoft.com/office/drawing/2014/main" id="{F8513511-7CC2-52FC-3859-6693738DBF4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6E4292A-6FC0-A4E5-EDC5-51B6B76B88BD}"/>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421167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41892-B8AA-73AA-D8C5-8C5974003AC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D56298A9-6249-553E-B3BC-D756B920CB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0307D12-615E-ACDB-5771-267211DCA58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DF5EDD-83D9-2D7E-A47C-23413EB7FFF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EBB3286-FB8A-5E1D-10E6-3F9A080F7E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18B5894A-B55B-809A-0E07-E59EEED0F2E0}"/>
              </a:ext>
            </a:extLst>
          </p:cNvPr>
          <p:cNvSpPr>
            <a:spLocks noGrp="1"/>
          </p:cNvSpPr>
          <p:nvPr>
            <p:ph type="dt" sz="half" idx="10"/>
          </p:nvPr>
        </p:nvSpPr>
        <p:spPr/>
        <p:txBody>
          <a:bodyPr/>
          <a:lstStyle/>
          <a:p>
            <a:fld id="{5C91FD46-124E-43B3-95A0-7F08E34F5829}" type="datetime1">
              <a:rPr lang="en-AU" smtClean="0"/>
              <a:t>3/09/2025</a:t>
            </a:fld>
            <a:endParaRPr lang="en-AU"/>
          </a:p>
        </p:txBody>
      </p:sp>
      <p:sp>
        <p:nvSpPr>
          <p:cNvPr id="8" name="Footer Placeholder 7">
            <a:extLst>
              <a:ext uri="{FF2B5EF4-FFF2-40B4-BE49-F238E27FC236}">
                <a16:creationId xmlns:a16="http://schemas.microsoft.com/office/drawing/2014/main" id="{3FBD03B6-5ABC-F10E-347A-FEC7D8A2D052}"/>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C632F8E0-8029-3406-15F3-2BC4BB8276A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4636826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56E65-9257-4DAA-989E-E9BFC3C8E75E}"/>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BF43ADA2-9157-0640-FEE9-E598FCDBD278}"/>
              </a:ext>
            </a:extLst>
          </p:cNvPr>
          <p:cNvSpPr>
            <a:spLocks noGrp="1"/>
          </p:cNvSpPr>
          <p:nvPr>
            <p:ph type="dt" sz="half" idx="10"/>
          </p:nvPr>
        </p:nvSpPr>
        <p:spPr/>
        <p:txBody>
          <a:bodyPr/>
          <a:lstStyle/>
          <a:p>
            <a:fld id="{7A46920B-BC95-4378-91F3-B9259F5138B6}" type="datetime1">
              <a:rPr lang="en-AU" smtClean="0"/>
              <a:t>3/09/2025</a:t>
            </a:fld>
            <a:endParaRPr lang="en-AU"/>
          </a:p>
        </p:txBody>
      </p:sp>
      <p:sp>
        <p:nvSpPr>
          <p:cNvPr id="4" name="Footer Placeholder 3">
            <a:extLst>
              <a:ext uri="{FF2B5EF4-FFF2-40B4-BE49-F238E27FC236}">
                <a16:creationId xmlns:a16="http://schemas.microsoft.com/office/drawing/2014/main" id="{4B7618CD-A076-0678-9C9E-909FBE8DBB07}"/>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263F353-043F-0D18-A13C-B7B34738870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262657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594A17D-D58A-5546-3B18-B3725E9A1CAB}"/>
              </a:ext>
            </a:extLst>
          </p:cNvPr>
          <p:cNvSpPr>
            <a:spLocks noGrp="1"/>
          </p:cNvSpPr>
          <p:nvPr>
            <p:ph type="dt" sz="half" idx="10"/>
          </p:nvPr>
        </p:nvSpPr>
        <p:spPr/>
        <p:txBody>
          <a:bodyPr/>
          <a:lstStyle/>
          <a:p>
            <a:fld id="{2C9C22CF-5BE4-42DA-838A-CB91C3ABBA07}" type="datetime1">
              <a:rPr lang="en-AU" smtClean="0"/>
              <a:t>3/09/2025</a:t>
            </a:fld>
            <a:endParaRPr lang="en-AU"/>
          </a:p>
        </p:txBody>
      </p:sp>
      <p:sp>
        <p:nvSpPr>
          <p:cNvPr id="3" name="Footer Placeholder 2">
            <a:extLst>
              <a:ext uri="{FF2B5EF4-FFF2-40B4-BE49-F238E27FC236}">
                <a16:creationId xmlns:a16="http://schemas.microsoft.com/office/drawing/2014/main" id="{F0D1A884-0E02-0879-D1A1-5CD4B300C693}"/>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068C66FF-E7F0-030F-7376-9C7C8E2A1E9B}"/>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507089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25E08-4010-F441-543A-E739C84A1B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F8D173F-4647-9DA8-3C78-F65341B4EE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D614A77-8CFC-B9D3-4CFF-A9C1BE8956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A0054B-DEB8-3435-1F0C-615ECC015A47}"/>
              </a:ext>
            </a:extLst>
          </p:cNvPr>
          <p:cNvSpPr>
            <a:spLocks noGrp="1"/>
          </p:cNvSpPr>
          <p:nvPr>
            <p:ph type="dt" sz="half" idx="10"/>
          </p:nvPr>
        </p:nvSpPr>
        <p:spPr/>
        <p:txBody>
          <a:bodyPr/>
          <a:lstStyle/>
          <a:p>
            <a:fld id="{6539736B-9FE1-4417-B95D-22EF47749343}" type="datetime1">
              <a:rPr lang="en-AU" smtClean="0"/>
              <a:t>3/09/2025</a:t>
            </a:fld>
            <a:endParaRPr lang="en-AU"/>
          </a:p>
        </p:txBody>
      </p:sp>
      <p:sp>
        <p:nvSpPr>
          <p:cNvPr id="6" name="Footer Placeholder 5">
            <a:extLst>
              <a:ext uri="{FF2B5EF4-FFF2-40B4-BE49-F238E27FC236}">
                <a16:creationId xmlns:a16="http://schemas.microsoft.com/office/drawing/2014/main" id="{B44E799B-9B94-5D1B-F2FA-B3D03BED359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1AD8E96B-B909-5FD4-436A-67FB9E051775}"/>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9443915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A5D6E-A3BB-2CD3-3D99-9B5FF87557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3AF0721C-C3DE-EE46-846D-A79BBEC50F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B5AF031-08E6-8BDA-14BB-968FA04889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01033F4-FCD2-84E7-9DA4-3961DDBAFBDA}"/>
              </a:ext>
            </a:extLst>
          </p:cNvPr>
          <p:cNvSpPr>
            <a:spLocks noGrp="1"/>
          </p:cNvSpPr>
          <p:nvPr>
            <p:ph type="dt" sz="half" idx="10"/>
          </p:nvPr>
        </p:nvSpPr>
        <p:spPr/>
        <p:txBody>
          <a:bodyPr/>
          <a:lstStyle/>
          <a:p>
            <a:fld id="{48BCE44F-9EBC-4872-B08B-08D7E0E11A83}" type="datetime1">
              <a:rPr lang="en-AU" smtClean="0"/>
              <a:t>3/09/2025</a:t>
            </a:fld>
            <a:endParaRPr lang="en-AU"/>
          </a:p>
        </p:txBody>
      </p:sp>
      <p:sp>
        <p:nvSpPr>
          <p:cNvPr id="6" name="Footer Placeholder 5">
            <a:extLst>
              <a:ext uri="{FF2B5EF4-FFF2-40B4-BE49-F238E27FC236}">
                <a16:creationId xmlns:a16="http://schemas.microsoft.com/office/drawing/2014/main" id="{149B56F5-A035-D88B-301D-B95F439FBF2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361CEF64-8C79-39CB-0D82-91EED0B09477}"/>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6290735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834A2-C788-B6B5-E57B-517B62FC3A36}"/>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74EB2093-29DD-E64B-BEF6-A45178A359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B7510453-0258-7226-C788-EC3BDB562CE2}"/>
              </a:ext>
            </a:extLst>
          </p:cNvPr>
          <p:cNvSpPr>
            <a:spLocks noGrp="1"/>
          </p:cNvSpPr>
          <p:nvPr>
            <p:ph type="dt" sz="half" idx="10"/>
          </p:nvPr>
        </p:nvSpPr>
        <p:spPr/>
        <p:txBody>
          <a:bodyPr/>
          <a:lstStyle/>
          <a:p>
            <a:fld id="{E12251AA-B4A0-49F3-9766-915F64A70B62}" type="datetime1">
              <a:rPr lang="en-AU" smtClean="0"/>
              <a:t>3/09/2025</a:t>
            </a:fld>
            <a:endParaRPr lang="en-AU"/>
          </a:p>
        </p:txBody>
      </p:sp>
      <p:sp>
        <p:nvSpPr>
          <p:cNvPr id="5" name="Footer Placeholder 4">
            <a:extLst>
              <a:ext uri="{FF2B5EF4-FFF2-40B4-BE49-F238E27FC236}">
                <a16:creationId xmlns:a16="http://schemas.microsoft.com/office/drawing/2014/main" id="{BE882347-94EC-E816-F6BA-C477FD5C5EC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95935AA-EB81-AEAD-3F83-C033B8F13CC9}"/>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23991190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42E50F-F22E-63E6-78D7-EFCA5784A8A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7CCC860-9F56-C34D-4229-4298F8C6FC8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967EA38-89F1-27CC-C083-5B1C2BE25D29}"/>
              </a:ext>
            </a:extLst>
          </p:cNvPr>
          <p:cNvSpPr>
            <a:spLocks noGrp="1"/>
          </p:cNvSpPr>
          <p:nvPr>
            <p:ph type="dt" sz="half" idx="10"/>
          </p:nvPr>
        </p:nvSpPr>
        <p:spPr/>
        <p:txBody>
          <a:bodyPr/>
          <a:lstStyle/>
          <a:p>
            <a:fld id="{D810115E-3D8A-4DAA-87FA-D3DD73D050DC}" type="datetime1">
              <a:rPr lang="en-AU" smtClean="0"/>
              <a:t>3/09/2025</a:t>
            </a:fld>
            <a:endParaRPr lang="en-AU"/>
          </a:p>
        </p:txBody>
      </p:sp>
      <p:sp>
        <p:nvSpPr>
          <p:cNvPr id="5" name="Footer Placeholder 4">
            <a:extLst>
              <a:ext uri="{FF2B5EF4-FFF2-40B4-BE49-F238E27FC236}">
                <a16:creationId xmlns:a16="http://schemas.microsoft.com/office/drawing/2014/main" id="{FEF63B92-ADAE-45A0-A0E6-63AB17F9260C}"/>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6AE6A429-2277-DF3D-7AB6-9FAE8712F398}"/>
              </a:ext>
            </a:extLst>
          </p:cNvPr>
          <p:cNvSpPr>
            <a:spLocks noGrp="1"/>
          </p:cNvSpPr>
          <p:nvPr>
            <p:ph type="sldNum" sz="quarter" idx="12"/>
          </p:nvPr>
        </p:nvSpPr>
        <p:spPr/>
        <p:txBody>
          <a:bodyPr/>
          <a:lstStyle/>
          <a:p>
            <a:fld id="{C1DACA90-E1C3-4C19-87AA-D4513B3BCE17}" type="slidenum">
              <a:rPr lang="en-AU" smtClean="0"/>
              <a:t>‹#›</a:t>
            </a:fld>
            <a:endParaRPr lang="en-AU"/>
          </a:p>
        </p:txBody>
      </p:sp>
    </p:spTree>
    <p:extLst>
      <p:ext uri="{BB962C8B-B14F-4D97-AF65-F5344CB8AC3E}">
        <p14:creationId xmlns:p14="http://schemas.microsoft.com/office/powerpoint/2010/main" val="5446074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BF07B8-E016-AC55-2AB1-6746D43A37B5}"/>
              </a:ext>
            </a:extLst>
          </p:cNvPr>
          <p:cNvSpPr/>
          <p:nvPr userDrawn="1"/>
        </p:nvSpPr>
        <p:spPr>
          <a:xfrm>
            <a:off x="2895600" y="228600"/>
            <a:ext cx="6400800" cy="6400800"/>
          </a:xfrm>
          <a:prstGeom prst="rect">
            <a:avLst/>
          </a:prstGeom>
          <a:blipFill dpi="0" rotWithShape="1">
            <a:blip r:embed="rId13">
              <a:alphaModFix amt="2000"/>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2" name="Title Placeholder 1">
            <a:extLst>
              <a:ext uri="{FF2B5EF4-FFF2-40B4-BE49-F238E27FC236}">
                <a16:creationId xmlns:a16="http://schemas.microsoft.com/office/drawing/2014/main" id="{5116B0E1-9E7F-1492-DEE4-8760C5D63B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endParaRPr lang="en-AU" dirty="0"/>
          </a:p>
        </p:txBody>
      </p:sp>
      <p:sp>
        <p:nvSpPr>
          <p:cNvPr id="3" name="Text Placeholder 2">
            <a:extLst>
              <a:ext uri="{FF2B5EF4-FFF2-40B4-BE49-F238E27FC236}">
                <a16:creationId xmlns:a16="http://schemas.microsoft.com/office/drawing/2014/main" id="{C2A55374-AE63-F136-FC33-8130421A2B6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a:extLst>
              <a:ext uri="{FF2B5EF4-FFF2-40B4-BE49-F238E27FC236}">
                <a16:creationId xmlns:a16="http://schemas.microsoft.com/office/drawing/2014/main" id="{A69C30DE-80AB-B8C8-051A-2FE75A86F60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9A594CD-256C-4B5B-A5E3-932D9DC43440}" type="datetime1">
              <a:rPr lang="en-AU" smtClean="0"/>
              <a:t>3/09/2025</a:t>
            </a:fld>
            <a:endParaRPr lang="en-AU"/>
          </a:p>
        </p:txBody>
      </p:sp>
      <p:sp>
        <p:nvSpPr>
          <p:cNvPr id="5" name="Footer Placeholder 4">
            <a:extLst>
              <a:ext uri="{FF2B5EF4-FFF2-40B4-BE49-F238E27FC236}">
                <a16:creationId xmlns:a16="http://schemas.microsoft.com/office/drawing/2014/main" id="{4F7349BA-7C2F-C851-CA38-B16DB61855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96B3264D-FEA9-9801-3CD3-93F6229DABC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ACA90-E1C3-4C19-87AA-D4513B3BCE17}" type="slidenum">
              <a:rPr lang="en-AU" smtClean="0"/>
              <a:t>‹#›</a:t>
            </a:fld>
            <a:endParaRPr lang="en-AU"/>
          </a:p>
        </p:txBody>
      </p:sp>
      <p:pic>
        <p:nvPicPr>
          <p:cNvPr id="8" name="Picture 7">
            <a:extLst>
              <a:ext uri="{FF2B5EF4-FFF2-40B4-BE49-F238E27FC236}">
                <a16:creationId xmlns:a16="http://schemas.microsoft.com/office/drawing/2014/main" id="{BC960397-B4A7-9B2C-C9BD-B2CC7993C868}"/>
              </a:ext>
            </a:extLst>
          </p:cNvPr>
          <p:cNvPicPr>
            <a:picLocks noChangeAspect="1"/>
          </p:cNvPicPr>
          <p:nvPr userDrawn="1"/>
        </p:nvPicPr>
        <p:blipFill>
          <a:blip r:embed="rId14">
            <a:extLst>
              <a:ext uri="{28A0092B-C50C-407E-A947-70E740481C1C}">
                <a14:useLocalDpi xmlns:a14="http://schemas.microsoft.com/office/drawing/2010/main" val="0"/>
              </a:ext>
            </a:extLst>
          </a:blip>
          <a:srcRect r="21035" b="91521"/>
          <a:stretch>
            <a:fillRect/>
          </a:stretch>
        </p:blipFill>
        <p:spPr>
          <a:xfrm>
            <a:off x="0" y="6765925"/>
            <a:ext cx="12192000" cy="92075"/>
          </a:xfrm>
          <a:prstGeom prst="rect">
            <a:avLst/>
          </a:prstGeom>
        </p:spPr>
      </p:pic>
    </p:spTree>
    <p:extLst>
      <p:ext uri="{BB962C8B-B14F-4D97-AF65-F5344CB8AC3E}">
        <p14:creationId xmlns:p14="http://schemas.microsoft.com/office/powerpoint/2010/main" val="1744192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A05DB3-B159-E31B-C1F7-63722E7D6BD9}"/>
              </a:ext>
            </a:extLst>
          </p:cNvPr>
          <p:cNvSpPr>
            <a:spLocks noGrp="1"/>
          </p:cNvSpPr>
          <p:nvPr>
            <p:ph type="ctrTitle"/>
          </p:nvPr>
        </p:nvSpPr>
        <p:spPr>
          <a:xfrm>
            <a:off x="1302214" y="3169091"/>
            <a:ext cx="9587571" cy="1458280"/>
          </a:xfrm>
        </p:spPr>
        <p:txBody>
          <a:bodyPr>
            <a:noAutofit/>
          </a:bodyPr>
          <a:lstStyle/>
          <a:p>
            <a:r>
              <a:rPr lang="en-US" sz="5000" b="1" dirty="0" err="1">
                <a:solidFill>
                  <a:srgbClr val="053384"/>
                </a:solidFill>
                <a:latin typeface="Arial" panose="020B0604020202020204" pitchFamily="34" charset="0"/>
                <a:cs typeface="Arial" panose="020B0604020202020204" pitchFamily="34" charset="0"/>
              </a:rPr>
              <a:t>Nhận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diện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cảm</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xúc</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từ</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văn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bản</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tiếng</a:t>
            </a:r>
            <a:r>
              <a:rPr lang="en-US" sz="5000" b="1" dirty="0">
                <a:solidFill>
                  <a:srgbClr val="053384"/>
                </a:solidFill>
                <a:latin typeface="Arial" panose="020B0604020202020204" pitchFamily="34" charset="0"/>
                <a:cs typeface="Arial" panose="020B0604020202020204" pitchFamily="34" charset="0"/>
              </a:rPr>
              <a:t> Việt </a:t>
            </a:r>
            <a:r>
              <a:rPr lang="en-US" sz="5000" b="1" dirty="0" err="1">
                <a:solidFill>
                  <a:srgbClr val="053384"/>
                </a:solidFill>
                <a:latin typeface="Arial" panose="020B0604020202020204" pitchFamily="34" charset="0"/>
                <a:cs typeface="Arial" panose="020B0604020202020204" pitchFamily="34" charset="0"/>
              </a:rPr>
              <a:t>bằng</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mô</a:t>
            </a:r>
            <a:r>
              <a:rPr lang="en-US" sz="5000" b="1" dirty="0">
                <a:solidFill>
                  <a:srgbClr val="053384"/>
                </a:solidFill>
                <a:latin typeface="Arial" panose="020B0604020202020204" pitchFamily="34" charset="0"/>
                <a:cs typeface="Arial" panose="020B0604020202020204" pitchFamily="34" charset="0"/>
              </a:rPr>
              <a:t> </a:t>
            </a:r>
            <a:r>
              <a:rPr lang="en-US" sz="5000" b="1" dirty="0" err="1">
                <a:solidFill>
                  <a:srgbClr val="053384"/>
                </a:solidFill>
                <a:latin typeface="Arial" panose="020B0604020202020204" pitchFamily="34" charset="0"/>
                <a:cs typeface="Arial" panose="020B0604020202020204" pitchFamily="34" charset="0"/>
              </a:rPr>
              <a:t>hình</a:t>
            </a:r>
            <a:r>
              <a:rPr lang="en-US" sz="5000" b="1" dirty="0">
                <a:solidFill>
                  <a:srgbClr val="053384"/>
                </a:solidFill>
                <a:latin typeface="Arial" panose="020B0604020202020204" pitchFamily="34" charset="0"/>
                <a:cs typeface="Arial" panose="020B0604020202020204" pitchFamily="34" charset="0"/>
              </a:rPr>
              <a:t> NLP</a:t>
            </a:r>
            <a:endParaRPr lang="en-AU" sz="5000" b="1" dirty="0">
              <a:solidFill>
                <a:srgbClr val="053384"/>
              </a:solidFill>
              <a:latin typeface="Arial" panose="020B0604020202020204" pitchFamily="34" charset="0"/>
              <a:cs typeface="Arial" panose="020B0604020202020204" pitchFamily="34" charset="0"/>
            </a:endParaRPr>
          </a:p>
        </p:txBody>
      </p:sp>
      <p:sp>
        <p:nvSpPr>
          <p:cNvPr id="3" name="Subtitle 2">
            <a:extLst>
              <a:ext uri="{FF2B5EF4-FFF2-40B4-BE49-F238E27FC236}">
                <a16:creationId xmlns:a16="http://schemas.microsoft.com/office/drawing/2014/main" id="{1C7F5B1E-1CA5-6E47-A24C-3B970BC67179}"/>
              </a:ext>
            </a:extLst>
          </p:cNvPr>
          <p:cNvSpPr>
            <a:spLocks noGrp="1"/>
          </p:cNvSpPr>
          <p:nvPr>
            <p:ph type="subTitle" idx="1"/>
          </p:nvPr>
        </p:nvSpPr>
        <p:spPr>
          <a:xfrm>
            <a:off x="1696323" y="2315134"/>
            <a:ext cx="8799351" cy="1038708"/>
          </a:xfrm>
        </p:spPr>
        <p:txBody>
          <a:bodyPr>
            <a:normAutofit/>
          </a:bodyPr>
          <a:lstStyle/>
          <a:p>
            <a:pPr>
              <a:lnSpc>
                <a:spcPct val="100000"/>
              </a:lnSpc>
              <a:spcBef>
                <a:spcPts val="0"/>
              </a:spcBef>
            </a:pPr>
            <a:r>
              <a:rPr lang="en-US" b="1" dirty="0">
                <a:cs typeface="Arial" panose="020B0604020202020204" pitchFamily="34" charset="0"/>
              </a:rPr>
              <a:t>BÁO CÁO</a:t>
            </a:r>
          </a:p>
          <a:p>
            <a:pPr>
              <a:lnSpc>
                <a:spcPct val="100000"/>
              </a:lnSpc>
              <a:spcBef>
                <a:spcPts val="0"/>
              </a:spcBef>
            </a:pPr>
            <a:r>
              <a:rPr lang="en-US" b="1" dirty="0">
                <a:cs typeface="Arial" panose="020B0604020202020204" pitchFamily="34" charset="0"/>
              </a:rPr>
              <a:t>KHÓA LUẬN TỐT NGHIỆP</a:t>
            </a:r>
            <a:endParaRPr lang="en-AU" b="1" dirty="0">
              <a:cs typeface="Arial" panose="020B0604020202020204" pitchFamily="34" charset="0"/>
            </a:endParaRPr>
          </a:p>
        </p:txBody>
      </p:sp>
      <p:pic>
        <p:nvPicPr>
          <p:cNvPr id="5" name="Picture 4">
            <a:extLst>
              <a:ext uri="{FF2B5EF4-FFF2-40B4-BE49-F238E27FC236}">
                <a16:creationId xmlns:a16="http://schemas.microsoft.com/office/drawing/2014/main" id="{DF3738A5-7603-E0CC-6F2E-3383359E382A}"/>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553195" y="1041605"/>
            <a:ext cx="1038708" cy="1038708"/>
          </a:xfrm>
          <a:prstGeom prst="rect">
            <a:avLst/>
          </a:prstGeom>
          <a:noFill/>
        </p:spPr>
      </p:pic>
      <p:sp>
        <p:nvSpPr>
          <p:cNvPr id="7" name="TextBox 6">
            <a:extLst>
              <a:ext uri="{FF2B5EF4-FFF2-40B4-BE49-F238E27FC236}">
                <a16:creationId xmlns:a16="http://schemas.microsoft.com/office/drawing/2014/main" id="{42286185-8E11-F0F4-B66E-994BE542D48F}"/>
              </a:ext>
            </a:extLst>
          </p:cNvPr>
          <p:cNvSpPr txBox="1"/>
          <p:nvPr/>
        </p:nvSpPr>
        <p:spPr>
          <a:xfrm>
            <a:off x="5576644" y="2053919"/>
            <a:ext cx="991810" cy="246221"/>
          </a:xfrm>
          <a:prstGeom prst="rect">
            <a:avLst/>
          </a:prstGeom>
          <a:noFill/>
        </p:spPr>
        <p:txBody>
          <a:bodyPr wrap="square" rtlCol="0">
            <a:spAutoFit/>
          </a:bodyPr>
          <a:lstStyle/>
          <a:p>
            <a:r>
              <a:rPr lang="en-AU" sz="1000" b="1" dirty="0">
                <a:solidFill>
                  <a:srgbClr val="FF0000"/>
                </a:solidFill>
                <a:latin typeface="Times New Roman" panose="02020603050405020304" pitchFamily="18" charset="0"/>
                <a:cs typeface="Times New Roman" panose="02020603050405020304" pitchFamily="18" charset="0"/>
              </a:rPr>
              <a:t>ISO 9001:2015</a:t>
            </a:r>
          </a:p>
        </p:txBody>
      </p:sp>
      <p:sp>
        <p:nvSpPr>
          <p:cNvPr id="9" name="TextBox 8">
            <a:extLst>
              <a:ext uri="{FF2B5EF4-FFF2-40B4-BE49-F238E27FC236}">
                <a16:creationId xmlns:a16="http://schemas.microsoft.com/office/drawing/2014/main" id="{3E1F16EE-5C1A-BE30-1BE5-7716B1C84704}"/>
              </a:ext>
            </a:extLst>
          </p:cNvPr>
          <p:cNvSpPr txBox="1"/>
          <p:nvPr/>
        </p:nvSpPr>
        <p:spPr>
          <a:xfrm>
            <a:off x="1302214" y="4932202"/>
            <a:ext cx="4936028" cy="369332"/>
          </a:xfrm>
          <a:prstGeom prst="rect">
            <a:avLst/>
          </a:prstGeom>
          <a:noFill/>
        </p:spPr>
        <p:txBody>
          <a:bodyPr wrap="square" rtlCol="0">
            <a:spAutoFit/>
          </a:bodyPr>
          <a:lstStyle/>
          <a:p>
            <a:r>
              <a:rPr lang="en-US" dirty="0" err="1"/>
              <a:t>Giảng</a:t>
            </a:r>
            <a:r>
              <a:rPr lang="en-US" dirty="0"/>
              <a:t> </a:t>
            </a:r>
            <a:r>
              <a:rPr lang="en-US" dirty="0" err="1"/>
              <a:t>viên</a:t>
            </a:r>
            <a:r>
              <a:rPr lang="en-US" dirty="0"/>
              <a:t> </a:t>
            </a:r>
            <a:r>
              <a:rPr lang="en-US" dirty="0" err="1"/>
              <a:t>hướng</a:t>
            </a:r>
            <a:r>
              <a:rPr lang="en-US" dirty="0"/>
              <a:t> </a:t>
            </a:r>
            <a:r>
              <a:rPr lang="en-US" dirty="0" err="1"/>
              <a:t>dẫn</a:t>
            </a:r>
            <a:r>
              <a:rPr lang="en-US" dirty="0"/>
              <a:t>: </a:t>
            </a:r>
            <a:r>
              <a:rPr lang="en-US" b="1" dirty="0"/>
              <a:t>TS. Nguyễn </a:t>
            </a:r>
            <a:r>
              <a:rPr lang="en-US" b="1" dirty="0" err="1"/>
              <a:t>Nhứt</a:t>
            </a:r>
            <a:r>
              <a:rPr lang="en-US" b="1" dirty="0"/>
              <a:t> Lam</a:t>
            </a:r>
          </a:p>
        </p:txBody>
      </p:sp>
      <p:sp>
        <p:nvSpPr>
          <p:cNvPr id="4" name="TextBox 3">
            <a:extLst>
              <a:ext uri="{FF2B5EF4-FFF2-40B4-BE49-F238E27FC236}">
                <a16:creationId xmlns:a16="http://schemas.microsoft.com/office/drawing/2014/main" id="{27E08DAE-00A5-67E2-9F16-346471A09862}"/>
              </a:ext>
            </a:extLst>
          </p:cNvPr>
          <p:cNvSpPr txBox="1"/>
          <p:nvPr/>
        </p:nvSpPr>
        <p:spPr>
          <a:xfrm>
            <a:off x="6591903" y="4932202"/>
            <a:ext cx="4936028" cy="923330"/>
          </a:xfrm>
          <a:prstGeom prst="rect">
            <a:avLst/>
          </a:prstGeom>
          <a:noFill/>
        </p:spPr>
        <p:txBody>
          <a:bodyPr wrap="square" rtlCol="0">
            <a:spAutoFit/>
          </a:bodyPr>
          <a:lstStyle/>
          <a:p>
            <a:r>
              <a:rPr lang="en-US" dirty="0"/>
              <a:t>Sinh </a:t>
            </a:r>
            <a:r>
              <a:rPr lang="en-US" dirty="0" err="1"/>
              <a:t>viên</a:t>
            </a:r>
            <a:r>
              <a:rPr lang="en-US" dirty="0"/>
              <a:t> </a:t>
            </a:r>
            <a:r>
              <a:rPr lang="en-US" dirty="0" err="1"/>
              <a:t>thực</a:t>
            </a:r>
            <a:r>
              <a:rPr lang="en-US" dirty="0"/>
              <a:t> </a:t>
            </a:r>
            <a:r>
              <a:rPr lang="en-US" dirty="0" err="1"/>
              <a:t>hiện</a:t>
            </a:r>
            <a:r>
              <a:rPr lang="en-US" dirty="0"/>
              <a:t>: </a:t>
            </a:r>
            <a:r>
              <a:rPr lang="en-US" b="1" dirty="0"/>
              <a:t>Dương Văn </a:t>
            </a:r>
            <a:r>
              <a:rPr lang="en-US" b="1" dirty="0" err="1"/>
              <a:t>Hiệp</a:t>
            </a:r>
            <a:endParaRPr lang="en-US" b="1" dirty="0"/>
          </a:p>
          <a:p>
            <a:r>
              <a:rPr lang="en-US" dirty="0" err="1"/>
              <a:t>Mã</a:t>
            </a:r>
            <a:r>
              <a:rPr lang="en-US" dirty="0"/>
              <a:t> </a:t>
            </a:r>
            <a:r>
              <a:rPr lang="en-US" dirty="0" err="1"/>
              <a:t>số</a:t>
            </a:r>
            <a:r>
              <a:rPr lang="en-US" dirty="0"/>
              <a:t> </a:t>
            </a:r>
            <a:r>
              <a:rPr lang="en-US" dirty="0" err="1"/>
              <a:t>sinh</a:t>
            </a:r>
            <a:r>
              <a:rPr lang="en-US" dirty="0"/>
              <a:t> </a:t>
            </a:r>
            <a:r>
              <a:rPr lang="en-US" dirty="0" err="1"/>
              <a:t>viên</a:t>
            </a:r>
            <a:r>
              <a:rPr lang="en-US" dirty="0"/>
              <a:t>:         </a:t>
            </a:r>
            <a:r>
              <a:rPr lang="en-US" b="1" dirty="0"/>
              <a:t>110121209</a:t>
            </a:r>
          </a:p>
          <a:p>
            <a:r>
              <a:rPr lang="en-US" dirty="0" err="1"/>
              <a:t>Mã</a:t>
            </a:r>
            <a:r>
              <a:rPr lang="en-US" dirty="0"/>
              <a:t> </a:t>
            </a:r>
            <a:r>
              <a:rPr lang="en-US" dirty="0" err="1"/>
              <a:t>lớp</a:t>
            </a:r>
            <a:r>
              <a:rPr lang="en-US" dirty="0"/>
              <a:t>:		   </a:t>
            </a:r>
            <a:r>
              <a:rPr lang="en-US" b="1" dirty="0"/>
              <a:t>DA21TTB</a:t>
            </a:r>
          </a:p>
        </p:txBody>
      </p:sp>
      <p:sp>
        <p:nvSpPr>
          <p:cNvPr id="10" name="Subtitle 2">
            <a:extLst>
              <a:ext uri="{FF2B5EF4-FFF2-40B4-BE49-F238E27FC236}">
                <a16:creationId xmlns:a16="http://schemas.microsoft.com/office/drawing/2014/main" id="{57BE3716-01A5-6410-7020-5442BE0F3F27}"/>
              </a:ext>
            </a:extLst>
          </p:cNvPr>
          <p:cNvSpPr txBox="1">
            <a:spLocks/>
          </p:cNvSpPr>
          <p:nvPr/>
        </p:nvSpPr>
        <p:spPr>
          <a:xfrm>
            <a:off x="1696324" y="193397"/>
            <a:ext cx="8799351" cy="10387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100000"/>
              </a:lnSpc>
              <a:spcBef>
                <a:spcPts val="0"/>
              </a:spcBef>
            </a:pPr>
            <a:r>
              <a:rPr lang="en-US" sz="2200" dirty="0">
                <a:cs typeface="Arial" panose="020B0604020202020204" pitchFamily="34" charset="0"/>
              </a:rPr>
              <a:t>TRƯỜNG ĐẠI HỌC TRÀ VINH</a:t>
            </a:r>
          </a:p>
          <a:p>
            <a:pPr>
              <a:lnSpc>
                <a:spcPct val="100000"/>
              </a:lnSpc>
              <a:spcBef>
                <a:spcPts val="0"/>
              </a:spcBef>
            </a:pPr>
            <a:r>
              <a:rPr lang="en-AU" sz="2200" b="1" dirty="0">
                <a:cs typeface="Arial" panose="020B0604020202020204" pitchFamily="34" charset="0"/>
              </a:rPr>
              <a:t>TRƯỜNG KỸ THUẬT VÀ CÔNG NGHỆ</a:t>
            </a:r>
          </a:p>
        </p:txBody>
      </p:sp>
    </p:spTree>
    <p:extLst>
      <p:ext uri="{BB962C8B-B14F-4D97-AF65-F5344CB8AC3E}">
        <p14:creationId xmlns:p14="http://schemas.microsoft.com/office/powerpoint/2010/main" val="30552615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86DC7BD-5577-1836-330F-9B6A7681BD78}"/>
              </a:ext>
            </a:extLst>
          </p:cNvPr>
          <p:cNvSpPr>
            <a:spLocks noGrp="1"/>
          </p:cNvSpPr>
          <p:nvPr>
            <p:ph type="sldNum" sz="quarter" idx="12"/>
          </p:nvPr>
        </p:nvSpPr>
        <p:spPr/>
        <p:txBody>
          <a:bodyPr/>
          <a:lstStyle/>
          <a:p>
            <a:fld id="{C1DACA90-E1C3-4C19-87AA-D4513B3BCE17}" type="slidenum">
              <a:rPr lang="en-AU" smtClean="0"/>
              <a:t>1</a:t>
            </a:fld>
            <a:endParaRPr lang="en-AU" dirty="0"/>
          </a:p>
        </p:txBody>
      </p:sp>
      <p:pic>
        <p:nvPicPr>
          <p:cNvPr id="9" name="Picture 8">
            <a:extLst>
              <a:ext uri="{FF2B5EF4-FFF2-40B4-BE49-F238E27FC236}">
                <a16:creationId xmlns:a16="http://schemas.microsoft.com/office/drawing/2014/main" id="{35ADE01E-C04B-268D-38A8-29187BBD785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11" name="TextBox 10">
            <a:extLst>
              <a:ext uri="{FF2B5EF4-FFF2-40B4-BE49-F238E27FC236}">
                <a16:creationId xmlns:a16="http://schemas.microsoft.com/office/drawing/2014/main" id="{ED4B9551-2363-70A4-AD2B-5FCB6A76ECBF}"/>
              </a:ext>
            </a:extLst>
          </p:cNvPr>
          <p:cNvSpPr txBox="1"/>
          <p:nvPr/>
        </p:nvSpPr>
        <p:spPr>
          <a:xfrm>
            <a:off x="134696" y="364558"/>
            <a:ext cx="2446867"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NỘI DUNG</a:t>
            </a:r>
          </a:p>
        </p:txBody>
      </p:sp>
      <p:sp>
        <p:nvSpPr>
          <p:cNvPr id="12" name="TextBox 11">
            <a:extLst>
              <a:ext uri="{FF2B5EF4-FFF2-40B4-BE49-F238E27FC236}">
                <a16:creationId xmlns:a16="http://schemas.microsoft.com/office/drawing/2014/main" id="{EB2300F8-68F9-FF45-3619-3FF5ED960370}"/>
              </a:ext>
            </a:extLst>
          </p:cNvPr>
          <p:cNvSpPr txBox="1"/>
          <p:nvPr/>
        </p:nvSpPr>
        <p:spPr>
          <a:xfrm>
            <a:off x="1358128" y="1832942"/>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a:t>
            </a:r>
            <a:r>
              <a:rPr lang="en-US" sz="2000" dirty="0">
                <a:latin typeface="Arial" panose="020B0604020202020204" pitchFamily="34" charset="0"/>
                <a:cs typeface="Arial" panose="020B0604020202020204" pitchFamily="34" charset="0"/>
              </a:rPr>
              <a:t> TỔNG QUAN ĐỀ TÀI</a:t>
            </a:r>
          </a:p>
        </p:txBody>
      </p:sp>
      <p:sp>
        <p:nvSpPr>
          <p:cNvPr id="13" name="TextBox 12">
            <a:extLst>
              <a:ext uri="{FF2B5EF4-FFF2-40B4-BE49-F238E27FC236}">
                <a16:creationId xmlns:a16="http://schemas.microsoft.com/office/drawing/2014/main" id="{432E0572-74B2-B064-B929-63F9F2D7D9CC}"/>
              </a:ext>
            </a:extLst>
          </p:cNvPr>
          <p:cNvSpPr txBox="1"/>
          <p:nvPr/>
        </p:nvSpPr>
        <p:spPr>
          <a:xfrm>
            <a:off x="1358129" y="2633162"/>
            <a:ext cx="8081146"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a:t>
            </a:r>
            <a:r>
              <a:rPr lang="en-US" sz="2000" dirty="0">
                <a:latin typeface="Arial" panose="020B0604020202020204" pitchFamily="34" charset="0"/>
                <a:cs typeface="Arial" panose="020B0604020202020204" pitchFamily="34" charset="0"/>
              </a:rPr>
              <a:t> NGHIÊN CỨU LÝ THUYẾT</a:t>
            </a:r>
          </a:p>
        </p:txBody>
      </p:sp>
      <p:sp>
        <p:nvSpPr>
          <p:cNvPr id="14" name="TextBox 13">
            <a:extLst>
              <a:ext uri="{FF2B5EF4-FFF2-40B4-BE49-F238E27FC236}">
                <a16:creationId xmlns:a16="http://schemas.microsoft.com/office/drawing/2014/main" id="{9452B722-7DB6-7448-59F4-54697242BB83}"/>
              </a:ext>
            </a:extLst>
          </p:cNvPr>
          <p:cNvSpPr txBox="1"/>
          <p:nvPr/>
        </p:nvSpPr>
        <p:spPr>
          <a:xfrm>
            <a:off x="1358129" y="4233602"/>
            <a:ext cx="85097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IV.</a:t>
            </a:r>
            <a:r>
              <a:rPr lang="en-US" sz="2000" dirty="0">
                <a:latin typeface="Arial" panose="020B0604020202020204" pitchFamily="34" charset="0"/>
                <a:cs typeface="Arial" panose="020B0604020202020204" pitchFamily="34" charset="0"/>
              </a:rPr>
              <a:t> XÂY DỰNG ỨNG DỤNG THỬ NGHIỆM</a:t>
            </a:r>
          </a:p>
        </p:txBody>
      </p:sp>
      <p:sp>
        <p:nvSpPr>
          <p:cNvPr id="15" name="TextBox 14">
            <a:extLst>
              <a:ext uri="{FF2B5EF4-FFF2-40B4-BE49-F238E27FC236}">
                <a16:creationId xmlns:a16="http://schemas.microsoft.com/office/drawing/2014/main" id="{26461347-FAD6-D020-C1F5-D34FF6B49154}"/>
              </a:ext>
            </a:extLst>
          </p:cNvPr>
          <p:cNvSpPr txBox="1"/>
          <p:nvPr/>
        </p:nvSpPr>
        <p:spPr>
          <a:xfrm>
            <a:off x="1358129" y="3433382"/>
            <a:ext cx="776682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III.</a:t>
            </a:r>
            <a:r>
              <a:rPr lang="en-US" sz="2000" dirty="0">
                <a:latin typeface="Arial" panose="020B0604020202020204" pitchFamily="34" charset="0"/>
                <a:cs typeface="Arial" panose="020B0604020202020204" pitchFamily="34" charset="0"/>
              </a:rPr>
              <a:t> HUẤN LUYỆN MÔ HÌNH</a:t>
            </a:r>
          </a:p>
        </p:txBody>
      </p:sp>
      <p:sp>
        <p:nvSpPr>
          <p:cNvPr id="16" name="TextBox 15">
            <a:extLst>
              <a:ext uri="{FF2B5EF4-FFF2-40B4-BE49-F238E27FC236}">
                <a16:creationId xmlns:a16="http://schemas.microsoft.com/office/drawing/2014/main" id="{A2500CDA-9E3B-9575-1F05-A0345277871D}"/>
              </a:ext>
            </a:extLst>
          </p:cNvPr>
          <p:cNvSpPr txBox="1"/>
          <p:nvPr/>
        </p:nvSpPr>
        <p:spPr>
          <a:xfrm>
            <a:off x="1358129" y="5034836"/>
            <a:ext cx="7766820"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V.</a:t>
            </a:r>
            <a:r>
              <a:rPr lang="en-US" sz="2000" dirty="0">
                <a:latin typeface="Arial" panose="020B0604020202020204" pitchFamily="34" charset="0"/>
                <a:cs typeface="Arial" panose="020B0604020202020204" pitchFamily="34" charset="0"/>
              </a:rPr>
              <a:t> KẾT LUẬN VÀ HƯỚNG PHÁT TRIỂN</a:t>
            </a:r>
          </a:p>
        </p:txBody>
      </p:sp>
    </p:spTree>
    <p:extLst>
      <p:ext uri="{BB962C8B-B14F-4D97-AF65-F5344CB8AC3E}">
        <p14:creationId xmlns:p14="http://schemas.microsoft.com/office/powerpoint/2010/main" val="12763951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BBB80-9CEB-0966-664B-BE49E3B6ECB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2846F36-3B87-7255-4A45-F439C388A6F7}"/>
              </a:ext>
            </a:extLst>
          </p:cNvPr>
          <p:cNvSpPr>
            <a:spLocks noGrp="1"/>
          </p:cNvSpPr>
          <p:nvPr>
            <p:ph type="sldNum" sz="quarter" idx="12"/>
          </p:nvPr>
        </p:nvSpPr>
        <p:spPr/>
        <p:txBody>
          <a:bodyPr/>
          <a:lstStyle/>
          <a:p>
            <a:fld id="{C1DACA90-E1C3-4C19-87AA-D4513B3BCE17}" type="slidenum">
              <a:rPr lang="en-AU" smtClean="0"/>
              <a:t>2</a:t>
            </a:fld>
            <a:endParaRPr lang="en-AU" dirty="0"/>
          </a:p>
        </p:txBody>
      </p:sp>
      <p:sp>
        <p:nvSpPr>
          <p:cNvPr id="11" name="TextBox 10">
            <a:extLst>
              <a:ext uri="{FF2B5EF4-FFF2-40B4-BE49-F238E27FC236}">
                <a16:creationId xmlns:a16="http://schemas.microsoft.com/office/drawing/2014/main" id="{8C09D276-A6F2-D652-43BC-43CCBB1315D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F571DFC1-398B-0B65-C13A-F8CE6F01FD8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1.1. Lý do </a:t>
            </a:r>
            <a:r>
              <a:rPr lang="en-US" sz="2000" b="1" dirty="0" err="1">
                <a:latin typeface="Arial" panose="020B0604020202020204" pitchFamily="34" charset="0"/>
                <a:cs typeface="Arial" panose="020B0604020202020204" pitchFamily="34" charset="0"/>
              </a:rPr>
              <a:t>chọn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BAE425-9057-761A-DD1A-A51FDAC16C1E}"/>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4FBFCB67-06DD-FF86-971D-B6D79528B546}"/>
              </a:ext>
            </a:extLst>
          </p:cNvPr>
          <p:cNvSpPr txBox="1"/>
          <p:nvPr/>
        </p:nvSpPr>
        <p:spPr>
          <a:xfrm>
            <a:off x="485775" y="1834557"/>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ới sự phát triển mạnh mẽ của các nền tảng thương mại điện tử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người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dùng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xu </a:t>
            </a:r>
            <a:r>
              <a:rPr lang="en-US" sz="2000" dirty="0" err="1">
                <a:latin typeface="Arial" panose="020B0604020202020204" pitchFamily="34" charset="0"/>
                <a:cs typeface="Arial" panose="020B0604020202020204" pitchFamily="34" charset="0"/>
              </a:rPr>
              <a:t>hướng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sang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sắm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tuyến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hóa</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9F8E8B9A-3579-4226-48B2-CF7258453F10}"/>
              </a:ext>
            </a:extLst>
          </p:cNvPr>
          <p:cNvSpPr txBox="1"/>
          <p:nvPr/>
        </p:nvSpPr>
        <p:spPr>
          <a:xfrm>
            <a:off x="4505325" y="1834556"/>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Các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số</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này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Việc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chăm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sóc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lấy</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quan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trọng</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p:txBody>
      </p:sp>
      <p:sp>
        <p:nvSpPr>
          <p:cNvPr id="7" name="TextBox 6">
            <a:extLst>
              <a:ext uri="{FF2B5EF4-FFF2-40B4-BE49-F238E27FC236}">
                <a16:creationId xmlns:a16="http://schemas.microsoft.com/office/drawing/2014/main" id="{F6A8CE52-98B4-F58C-6BEA-A2CA794EFFD2}"/>
              </a:ext>
            </a:extLst>
          </p:cNvPr>
          <p:cNvSpPr txBox="1"/>
          <p:nvPr/>
        </p:nvSpPr>
        <p:spPr>
          <a:xfrm>
            <a:off x="8524875" y="1834555"/>
            <a:ext cx="3181350" cy="4473991"/>
          </a:xfrm>
          <a:prstGeom prst="roundRect">
            <a:avLst/>
          </a:prstGeom>
          <a:ln>
            <a:solidFill>
              <a:schemeClr val="tx2">
                <a:lumMod val="75000"/>
                <a:lumOff val="25000"/>
              </a:schemeClr>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algn="just">
              <a:lnSpc>
                <a:spcPct val="150000"/>
              </a:lnSpc>
            </a:pP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nhiều</a:t>
            </a:r>
            <a:r>
              <a:rPr lang="en-US" sz="2000" dirty="0">
                <a:latin typeface="Arial" panose="020B0604020202020204" pitchFamily="34" charset="0"/>
                <a:cs typeface="Arial" panose="020B0604020202020204" pitchFamily="34" charset="0"/>
              </a:rPr>
              <a:t> ý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vì</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cửa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doanh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nghiệp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lượng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vậy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cách</a:t>
            </a:r>
            <a:r>
              <a:rPr lang="en-US" sz="2000"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và</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
        <p:nvSpPr>
          <p:cNvPr id="8" name="Arrow: Right 7">
            <a:extLst>
              <a:ext uri="{FF2B5EF4-FFF2-40B4-BE49-F238E27FC236}">
                <a16:creationId xmlns:a16="http://schemas.microsoft.com/office/drawing/2014/main" id="{A1CBFC9A-5A78-DB61-04EE-4758ACBDB2ED}"/>
              </a:ext>
            </a:extLst>
          </p:cNvPr>
          <p:cNvSpPr/>
          <p:nvPr/>
        </p:nvSpPr>
        <p:spPr>
          <a:xfrm>
            <a:off x="774570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Arrow: Right 9">
            <a:extLst>
              <a:ext uri="{FF2B5EF4-FFF2-40B4-BE49-F238E27FC236}">
                <a16:creationId xmlns:a16="http://schemas.microsoft.com/office/drawing/2014/main" id="{465D9263-8B2C-8A13-6CE0-57666435798B}"/>
              </a:ext>
            </a:extLst>
          </p:cNvPr>
          <p:cNvSpPr/>
          <p:nvPr/>
        </p:nvSpPr>
        <p:spPr>
          <a:xfrm>
            <a:off x="3726151" y="3872727"/>
            <a:ext cx="720148" cy="400110"/>
          </a:xfrm>
          <a:prstGeom prst="rightArrow">
            <a:avLst/>
          </a:prstGeom>
          <a:solidFill>
            <a:srgbClr val="FFCC00"/>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91717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AAFC-B292-6998-7724-747B2D4A4BF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734B2A8-9BC7-9334-E069-567CABA938B2}"/>
              </a:ext>
            </a:extLst>
          </p:cNvPr>
          <p:cNvSpPr>
            <a:spLocks noGrp="1"/>
          </p:cNvSpPr>
          <p:nvPr>
            <p:ph type="sldNum" sz="quarter" idx="12"/>
          </p:nvPr>
        </p:nvSpPr>
        <p:spPr/>
        <p:txBody>
          <a:bodyPr/>
          <a:lstStyle/>
          <a:p>
            <a:fld id="{C1DACA90-E1C3-4C19-87AA-D4513B3BCE17}" type="slidenum">
              <a:rPr lang="en-AU" smtClean="0"/>
              <a:t>3</a:t>
            </a:fld>
            <a:endParaRPr lang="en-AU" dirty="0"/>
          </a:p>
        </p:txBody>
      </p:sp>
      <p:sp>
        <p:nvSpPr>
          <p:cNvPr id="11" name="TextBox 10">
            <a:extLst>
              <a:ext uri="{FF2B5EF4-FFF2-40B4-BE49-F238E27FC236}">
                <a16:creationId xmlns:a16="http://schemas.microsoft.com/office/drawing/2014/main" id="{A306B84D-B68E-DA92-D6C3-26AF1FBF2FEB}"/>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 TỔNG QUAN ĐỀ TÀI</a:t>
            </a:r>
          </a:p>
        </p:txBody>
      </p:sp>
      <p:sp>
        <p:nvSpPr>
          <p:cNvPr id="12" name="TextBox 11">
            <a:extLst>
              <a:ext uri="{FF2B5EF4-FFF2-40B4-BE49-F238E27FC236}">
                <a16:creationId xmlns:a16="http://schemas.microsoft.com/office/drawing/2014/main" id="{33949B28-CF1C-0672-7003-C36F157630BF}"/>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1.2. </a:t>
            </a: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đề</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tài</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31B91EAA-EF55-AA36-BD38-FC5FB3D2A8E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B3209618-3413-33E7-F719-E13D743F8733}"/>
              </a:ext>
            </a:extLst>
          </p:cNvPr>
          <p:cNvSpPr txBox="1"/>
          <p:nvPr/>
        </p:nvSpPr>
        <p:spPr>
          <a:xfrm>
            <a:off x="485775" y="1834557"/>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chính</a:t>
            </a:r>
            <a:r>
              <a:rPr lang="en-US" sz="2000" b="1"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huấn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luyện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loại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được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xúc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tiếng</a:t>
            </a:r>
            <a:r>
              <a:rPr lang="en-US" sz="2000" dirty="0">
                <a:latin typeface="Arial" panose="020B0604020202020204" pitchFamily="34" charset="0"/>
                <a:cs typeface="Arial" panose="020B0604020202020204" pitchFamily="34" charset="0"/>
              </a:rPr>
              <a:t> Việt.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nhận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của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khách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phẩm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mua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tảng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thương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tử</a:t>
            </a:r>
            <a:r>
              <a:rPr lang="en-US" sz="2000" dirty="0">
                <a:latin typeface="Arial" panose="020B0604020202020204" pitchFamily="34" charset="0"/>
                <a:cs typeface="Arial" panose="020B0604020202020204" pitchFamily="34" charset="0"/>
              </a:rPr>
              <a:t>.</a:t>
            </a:r>
            <a:endParaRPr lang="en-US" sz="2000" b="1"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37C6B260-B124-29EF-292C-3EDA61A23320}"/>
              </a:ext>
            </a:extLst>
          </p:cNvPr>
          <p:cNvSpPr txBox="1"/>
          <p:nvPr/>
        </p:nvSpPr>
        <p:spPr>
          <a:xfrm>
            <a:off x="485775" y="3405981"/>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Mục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tiêu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học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tập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nghiên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cứu</a:t>
            </a:r>
            <a:r>
              <a:rPr lang="en-US" sz="2000" b="1" dirty="0">
                <a:latin typeface="Arial" panose="020B0604020202020204" pitchFamily="34" charset="0"/>
                <a:cs typeface="Arial" panose="020B0604020202020204" pitchFamily="34" charset="0"/>
              </a:rPr>
              <a:t>: </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Mở</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rộng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áp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kiến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về</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Làm</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quen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dụng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trong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nhiên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cứu</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tư</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duy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biện</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68808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36C9A-BBA8-768A-A5D2-7929F907CC1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A18EAEE-73E3-BF76-F6B3-F42FD5D2C81C}"/>
              </a:ext>
            </a:extLst>
          </p:cNvPr>
          <p:cNvSpPr>
            <a:spLocks noGrp="1"/>
          </p:cNvSpPr>
          <p:nvPr>
            <p:ph type="sldNum" sz="quarter" idx="12"/>
          </p:nvPr>
        </p:nvSpPr>
        <p:spPr/>
        <p:txBody>
          <a:bodyPr/>
          <a:lstStyle/>
          <a:p>
            <a:fld id="{C1DACA90-E1C3-4C19-87AA-D4513B3BCE17}" type="slidenum">
              <a:rPr lang="en-AU" smtClean="0"/>
              <a:t>4</a:t>
            </a:fld>
            <a:endParaRPr lang="en-AU" dirty="0"/>
          </a:p>
        </p:txBody>
      </p:sp>
      <p:sp>
        <p:nvSpPr>
          <p:cNvPr id="11" name="TextBox 10">
            <a:extLst>
              <a:ext uri="{FF2B5EF4-FFF2-40B4-BE49-F238E27FC236}">
                <a16:creationId xmlns:a16="http://schemas.microsoft.com/office/drawing/2014/main" id="{5F2FC0D3-34F1-82B0-3741-207E24118860}"/>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F853B04-F357-788B-E186-F2753AEE2FD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49095D3-1425-35F0-20BE-0329841EBE89}"/>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C6038B2-1947-5868-A442-991911C44E3D}"/>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7353B91D-A5D5-3E32-DF2F-7BDA7C35E96B}"/>
              </a:ext>
            </a:extLst>
          </p:cNvPr>
          <p:cNvSpPr txBox="1"/>
          <p:nvPr/>
        </p:nvSpPr>
        <p:spPr>
          <a:xfrm>
            <a:off x="367385" y="2522944"/>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r>
              <a:rPr lang="en-US" sz="2000" b="1" dirty="0">
                <a:latin typeface="Arial" panose="020B0604020202020204" pitchFamily="34" charset="0"/>
                <a:cs typeface="Arial" panose="020B0604020202020204" pitchFamily="34" charset="0"/>
              </a:rPr>
              <a:t> (Natural Language Processing - NLP)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một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lĩnh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giữa</a:t>
            </a:r>
            <a:r>
              <a:rPr lang="en-US" sz="2000" dirty="0">
                <a:latin typeface="Arial" panose="020B0604020202020204" pitchFamily="34" charset="0"/>
                <a:cs typeface="Arial" panose="020B0604020202020204" pitchFamily="34" charset="0"/>
              </a:rPr>
              <a:t> khoa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tuệ</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nhân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tạo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b="1" dirty="0">
                <a:latin typeface="Arial" panose="020B0604020202020204" pitchFamily="34" charset="0"/>
                <a:cs typeface="Arial" panose="020B0604020202020204" pitchFamily="34" charset="0"/>
              </a:rPr>
              <a:t>Mục tiêu của NLP</a:t>
            </a:r>
            <a:r>
              <a:rPr lang="vi-VN" sz="2000" dirty="0">
                <a:latin typeface="Arial" panose="020B0604020202020204" pitchFamily="34" charset="0"/>
                <a:cs typeface="Arial" panose="020B0604020202020204" pitchFamily="34" charset="0"/>
              </a:rPr>
              <a:t> là giúp máy tính có khả năng 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vi-VN" sz="2000" dirty="0">
                <a:latin typeface="Arial" panose="020B0604020202020204" pitchFamily="34" charset="0"/>
                <a:cs typeface="Arial" panose="020B0604020202020204" pitchFamily="34" charset="0"/>
              </a:rPr>
              <a:t> phân tích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tạo ra ngôn ngữ của con người, cả ở dạng văn bản lẫn giọng nói.</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71667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56268F-14AC-1D25-E67F-779FD6BF78C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4BBC4A-AC85-7D9F-E04F-363C78D3E093}"/>
              </a:ext>
            </a:extLst>
          </p:cNvPr>
          <p:cNvSpPr>
            <a:spLocks noGrp="1"/>
          </p:cNvSpPr>
          <p:nvPr>
            <p:ph type="sldNum" sz="quarter" idx="12"/>
          </p:nvPr>
        </p:nvSpPr>
        <p:spPr/>
        <p:txBody>
          <a:bodyPr/>
          <a:lstStyle/>
          <a:p>
            <a:fld id="{C1DACA90-E1C3-4C19-87AA-D4513B3BCE17}" type="slidenum">
              <a:rPr lang="en-AU" smtClean="0"/>
              <a:t>5</a:t>
            </a:fld>
            <a:endParaRPr lang="en-AU" dirty="0"/>
          </a:p>
        </p:txBody>
      </p:sp>
      <p:sp>
        <p:nvSpPr>
          <p:cNvPr id="11" name="TextBox 10">
            <a:extLst>
              <a:ext uri="{FF2B5EF4-FFF2-40B4-BE49-F238E27FC236}">
                <a16:creationId xmlns:a16="http://schemas.microsoft.com/office/drawing/2014/main" id="{8F27A161-6D03-F462-F27C-E1ECF14213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C35B591E-FD2B-FFF9-AA49-724D5793D4C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2.1.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ngôn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ngữ</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tự</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nhiên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170F94E5-27F1-9513-5858-5163130F664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9BB89CA-538B-946A-23C8-F6AABEB6A2B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Quy </a:t>
            </a:r>
            <a:r>
              <a:rPr lang="en-US" sz="2000" b="1" dirty="0" err="1">
                <a:latin typeface="Arial" panose="020B0604020202020204" pitchFamily="34" charset="0"/>
                <a:cs typeface="Arial" panose="020B0604020202020204" pitchFamily="34" charset="0"/>
              </a:rPr>
              <a:t>trình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xử</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lý</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gồm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giai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đoạn</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8629-8693-6CA3-160B-64DB45AB20B7}"/>
              </a:ext>
            </a:extLst>
          </p:cNvPr>
          <p:cNvSpPr txBox="1"/>
          <p:nvPr/>
        </p:nvSpPr>
        <p:spPr>
          <a:xfrm>
            <a:off x="367385" y="2522944"/>
            <a:ext cx="11191876" cy="2082202"/>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Thu </a:t>
            </a:r>
            <a:r>
              <a:rPr lang="en-US" sz="2000" dirty="0" err="1">
                <a:latin typeface="Arial" panose="020B0604020202020204" pitchFamily="34" charset="0"/>
                <a:cs typeface="Arial" panose="020B0604020202020204" pitchFamily="34" charset="0"/>
              </a:rPr>
              <a:t>thập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bản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Xây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bằng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máy</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hoặc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học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sâu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giá</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ưu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9079668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F441A-954B-EF3E-8351-CB3AF7957B9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7C4399C-CBFD-9071-9799-2725E3553007}"/>
              </a:ext>
            </a:extLst>
          </p:cNvPr>
          <p:cNvSpPr>
            <a:spLocks noGrp="1"/>
          </p:cNvSpPr>
          <p:nvPr>
            <p:ph type="sldNum" sz="quarter" idx="12"/>
          </p:nvPr>
        </p:nvSpPr>
        <p:spPr/>
        <p:txBody>
          <a:bodyPr/>
          <a:lstStyle/>
          <a:p>
            <a:fld id="{C1DACA90-E1C3-4C19-87AA-D4513B3BCE17}" type="slidenum">
              <a:rPr lang="en-AU" smtClean="0"/>
              <a:t>6</a:t>
            </a:fld>
            <a:endParaRPr lang="en-AU" dirty="0"/>
          </a:p>
        </p:txBody>
      </p:sp>
      <p:sp>
        <p:nvSpPr>
          <p:cNvPr id="11" name="TextBox 10">
            <a:extLst>
              <a:ext uri="{FF2B5EF4-FFF2-40B4-BE49-F238E27FC236}">
                <a16:creationId xmlns:a16="http://schemas.microsoft.com/office/drawing/2014/main" id="{DC772472-2A13-FDDB-1130-E8DFDF50CDC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3967A12-1CEA-E5A4-225E-2C72B1A1E2E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AC30FFD1-F4D0-2D17-745A-9FE850EA1F7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E5A64092-AA4D-4EB1-D659-C606033D716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endParaRPr lang="en-US" sz="2000" b="1" dirty="0">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530323DD-71B7-8A6C-6096-9382EF90C19C}"/>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Phân tích cảm xúc (Sentiment Analysis)</a:t>
            </a:r>
            <a:r>
              <a:rPr lang="vi-VN" sz="2000" dirty="0">
                <a:latin typeface="Arial" panose="020B0604020202020204" pitchFamily="34" charset="0"/>
                <a:cs typeface="Arial" panose="020B0604020202020204" pitchFamily="34" charset="0"/>
              </a:rPr>
              <a:t> hay còn gọi là </a:t>
            </a:r>
            <a:r>
              <a:rPr lang="vi-VN" sz="2000" b="1" dirty="0">
                <a:latin typeface="Arial" panose="020B0604020202020204" pitchFamily="34" charset="0"/>
                <a:cs typeface="Arial" panose="020B0604020202020204" pitchFamily="34" charset="0"/>
              </a:rPr>
              <a:t>phân loại cảm xúc</a:t>
            </a:r>
            <a:r>
              <a:rPr lang="vi-VN" sz="2000" dirty="0">
                <a:latin typeface="Arial" panose="020B0604020202020204" pitchFamily="34" charset="0"/>
                <a:cs typeface="Arial" panose="020B0604020202020204" pitchFamily="34" charset="0"/>
              </a:rPr>
              <a:t>, là một nhánh quan trọng trong xử lý ngôn ngữ tự nhiên, tập trung vào việc xác định thái độ, quan điểm hoặc cảm xúc của người viết đối với một chủ đề cụ thể trong văn bản.</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704353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87735-5B4C-B30D-965A-D2680D9A2B5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9064F2F-1392-1499-68B1-2A08CF966F5C}"/>
              </a:ext>
            </a:extLst>
          </p:cNvPr>
          <p:cNvSpPr>
            <a:spLocks noGrp="1"/>
          </p:cNvSpPr>
          <p:nvPr>
            <p:ph type="sldNum" sz="quarter" idx="12"/>
          </p:nvPr>
        </p:nvSpPr>
        <p:spPr/>
        <p:txBody>
          <a:bodyPr/>
          <a:lstStyle/>
          <a:p>
            <a:fld id="{C1DACA90-E1C3-4C19-87AA-D4513B3BCE17}" type="slidenum">
              <a:rPr lang="en-AU" smtClean="0"/>
              <a:t>7</a:t>
            </a:fld>
            <a:endParaRPr lang="en-AU" dirty="0"/>
          </a:p>
        </p:txBody>
      </p:sp>
      <p:sp>
        <p:nvSpPr>
          <p:cNvPr id="11" name="TextBox 10">
            <a:extLst>
              <a:ext uri="{FF2B5EF4-FFF2-40B4-BE49-F238E27FC236}">
                <a16:creationId xmlns:a16="http://schemas.microsoft.com/office/drawing/2014/main" id="{F609F3F1-EB84-46B4-9F53-B72A5C2355E8}"/>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7DDE65B8-07E6-C8DC-94D0-49BCE5AA8DA4}"/>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89DB9E9-DEB5-23BD-1102-9CED1F000FA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2FB1B910-0F43-6D7C-D210-247B7B09353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Ứng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dụng</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FE23CCD4-B53B-D353-9754-AC31F48530CF}"/>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R</a:t>
            </a:r>
            <a:r>
              <a:rPr lang="vi-VN" sz="2000" b="1" dirty="0">
                <a:latin typeface="Arial" panose="020B0604020202020204" pitchFamily="34" charset="0"/>
                <a:cs typeface="Arial" panose="020B0604020202020204" pitchFamily="34" charset="0"/>
              </a:rPr>
              <a:t>ất nhiều ứng dụng trong thực tế</a:t>
            </a:r>
            <a:r>
              <a:rPr lang="vi-VN" sz="2000" dirty="0">
                <a:latin typeface="Arial" panose="020B0604020202020204" pitchFamily="34" charset="0"/>
                <a:cs typeface="Arial" panose="020B0604020202020204" pitchFamily="34" charset="0"/>
              </a:rPr>
              <a:t>, đặc biệt là trong lĩnh vực </a:t>
            </a:r>
            <a:r>
              <a:rPr lang="vi-VN" sz="2000" b="1" dirty="0">
                <a:latin typeface="Arial" panose="020B0604020202020204" pitchFamily="34" charset="0"/>
                <a:cs typeface="Arial" panose="020B0604020202020204" pitchFamily="34" charset="0"/>
              </a:rPr>
              <a:t>kinh doanh và chăm sóc khách h</a:t>
            </a:r>
            <a:r>
              <a:rPr lang="en-US" sz="2000" b="1" dirty="0" err="1">
                <a:latin typeface="Arial" panose="020B0604020202020204" pitchFamily="34" charset="0"/>
                <a:cs typeface="Arial" panose="020B0604020202020204" pitchFamily="34" charset="0"/>
              </a:rPr>
              <a:t>àng</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có thể sử dụng phân tích cảm xúc để theo dõi phản hồi của người tiêu dùng, đánh giá mức độ hài lòng về sản phẩm, dịch vụ hoặc thương hiệu, từ đó đưa ra chiến lược cải thiện phù hợp.</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vi-VN" sz="2000" dirty="0">
                <a:latin typeface="Arial" panose="020B0604020202020204" pitchFamily="34" charset="0"/>
                <a:cs typeface="Arial" panose="020B0604020202020204" pitchFamily="34" charset="0"/>
              </a:rPr>
              <a:t>Ngoài ra, phân tích cảm xúc còn được ứng dụng trong </a:t>
            </a:r>
            <a:r>
              <a:rPr lang="vi-VN" sz="2000" b="1" dirty="0">
                <a:latin typeface="Arial" panose="020B0604020202020204" pitchFamily="34" charset="0"/>
                <a:cs typeface="Arial" panose="020B0604020202020204" pitchFamily="34" charset="0"/>
              </a:rPr>
              <a:t>phân tích dư luận xã hội, đánh giá hiệu quả chiến dịch truyền thông, quản lý danh tiếng và nhiều lĩnh vực khác.</a:t>
            </a:r>
            <a:endParaRPr lang="en-US" sz="20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4802987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40F0C-2245-8EE1-4BED-742FFD90D06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F6D5E31-936E-F0A4-8C74-56DABAD156D3}"/>
              </a:ext>
            </a:extLst>
          </p:cNvPr>
          <p:cNvSpPr>
            <a:spLocks noGrp="1"/>
          </p:cNvSpPr>
          <p:nvPr>
            <p:ph type="sldNum" sz="quarter" idx="12"/>
          </p:nvPr>
        </p:nvSpPr>
        <p:spPr/>
        <p:txBody>
          <a:bodyPr/>
          <a:lstStyle/>
          <a:p>
            <a:fld id="{C1DACA90-E1C3-4C19-87AA-D4513B3BCE17}" type="slidenum">
              <a:rPr lang="en-AU" smtClean="0"/>
              <a:t>8</a:t>
            </a:fld>
            <a:endParaRPr lang="en-AU" dirty="0"/>
          </a:p>
        </p:txBody>
      </p:sp>
      <p:sp>
        <p:nvSpPr>
          <p:cNvPr id="11" name="TextBox 10">
            <a:extLst>
              <a:ext uri="{FF2B5EF4-FFF2-40B4-BE49-F238E27FC236}">
                <a16:creationId xmlns:a16="http://schemas.microsoft.com/office/drawing/2014/main" id="{3F135AF2-92E8-A3D0-5B65-565F9D3CAB52}"/>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443F9706-BC16-2A9F-E3BB-E78DFC609FF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C0EB3D2D-935B-AFDF-5D0B-2263D3DDFB3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CEEAC763-2A06-41C5-E901-94014AC7D8F7}"/>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Triển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khai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dưới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nhiều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mức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độ</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BDAADCB-3DDA-0014-B561-C734220B4EF3}"/>
              </a:ext>
            </a:extLst>
          </p:cNvPr>
          <p:cNvSpPr txBox="1"/>
          <p:nvPr/>
        </p:nvSpPr>
        <p:spPr>
          <a:xfrm>
            <a:off x="367385" y="2578832"/>
            <a:ext cx="11191876"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câu:</a:t>
            </a:r>
            <a:r>
              <a:rPr lang="vi-VN" sz="2000" dirty="0">
                <a:latin typeface="Arial" panose="020B0604020202020204" pitchFamily="34" charset="0"/>
                <a:cs typeface="Arial" panose="020B0604020202020204" pitchFamily="34" charset="0"/>
              </a:rPr>
              <a:t> Xác định cảm xúc tổng thể của từng câu.</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đoạn văn, bình luận:</a:t>
            </a:r>
            <a:r>
              <a:rPr lang="vi-VN" sz="2000" dirty="0">
                <a:latin typeface="Arial" panose="020B0604020202020204" pitchFamily="34" charset="0"/>
                <a:cs typeface="Arial" panose="020B0604020202020204" pitchFamily="34" charset="0"/>
              </a:rPr>
              <a:t> Đánh giá cảm xúc chung của toàn bộ văn bản hoặc bài viết.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Mức thực thể: </a:t>
            </a:r>
            <a:r>
              <a:rPr lang="vi-VN" sz="2000" dirty="0">
                <a:latin typeface="Arial" panose="020B0604020202020204" pitchFamily="34" charset="0"/>
                <a:cs typeface="Arial" panose="020B0604020202020204" pitchFamily="34" charset="0"/>
              </a:rPr>
              <a:t>Phân tích cảm xúc hướng đến các khía cạnh cụ thể</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6009892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295AAB-1F4D-FF00-F495-7A06CB50788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10F6546-1AC5-4AC1-8E67-820D4EACD830}"/>
              </a:ext>
            </a:extLst>
          </p:cNvPr>
          <p:cNvSpPr>
            <a:spLocks noGrp="1"/>
          </p:cNvSpPr>
          <p:nvPr>
            <p:ph type="sldNum" sz="quarter" idx="12"/>
          </p:nvPr>
        </p:nvSpPr>
        <p:spPr/>
        <p:txBody>
          <a:bodyPr/>
          <a:lstStyle/>
          <a:p>
            <a:fld id="{C1DACA90-E1C3-4C19-87AA-D4513B3BCE17}" type="slidenum">
              <a:rPr lang="en-AU" smtClean="0"/>
              <a:t>9</a:t>
            </a:fld>
            <a:endParaRPr lang="en-AU" dirty="0"/>
          </a:p>
        </p:txBody>
      </p:sp>
      <p:sp>
        <p:nvSpPr>
          <p:cNvPr id="11" name="TextBox 10">
            <a:extLst>
              <a:ext uri="{FF2B5EF4-FFF2-40B4-BE49-F238E27FC236}">
                <a16:creationId xmlns:a16="http://schemas.microsoft.com/office/drawing/2014/main" id="{9CF81086-3888-71A2-C444-097D02EDA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662EE26B-8601-BF28-DDC5-F0650D36A4D1}"/>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2.2.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C307EBF-4BA5-0B9E-8655-F3982B4CD30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5D3E1CB8-16C2-3DEF-1A31-5B2046FDF805}"/>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a:latin typeface="Arial" panose="020B0604020202020204" pitchFamily="34" charset="0"/>
                <a:cs typeface="Arial" panose="020B0604020202020204" pitchFamily="34" charset="0"/>
              </a:rPr>
              <a:t>Các </a:t>
            </a:r>
            <a:r>
              <a:rPr lang="en-US" sz="2000" b="1" dirty="0" err="1">
                <a:latin typeface="Arial" panose="020B0604020202020204" pitchFamily="34" charset="0"/>
                <a:cs typeface="Arial" panose="020B0604020202020204" pitchFamily="34" charset="0"/>
              </a:rPr>
              <a:t>phương</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pháp</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phân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tích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cảm</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xúc</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8539362C-CFA9-D516-ADDC-8C4C17C0E6BA}"/>
              </a:ext>
            </a:extLst>
          </p:cNvPr>
          <p:cNvSpPr txBox="1"/>
          <p:nvPr/>
        </p:nvSpPr>
        <p:spPr>
          <a:xfrm>
            <a:off x="367385" y="2578832"/>
            <a:ext cx="11191876"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dựa trên từ điển cảm xúc:</a:t>
            </a:r>
            <a:r>
              <a:rPr lang="vi-VN" sz="2000" dirty="0">
                <a:latin typeface="Arial" panose="020B0604020202020204" pitchFamily="34" charset="0"/>
                <a:cs typeface="Arial" panose="020B0604020202020204" pitchFamily="34" charset="0"/>
              </a:rPr>
              <a:t> Sử dụng một tập hợp từ điển chứa các từ có gán nhãn cảm xúc (ví dụ: “tuyệt vời” là tích cực, “tệ” là tiêu cực).</a:t>
            </a:r>
            <a:endParaRPr lang="en-US" sz="2000"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máy truyền thống:</a:t>
            </a:r>
            <a:r>
              <a:rPr lang="en-US" sz="2000" b="1"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Các mô hình học từ dữ liệu huấn luyện đã được gán nhãn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chuyển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thành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dạng</a:t>
            </a:r>
            <a:r>
              <a:rPr lang="en-US" sz="2000" dirty="0">
                <a:latin typeface="Arial" panose="020B0604020202020204" pitchFamily="34" charset="0"/>
                <a:cs typeface="Arial" panose="020B0604020202020204" pitchFamily="34" charset="0"/>
              </a:rPr>
              <a:t> vector </a:t>
            </a:r>
            <a:r>
              <a:rPr lang="en-US" sz="2000" dirty="0" err="1">
                <a:latin typeface="Arial" panose="020B0604020202020204" pitchFamily="34" charset="0"/>
                <a:cs typeface="Arial" panose="020B0604020202020204" pitchFamily="34" charset="0"/>
              </a:rPr>
              <a:t>thông</a:t>
            </a:r>
            <a:r>
              <a:rPr lang="en-US" sz="2000" dirty="0">
                <a:latin typeface="Arial" panose="020B0604020202020204" pitchFamily="34" charset="0"/>
                <a:cs typeface="Arial" panose="020B0604020202020204" pitchFamily="34" charset="0"/>
              </a:rPr>
              <a:t> qua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trích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đặc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trưng</a:t>
            </a:r>
            <a:r>
              <a:rPr lang="vi-VN" sz="2000" dirty="0">
                <a:latin typeface="Arial" panose="020B0604020202020204" pitchFamily="34" charset="0"/>
                <a:cs typeface="Arial" panose="020B0604020202020204" pitchFamily="34" charset="0"/>
              </a:rPr>
              <a:t> để rút ra quy tắc phân loại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b="1" dirty="0">
                <a:latin typeface="Arial" panose="020B0604020202020204" pitchFamily="34" charset="0"/>
                <a:cs typeface="Arial" panose="020B0604020202020204" pitchFamily="34" charset="0"/>
              </a:rPr>
              <a:t>Phương pháp học sâu:</a:t>
            </a:r>
            <a:r>
              <a:rPr lang="vi-VN" sz="2000" dirty="0">
                <a:latin typeface="Arial" panose="020B0604020202020204" pitchFamily="34" charset="0"/>
                <a:cs typeface="Arial" panose="020B0604020202020204" pitchFamily="34" charset="0"/>
              </a:rPr>
              <a:t> </a:t>
            </a:r>
            <a:r>
              <a:rPr lang="en-US" sz="2000" dirty="0">
                <a:latin typeface="Arial" panose="020B0604020202020204" pitchFamily="34" charset="0"/>
                <a:cs typeface="Arial" panose="020B0604020202020204" pitchFamily="34" charset="0"/>
              </a:rPr>
              <a:t>C</a:t>
            </a:r>
            <a:r>
              <a:rPr lang="vi-VN" sz="2000" dirty="0">
                <a:latin typeface="Arial" panose="020B0604020202020204" pitchFamily="34" charset="0"/>
                <a:cs typeface="Arial" panose="020B0604020202020204" pitchFamily="34" charset="0"/>
              </a:rPr>
              <a:t>ho phép khai thác tốt hơn mối quan hệ ngữ cảnh và cấu trúc ngôn ngữ trong văn bản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nghĩa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giúp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8945051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2573A2-4E51-D266-D732-DEDBEC6371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E09199-A444-62F3-9460-1B7494FD64A2}"/>
              </a:ext>
            </a:extLst>
          </p:cNvPr>
          <p:cNvSpPr>
            <a:spLocks noGrp="1"/>
          </p:cNvSpPr>
          <p:nvPr>
            <p:ph type="sldNum" sz="quarter" idx="12"/>
          </p:nvPr>
        </p:nvSpPr>
        <p:spPr/>
        <p:txBody>
          <a:bodyPr/>
          <a:lstStyle/>
          <a:p>
            <a:fld id="{C1DACA90-E1C3-4C19-87AA-D4513B3BCE17}" type="slidenum">
              <a:rPr lang="en-AU" smtClean="0"/>
              <a:t>10</a:t>
            </a:fld>
            <a:endParaRPr lang="en-AU" dirty="0"/>
          </a:p>
        </p:txBody>
      </p:sp>
      <p:sp>
        <p:nvSpPr>
          <p:cNvPr id="11" name="TextBox 10">
            <a:extLst>
              <a:ext uri="{FF2B5EF4-FFF2-40B4-BE49-F238E27FC236}">
                <a16:creationId xmlns:a16="http://schemas.microsoft.com/office/drawing/2014/main" id="{36E68B75-9A2B-609B-7348-E902C29324FD}"/>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BD9721C-EABA-5585-E9BE-9D159912423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DA94039F-154C-4574-E3EF-0A220ADCBADB}"/>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32A35406-D96A-2E77-884C-CE0FE637EAF9}"/>
              </a:ext>
            </a:extLst>
          </p:cNvPr>
          <p:cNvSpPr txBox="1"/>
          <p:nvPr/>
        </p:nvSpPr>
        <p:spPr>
          <a:xfrm>
            <a:off x="500062" y="1890445"/>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ăn bản ở dạng tự nhiên là một chuỗi ký tự hoặc từ ngữ, nhưng để xử lý bằng các thuật toán học máy hoặc học sâu, văn bản cần được chuyển đổi sang dạng số hoặc vector đặc trưng.</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V</a:t>
            </a:r>
            <a:r>
              <a:rPr lang="vi-VN" sz="2000" dirty="0">
                <a:latin typeface="Arial" panose="020B0604020202020204" pitchFamily="34" charset="0"/>
                <a:cs typeface="Arial" panose="020B0604020202020204" pitchFamily="34" charset="0"/>
              </a:rPr>
              <a:t>iệc biểu diễn văn bản dưới dạng mà máy tính có thể hiểu và xử lý được là một bước quan trọng, đặc biệt trong các bài toán phân loại văn bản như phân loại cảm xúc.</a:t>
            </a:r>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325852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49A1AD-7B35-CB8F-D3F9-60DEE873937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C17D665-19E3-091E-34E5-C6187A656C3E}"/>
              </a:ext>
            </a:extLst>
          </p:cNvPr>
          <p:cNvSpPr>
            <a:spLocks noGrp="1"/>
          </p:cNvSpPr>
          <p:nvPr>
            <p:ph type="sldNum" sz="quarter" idx="12"/>
          </p:nvPr>
        </p:nvSpPr>
        <p:spPr/>
        <p:txBody>
          <a:bodyPr/>
          <a:lstStyle/>
          <a:p>
            <a:fld id="{C1DACA90-E1C3-4C19-87AA-D4513B3BCE17}" type="slidenum">
              <a:rPr lang="en-AU" smtClean="0"/>
              <a:t>11</a:t>
            </a:fld>
            <a:endParaRPr lang="en-AU" dirty="0"/>
          </a:p>
        </p:txBody>
      </p:sp>
      <p:sp>
        <p:nvSpPr>
          <p:cNvPr id="11" name="TextBox 10">
            <a:extLst>
              <a:ext uri="{FF2B5EF4-FFF2-40B4-BE49-F238E27FC236}">
                <a16:creationId xmlns:a16="http://schemas.microsoft.com/office/drawing/2014/main" id="{18A5C69B-8A78-C13F-171C-A3DA2F6BFA24}"/>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EE1850B2-147C-53ED-9320-40CBC01D784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2.3. </a:t>
            </a:r>
            <a:r>
              <a:rPr lang="en-US" sz="2000" b="1" dirty="0" err="1">
                <a:latin typeface="Arial" panose="020B0604020202020204" pitchFamily="34" charset="0"/>
                <a:cs typeface="Arial" panose="020B0604020202020204" pitchFamily="34" charset="0"/>
              </a:rPr>
              <a:t>Kỹ</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biểu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diễn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văn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bản</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6405B53C-4EF4-EB55-1473-1957C3B2AE76}"/>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graphicFrame>
        <p:nvGraphicFramePr>
          <p:cNvPr id="5" name="Table 4">
            <a:extLst>
              <a:ext uri="{FF2B5EF4-FFF2-40B4-BE49-F238E27FC236}">
                <a16:creationId xmlns:a16="http://schemas.microsoft.com/office/drawing/2014/main" id="{80339C82-90B8-60C5-E4D6-05C9EA9D4AC3}"/>
              </a:ext>
            </a:extLst>
          </p:cNvPr>
          <p:cNvGraphicFramePr>
            <a:graphicFrameLocks noGrp="1"/>
          </p:cNvGraphicFramePr>
          <p:nvPr>
            <p:extLst>
              <p:ext uri="{D42A27DB-BD31-4B8C-83A1-F6EECF244321}">
                <p14:modId xmlns:p14="http://schemas.microsoft.com/office/powerpoint/2010/main" val="2892870138"/>
              </p:ext>
            </p:extLst>
          </p:nvPr>
        </p:nvGraphicFramePr>
        <p:xfrm>
          <a:off x="574674" y="2193010"/>
          <a:ext cx="10779126" cy="3427380"/>
        </p:xfrm>
        <a:graphic>
          <a:graphicData uri="http://schemas.openxmlformats.org/drawingml/2006/table">
            <a:tbl>
              <a:tblPr firstRow="1" bandRow="1">
                <a:tableStyleId>{5C22544A-7EE6-4342-B048-85BDC9FD1C3A}</a:tableStyleId>
              </a:tblPr>
              <a:tblGrid>
                <a:gridCol w="3593042">
                  <a:extLst>
                    <a:ext uri="{9D8B030D-6E8A-4147-A177-3AD203B41FA5}">
                      <a16:colId xmlns:a16="http://schemas.microsoft.com/office/drawing/2014/main" val="3948808496"/>
                    </a:ext>
                  </a:extLst>
                </a:gridCol>
                <a:gridCol w="3593042">
                  <a:extLst>
                    <a:ext uri="{9D8B030D-6E8A-4147-A177-3AD203B41FA5}">
                      <a16:colId xmlns:a16="http://schemas.microsoft.com/office/drawing/2014/main" val="1690995570"/>
                    </a:ext>
                  </a:extLst>
                </a:gridCol>
                <a:gridCol w="3593042">
                  <a:extLst>
                    <a:ext uri="{9D8B030D-6E8A-4147-A177-3AD203B41FA5}">
                      <a16:colId xmlns:a16="http://schemas.microsoft.com/office/drawing/2014/main" val="581978717"/>
                    </a:ext>
                  </a:extLst>
                </a:gridCol>
              </a:tblGrid>
              <a:tr h="685476">
                <a:tc>
                  <a:txBody>
                    <a:bodyPr/>
                    <a:lstStyle/>
                    <a:p>
                      <a:pPr algn="l"/>
                      <a:r>
                        <a:rPr lang="en-US" sz="1800" dirty="0" err="1">
                          <a:latin typeface="Arial" panose="020B0604020202020204" pitchFamily="34" charset="0"/>
                          <a:cs typeface="Arial" panose="020B0604020202020204" pitchFamily="34" charset="0"/>
                        </a:rPr>
                        <a:t>Đặc</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điểm</a:t>
                      </a:r>
                      <a:endParaRPr lang="en-US" sz="1800" dirty="0">
                        <a:latin typeface="Arial" panose="020B0604020202020204" pitchFamily="34" charset="0"/>
                        <a:cs typeface="Arial" panose="020B0604020202020204" pitchFamily="34" charset="0"/>
                      </a:endParaRPr>
                    </a:p>
                  </a:txBody>
                  <a:tcPr anchor="ctr"/>
                </a:tc>
                <a:tc>
                  <a:txBody>
                    <a:bodyPr/>
                    <a:lstStyle/>
                    <a:p>
                      <a:pPr algn="l"/>
                      <a:r>
                        <a:rPr lang="en-US" sz="1800" dirty="0">
                          <a:latin typeface="Arial" panose="020B0604020202020204" pitchFamily="34" charset="0"/>
                          <a:cs typeface="Arial" panose="020B0604020202020204" pitchFamily="34" charset="0"/>
                        </a:rPr>
                        <a:t>Bag of Words (</a:t>
                      </a:r>
                      <a:r>
                        <a:rPr lang="en-US" sz="1800" dirty="0" err="1">
                          <a:latin typeface="Arial" panose="020B0604020202020204" pitchFamily="34" charset="0"/>
                          <a:cs typeface="Arial" panose="020B0604020202020204" pitchFamily="34" charset="0"/>
                        </a:rPr>
                        <a:t>BoW</a:t>
                      </a:r>
                      <a:r>
                        <a:rPr lang="en-US" sz="1800" dirty="0">
                          <a:latin typeface="Arial" panose="020B0604020202020204" pitchFamily="34" charset="0"/>
                          <a:cs typeface="Arial" panose="020B0604020202020204" pitchFamily="34" charset="0"/>
                        </a:rPr>
                        <a:t>)</a:t>
                      </a:r>
                    </a:p>
                  </a:txBody>
                  <a:tcPr anchor="ctr"/>
                </a:tc>
                <a:tc>
                  <a:txBody>
                    <a:bodyPr/>
                    <a:lstStyle/>
                    <a:p>
                      <a:pPr algn="l"/>
                      <a:r>
                        <a:rPr lang="en-US" sz="1800" dirty="0">
                          <a:latin typeface="Arial" panose="020B0604020202020204" pitchFamily="34" charset="0"/>
                          <a:cs typeface="Arial" panose="020B0604020202020204" pitchFamily="34" charset="0"/>
                        </a:rPr>
                        <a:t>TF-IDF</a:t>
                      </a:r>
                    </a:p>
                  </a:txBody>
                  <a:tcPr anchor="ctr"/>
                </a:tc>
                <a:extLst>
                  <a:ext uri="{0D108BD9-81ED-4DB2-BD59-A6C34878D82A}">
                    <a16:rowId xmlns:a16="http://schemas.microsoft.com/office/drawing/2014/main" val="641435018"/>
                  </a:ext>
                </a:extLst>
              </a:tr>
              <a:tr h="685476">
                <a:tc>
                  <a:txBody>
                    <a:bodyPr/>
                    <a:lstStyle/>
                    <a:p>
                      <a:r>
                        <a:rPr lang="en-US" sz="1800" b="1" dirty="0" err="1">
                          <a:latin typeface="Arial" panose="020B0604020202020204" pitchFamily="34" charset="0"/>
                          <a:cs typeface="Arial" panose="020B0604020202020204" pitchFamily="34" charset="0"/>
                        </a:rPr>
                        <a:t>Cách</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biểu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diễn</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lần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xuất</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hiện</a:t>
                      </a:r>
                      <a:endParaRPr lang="en-US" sz="1800"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Đếm</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 </a:t>
                      </a:r>
                      <a:r>
                        <a:rPr lang="en-US" sz="1800" dirty="0" err="1">
                          <a:latin typeface="Arial" panose="020B0604020202020204" pitchFamily="34" charset="0"/>
                          <a:cs typeface="Arial" panose="020B0604020202020204" pitchFamily="34" charset="0"/>
                        </a:rPr>
                        <a:t>gán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theo</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độ</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quan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791317268"/>
                  </a:ext>
                </a:extLst>
              </a:tr>
              <a:tr h="685476">
                <a:tc>
                  <a:txBody>
                    <a:bodyPr/>
                    <a:lstStyle/>
                    <a:p>
                      <a:r>
                        <a:rPr lang="en-US" sz="1800" b="1" dirty="0" err="1">
                          <a:latin typeface="Arial" panose="020B0604020202020204" pitchFamily="34" charset="0"/>
                          <a:cs typeface="Arial" panose="020B0604020202020204" pitchFamily="34" charset="0"/>
                        </a:rPr>
                        <a:t>Đặc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trưng</a:t>
                      </a:r>
                      <a:endParaRPr lang="en-US" sz="1800" b="1" dirty="0">
                        <a:latin typeface="Arial" panose="020B0604020202020204" pitchFamily="34" charset="0"/>
                        <a:cs typeface="Arial" panose="020B0604020202020204" pitchFamily="34" charset="0"/>
                      </a:endParaRPr>
                    </a:p>
                  </a:txBody>
                  <a:tcPr anchor="ctr"/>
                </a:tc>
                <a:tc>
                  <a:txBody>
                    <a:bodyPr/>
                    <a:lstStyle/>
                    <a:p>
                      <a:r>
                        <a:rPr lang="en-US" sz="1800" dirty="0" err="1">
                          <a:latin typeface="Arial" panose="020B0604020202020204" pitchFamily="34" charset="0"/>
                          <a:cs typeface="Arial" panose="020B0604020202020204" pitchFamily="34" charset="0"/>
                        </a:rPr>
                        <a:t>Từ</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phổ</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biến</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cũng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có</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trọng</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số</a:t>
                      </a:r>
                      <a:r>
                        <a:rPr lang="en-US" sz="1800" dirty="0">
                          <a:latin typeface="Arial" panose="020B0604020202020204" pitchFamily="34" charset="0"/>
                          <a:cs typeface="Arial" panose="020B0604020202020204" pitchFamily="34" charset="0"/>
                        </a:rPr>
                        <a:t> </a:t>
                      </a:r>
                      <a:r>
                        <a:rPr lang="en-US" sz="1800" dirty="0" err="1">
                          <a:latin typeface="Arial" panose="020B0604020202020204" pitchFamily="34" charset="0"/>
                          <a:cs typeface="Arial" panose="020B0604020202020204" pitchFamily="34" charset="0"/>
                        </a:rPr>
                        <a:t>cao</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Từ phổ biến bị giảm trọng số, từ hiếm được nổi bật</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3843008394"/>
                  </a:ext>
                </a:extLst>
              </a:tr>
              <a:tr h="685476">
                <a:tc>
                  <a:txBody>
                    <a:bodyPr/>
                    <a:lstStyle/>
                    <a:p>
                      <a:r>
                        <a:rPr lang="en-US" sz="1800" b="1" dirty="0" err="1">
                          <a:latin typeface="Arial" panose="020B0604020202020204" pitchFamily="34" charset="0"/>
                          <a:cs typeface="Arial" panose="020B0604020202020204" pitchFamily="34" charset="0"/>
                        </a:rPr>
                        <a:t>Ưu</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Đơn giản, dễ triển khai</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Giữ được “độ quan trọng” của từ khóa</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1105862805"/>
                  </a:ext>
                </a:extLst>
              </a:tr>
              <a:tr h="685476">
                <a:tc>
                  <a:txBody>
                    <a:bodyPr/>
                    <a:lstStyle/>
                    <a:p>
                      <a:r>
                        <a:rPr lang="en-US" sz="1800" b="1" dirty="0" err="1">
                          <a:latin typeface="Arial" panose="020B0604020202020204" pitchFamily="34" charset="0"/>
                          <a:cs typeface="Arial" panose="020B0604020202020204" pitchFamily="34" charset="0"/>
                        </a:rPr>
                        <a:t>Nhược</a:t>
                      </a:r>
                      <a:r>
                        <a:rPr lang="en-US" sz="1800" b="1" dirty="0">
                          <a:latin typeface="Arial" panose="020B0604020202020204" pitchFamily="34" charset="0"/>
                          <a:cs typeface="Arial" panose="020B0604020202020204" pitchFamily="34" charset="0"/>
                        </a:rPr>
                        <a:t> </a:t>
                      </a:r>
                      <a:r>
                        <a:rPr lang="en-US" sz="1800" b="1" dirty="0" err="1">
                          <a:latin typeface="Arial" panose="020B0604020202020204" pitchFamily="34" charset="0"/>
                          <a:cs typeface="Arial" panose="020B0604020202020204" pitchFamily="34" charset="0"/>
                        </a:rPr>
                        <a:t>điểm</a:t>
                      </a:r>
                      <a:endParaRPr lang="en-US" sz="1800" b="1"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Vector thưa, bỏ qua ngữ cảnh</a:t>
                      </a:r>
                      <a:endParaRPr lang="en-US" sz="1800" dirty="0">
                        <a:latin typeface="Arial" panose="020B0604020202020204" pitchFamily="34" charset="0"/>
                        <a:cs typeface="Arial" panose="020B0604020202020204" pitchFamily="34" charset="0"/>
                      </a:endParaRPr>
                    </a:p>
                  </a:txBody>
                  <a:tcPr anchor="ctr"/>
                </a:tc>
                <a:tc>
                  <a:txBody>
                    <a:bodyPr/>
                    <a:lstStyle/>
                    <a:p>
                      <a:r>
                        <a:rPr lang="vi-VN" sz="1800" dirty="0">
                          <a:latin typeface="Arial" panose="020B0604020202020204" pitchFamily="34" charset="0"/>
                          <a:cs typeface="Arial" panose="020B0604020202020204" pitchFamily="34" charset="0"/>
                        </a:rPr>
                        <a:t>Vẫn bỏ qua ngữ cảnh, tính toán phức tạp hơn</a:t>
                      </a:r>
                      <a:endParaRPr lang="en-US" sz="1800" dirty="0">
                        <a:latin typeface="Arial" panose="020B0604020202020204" pitchFamily="34" charset="0"/>
                        <a:cs typeface="Arial" panose="020B0604020202020204" pitchFamily="34" charset="0"/>
                      </a:endParaRPr>
                    </a:p>
                  </a:txBody>
                  <a:tcPr anchor="ctr"/>
                </a:tc>
                <a:extLst>
                  <a:ext uri="{0D108BD9-81ED-4DB2-BD59-A6C34878D82A}">
                    <a16:rowId xmlns:a16="http://schemas.microsoft.com/office/drawing/2014/main" val="878782176"/>
                  </a:ext>
                </a:extLst>
              </a:tr>
            </a:tbl>
          </a:graphicData>
        </a:graphic>
      </p:graphicFrame>
    </p:spTree>
    <p:extLst>
      <p:ext uri="{BB962C8B-B14F-4D97-AF65-F5344CB8AC3E}">
        <p14:creationId xmlns:p14="http://schemas.microsoft.com/office/powerpoint/2010/main" val="182249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5AB752-5F1C-A9B6-F425-259A5301AB1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0BEF5D6-93A3-E896-2DEA-601FAB631FC5}"/>
              </a:ext>
            </a:extLst>
          </p:cNvPr>
          <p:cNvSpPr>
            <a:spLocks noGrp="1"/>
          </p:cNvSpPr>
          <p:nvPr>
            <p:ph type="sldNum" sz="quarter" idx="12"/>
          </p:nvPr>
        </p:nvSpPr>
        <p:spPr/>
        <p:txBody>
          <a:bodyPr/>
          <a:lstStyle/>
          <a:p>
            <a:fld id="{C1DACA90-E1C3-4C19-87AA-D4513B3BCE17}" type="slidenum">
              <a:rPr lang="en-AU" smtClean="0"/>
              <a:t>12</a:t>
            </a:fld>
            <a:endParaRPr lang="en-AU" dirty="0"/>
          </a:p>
        </p:txBody>
      </p:sp>
      <p:sp>
        <p:nvSpPr>
          <p:cNvPr id="11" name="TextBox 10">
            <a:extLst>
              <a:ext uri="{FF2B5EF4-FFF2-40B4-BE49-F238E27FC236}">
                <a16:creationId xmlns:a16="http://schemas.microsoft.com/office/drawing/2014/main" id="{08066406-5B57-DD1F-5578-959095B0029A}"/>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35D2D05B-9A73-7FA8-27A5-03C133ACC86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0EBF8F4F-86D7-EF23-4C45-AC375C1960E4}"/>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70EB536-0432-C2D1-6174-1A38FE873D9C}"/>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6FA25351-163E-1E9C-F538-D825C0609545}"/>
              </a:ext>
            </a:extLst>
          </p:cNvPr>
          <p:cNvSpPr txBox="1"/>
          <p:nvPr/>
        </p:nvSpPr>
        <p:spPr>
          <a:xfrm>
            <a:off x="367385" y="2578832"/>
            <a:ext cx="11191876"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Naïve Bayes</a:t>
            </a:r>
            <a:r>
              <a:rPr lang="vi-VN" sz="2000" dirty="0">
                <a:latin typeface="Arial" panose="020B0604020202020204" pitchFamily="34" charset="0"/>
                <a:cs typeface="Arial" panose="020B0604020202020204" pitchFamily="34" charset="0"/>
              </a:rPr>
              <a:t> là một trong những thuật toán học máy có giám sát đơn giản nhưng hiệu quả, đặc biệt phù hợp với các bài toán phân loại văn bản như phân loại cảm xúc, phân loại thư rác, hoặc phân loại chủ đề văn bản. </a:t>
            </a:r>
            <a:endParaRPr lang="en-US" sz="2000" dirty="0">
              <a:latin typeface="Arial" panose="020B0604020202020204" pitchFamily="34" charset="0"/>
              <a:cs typeface="Arial" panose="020B0604020202020204" pitchFamily="34" charset="0"/>
            </a:endParaRP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D</a:t>
            </a:r>
            <a:r>
              <a:rPr lang="vi-VN" sz="2000" dirty="0">
                <a:latin typeface="Arial" panose="020B0604020202020204" pitchFamily="34" charset="0"/>
                <a:cs typeface="Arial" panose="020B0604020202020204" pitchFamily="34" charset="0"/>
              </a:rPr>
              <a:t>ựa trên </a:t>
            </a:r>
            <a:r>
              <a:rPr lang="vi-VN" sz="2000" b="1" dirty="0">
                <a:latin typeface="Arial" panose="020B0604020202020204" pitchFamily="34" charset="0"/>
                <a:cs typeface="Arial" panose="020B0604020202020204" pitchFamily="34" charset="0"/>
              </a:rPr>
              <a:t>định lý Bayes</a:t>
            </a:r>
            <a:r>
              <a:rPr lang="vi-VN" sz="2000" dirty="0">
                <a:latin typeface="Arial" panose="020B0604020202020204" pitchFamily="34" charset="0"/>
                <a:cs typeface="Arial" panose="020B0604020202020204" pitchFamily="34" charset="0"/>
              </a:rPr>
              <a:t> trong xác suất thống kê, kết hợp với </a:t>
            </a:r>
            <a:r>
              <a:rPr lang="vi-VN" sz="2000" b="1" dirty="0">
                <a:latin typeface="Arial" panose="020B0604020202020204" pitchFamily="34" charset="0"/>
                <a:cs typeface="Arial" panose="020B0604020202020204" pitchFamily="34" charset="0"/>
              </a:rPr>
              <a:t>giả định </a:t>
            </a:r>
            <a:r>
              <a:rPr lang="en-US" sz="2000" b="1" dirty="0">
                <a:latin typeface="Arial" panose="020B0604020202020204" pitchFamily="34" charset="0"/>
                <a:cs typeface="Arial" panose="020B0604020202020204" pitchFamily="34" charset="0"/>
              </a:rPr>
              <a:t>Naïve</a:t>
            </a:r>
            <a:r>
              <a:rPr lang="en-US" sz="2000" dirty="0">
                <a:latin typeface="Arial" panose="020B0604020202020204" pitchFamily="34" charset="0"/>
                <a:cs typeface="Arial" panose="020B0604020202020204" pitchFamily="34" charset="0"/>
              </a:rPr>
              <a:t> </a:t>
            </a:r>
            <a:r>
              <a:rPr lang="vi-VN" sz="2000" dirty="0">
                <a:latin typeface="Arial" panose="020B0604020202020204" pitchFamily="34" charset="0"/>
                <a:cs typeface="Arial" panose="020B0604020202020204" pitchFamily="34" charset="0"/>
              </a:rPr>
              <a:t>rằng các đặc trưng là độc lập có điều kiện với nhau</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8816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4A5BF-2CF2-69D3-A0E6-A69F8F6C6747}"/>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996077F-7F29-3856-8EBD-504137C4630F}"/>
              </a:ext>
            </a:extLst>
          </p:cNvPr>
          <p:cNvSpPr>
            <a:spLocks noGrp="1"/>
          </p:cNvSpPr>
          <p:nvPr>
            <p:ph type="sldNum" sz="quarter" idx="12"/>
          </p:nvPr>
        </p:nvSpPr>
        <p:spPr/>
        <p:txBody>
          <a:bodyPr/>
          <a:lstStyle/>
          <a:p>
            <a:fld id="{C1DACA90-E1C3-4C19-87AA-D4513B3BCE17}" type="slidenum">
              <a:rPr lang="en-AU" smtClean="0"/>
              <a:t>13</a:t>
            </a:fld>
            <a:endParaRPr lang="en-AU" dirty="0"/>
          </a:p>
        </p:txBody>
      </p:sp>
      <p:sp>
        <p:nvSpPr>
          <p:cNvPr id="11" name="TextBox 10">
            <a:extLst>
              <a:ext uri="{FF2B5EF4-FFF2-40B4-BE49-F238E27FC236}">
                <a16:creationId xmlns:a16="http://schemas.microsoft.com/office/drawing/2014/main" id="{95BAB756-00D7-4209-10CB-0257CFAD992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F0CC3031-6DED-7172-ABEC-6DA48D58911D}"/>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2.4. </a:t>
            </a:r>
            <a:r>
              <a:rPr lang="en-US" sz="2000" b="1" dirty="0" err="1">
                <a:latin typeface="Arial" panose="020B0604020202020204" pitchFamily="34" charset="0"/>
                <a:cs typeface="Arial" panose="020B0604020202020204" pitchFamily="34" charset="0"/>
              </a:rPr>
              <a:t>Thuật</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toán</a:t>
            </a:r>
            <a:r>
              <a:rPr lang="en-US" sz="2000" b="1" dirty="0">
                <a:latin typeface="Arial" panose="020B0604020202020204" pitchFamily="34" charset="0"/>
                <a:cs typeface="Arial" panose="020B0604020202020204" pitchFamily="34" charset="0"/>
              </a:rPr>
              <a:t> Naïve Bayes</a:t>
            </a:r>
          </a:p>
        </p:txBody>
      </p:sp>
      <p:pic>
        <p:nvPicPr>
          <p:cNvPr id="2" name="Picture 1">
            <a:extLst>
              <a:ext uri="{FF2B5EF4-FFF2-40B4-BE49-F238E27FC236}">
                <a16:creationId xmlns:a16="http://schemas.microsoft.com/office/drawing/2014/main" id="{9B874D82-0528-0129-B25E-647E631CF6FD}"/>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15AAF26A-8917-644F-97EB-01540FC388F6}"/>
              </a:ext>
            </a:extLst>
          </p:cNvPr>
          <p:cNvSpPr txBox="1"/>
          <p:nvPr/>
        </p:nvSpPr>
        <p:spPr>
          <a:xfrm>
            <a:off x="500062" y="1890445"/>
            <a:ext cx="4681538"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Đơn giản và dễ triển khai</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Tốc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nhanh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hưởng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bởi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nhiễu</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Hoạt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nhỏ</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CA2E58E3-D16F-F787-95ED-606BDEDFED07}"/>
              </a:ext>
            </a:extLst>
          </p:cNvPr>
          <p:cNvSpPr txBox="1"/>
          <p:nvPr/>
        </p:nvSpPr>
        <p:spPr>
          <a:xfrm>
            <a:off x="5573484" y="1890445"/>
            <a:ext cx="6218465" cy="3614536"/>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Giả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định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lập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thực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tế</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Không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xét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thứ</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tự</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bị</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sai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lệch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nếu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có</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chưa</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từng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Độ</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thấp</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hơn</a:t>
            </a:r>
            <a:r>
              <a:rPr lang="en-US" sz="2000" dirty="0">
                <a:latin typeface="Arial" panose="020B0604020202020204" pitchFamily="34" charset="0"/>
                <a:cs typeface="Arial" panose="020B0604020202020204" pitchFamily="34" charset="0"/>
              </a:rPr>
              <a:t> so </a:t>
            </a:r>
            <a:r>
              <a:rPr lang="en-US" sz="2000" dirty="0" err="1">
                <a:latin typeface="Arial" panose="020B0604020202020204" pitchFamily="34" charset="0"/>
                <a:cs typeface="Arial" panose="020B0604020202020204" pitchFamily="34" charset="0"/>
              </a:rPr>
              <a:t>với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các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mô</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hình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hiện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đại</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1902089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0C5C1A-1C97-36CD-E5AB-CCEECDDFEF0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3688697-4A59-46CD-D5F3-E4C67625D91C}"/>
              </a:ext>
            </a:extLst>
          </p:cNvPr>
          <p:cNvSpPr>
            <a:spLocks noGrp="1"/>
          </p:cNvSpPr>
          <p:nvPr>
            <p:ph type="sldNum" sz="quarter" idx="12"/>
          </p:nvPr>
        </p:nvSpPr>
        <p:spPr/>
        <p:txBody>
          <a:bodyPr/>
          <a:lstStyle/>
          <a:p>
            <a:fld id="{C1DACA90-E1C3-4C19-87AA-D4513B3BCE17}" type="slidenum">
              <a:rPr lang="en-AU" smtClean="0"/>
              <a:t>14</a:t>
            </a:fld>
            <a:endParaRPr lang="en-AU" dirty="0"/>
          </a:p>
        </p:txBody>
      </p:sp>
      <p:sp>
        <p:nvSpPr>
          <p:cNvPr id="11" name="TextBox 10">
            <a:extLst>
              <a:ext uri="{FF2B5EF4-FFF2-40B4-BE49-F238E27FC236}">
                <a16:creationId xmlns:a16="http://schemas.microsoft.com/office/drawing/2014/main" id="{F357A520-86D2-6100-BC9D-67DB3095977F}"/>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B65E44-71D7-EA6F-5F3B-6EA7DF408796}"/>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FB105BB0-BE14-EAC2-5EDB-B11F346A7F2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A529C15E-CE8B-348B-5D37-2B3B39125E1F}"/>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Khái</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niệm</a:t>
            </a:r>
            <a:r>
              <a:rPr lang="en-US" sz="2000" b="1" dirty="0">
                <a:latin typeface="Arial" panose="020B0604020202020204" pitchFamily="34" charset="0"/>
                <a:cs typeface="Arial" panose="020B0604020202020204" pitchFamily="34" charset="0"/>
              </a:rPr>
              <a:t>:</a:t>
            </a:r>
          </a:p>
        </p:txBody>
      </p:sp>
      <p:sp>
        <p:nvSpPr>
          <p:cNvPr id="6" name="TextBox 5">
            <a:extLst>
              <a:ext uri="{FF2B5EF4-FFF2-40B4-BE49-F238E27FC236}">
                <a16:creationId xmlns:a16="http://schemas.microsoft.com/office/drawing/2014/main" id="{505C4339-CD37-680C-3A93-BECE6344B78D}"/>
              </a:ext>
            </a:extLst>
          </p:cNvPr>
          <p:cNvSpPr txBox="1"/>
          <p:nvPr/>
        </p:nvSpPr>
        <p:spPr>
          <a:xfrm>
            <a:off x="367385" y="2578832"/>
            <a:ext cx="11191876" cy="2592980"/>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vi-VN" sz="2000" b="1" dirty="0">
                <a:latin typeface="Arial" panose="020B0604020202020204" pitchFamily="34" charset="0"/>
                <a:cs typeface="Arial" panose="020B0604020202020204" pitchFamily="34" charset="0"/>
              </a:rPr>
              <a:t>PhoBERT</a:t>
            </a:r>
            <a:r>
              <a:rPr lang="vi-VN" sz="2000" dirty="0">
                <a:latin typeface="Arial" panose="020B0604020202020204" pitchFamily="34" charset="0"/>
                <a:cs typeface="Arial" panose="020B0604020202020204" pitchFamily="34" charset="0"/>
              </a:rPr>
              <a:t> là một mô hình ngôn ngữ tiền huấn luyện dành riêng cho tiếng Việt, được phát triển dựa trên kiến trúc BERT</a:t>
            </a:r>
            <a:r>
              <a:rPr lang="en-US" sz="2000" dirty="0">
                <a:latin typeface="Arial" panose="020B0604020202020204" pitchFamily="34" charset="0"/>
                <a:cs typeface="Arial" panose="020B0604020202020204" pitchFamily="34" charset="0"/>
              </a:rPr>
              <a:t>.</a:t>
            </a:r>
          </a:p>
          <a:p>
            <a:pPr algn="just">
              <a:lnSpc>
                <a:spcPct val="150000"/>
              </a:lnSpc>
            </a:pPr>
            <a:endParaRPr lang="en-US" sz="2000" dirty="0">
              <a:latin typeface="Arial" panose="020B0604020202020204" pitchFamily="34" charset="0"/>
              <a:cs typeface="Arial" panose="020B0604020202020204" pitchFamily="34" charset="0"/>
            </a:endParaRPr>
          </a:p>
          <a:p>
            <a:pPr algn="just">
              <a:lnSpc>
                <a:spcPct val="150000"/>
              </a:lnSpc>
            </a:pPr>
            <a:r>
              <a:rPr lang="en-US" sz="2000" dirty="0">
                <a:latin typeface="Arial" panose="020B0604020202020204" pitchFamily="34" charset="0"/>
                <a:cs typeface="Arial" panose="020B0604020202020204" pitchFamily="34" charset="0"/>
              </a:rPr>
              <a:t>B</a:t>
            </a:r>
            <a:r>
              <a:rPr lang="vi-VN" sz="2000" dirty="0">
                <a:latin typeface="Arial" panose="020B0604020202020204" pitchFamily="34" charset="0"/>
                <a:cs typeface="Arial" panose="020B0604020202020204" pitchFamily="34" charset="0"/>
              </a:rPr>
              <a:t>ước tiến quan trọng trong việc áp dụng các kỹ thuật học sâu tiên tiến vào xử lý ngôn ngữ tự nhiên tiếng Việt</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7052283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98139-BB0A-CC39-77FC-BEDA1D0BBF1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CF29816-864B-6815-A1ED-EFB3ABBC9AAA}"/>
              </a:ext>
            </a:extLst>
          </p:cNvPr>
          <p:cNvSpPr>
            <a:spLocks noGrp="1"/>
          </p:cNvSpPr>
          <p:nvPr>
            <p:ph type="sldNum" sz="quarter" idx="12"/>
          </p:nvPr>
        </p:nvSpPr>
        <p:spPr/>
        <p:txBody>
          <a:bodyPr/>
          <a:lstStyle/>
          <a:p>
            <a:fld id="{C1DACA90-E1C3-4C19-87AA-D4513B3BCE17}" type="slidenum">
              <a:rPr lang="en-AU" smtClean="0"/>
              <a:t>15</a:t>
            </a:fld>
            <a:endParaRPr lang="en-AU" dirty="0"/>
          </a:p>
        </p:txBody>
      </p:sp>
      <p:sp>
        <p:nvSpPr>
          <p:cNvPr id="11" name="TextBox 10">
            <a:extLst>
              <a:ext uri="{FF2B5EF4-FFF2-40B4-BE49-F238E27FC236}">
                <a16:creationId xmlns:a16="http://schemas.microsoft.com/office/drawing/2014/main" id="{A157AB0F-B358-9E20-F35B-DB96123FCC03}"/>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6F72B3C2-71DF-2020-04D6-2871F4FB003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512B944D-09F3-3563-B67D-F1E92C44E322}"/>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8852C0F9-4F58-8252-BCAE-8EA8851AE8CA}"/>
              </a:ext>
            </a:extLst>
          </p:cNvPr>
          <p:cNvSpPr txBox="1"/>
          <p:nvPr/>
        </p:nvSpPr>
        <p:spPr>
          <a:xfrm>
            <a:off x="500062" y="1890445"/>
            <a:ext cx="11191876" cy="549867"/>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Kiến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trúc</a:t>
            </a:r>
            <a:r>
              <a:rPr lang="en-US" sz="2000" b="1" dirty="0">
                <a:latin typeface="Arial" panose="020B0604020202020204" pitchFamily="34" charset="0"/>
                <a:cs typeface="Arial" panose="020B0604020202020204" pitchFamily="34" charset="0"/>
              </a:rPr>
              <a:t> BERT:</a:t>
            </a:r>
          </a:p>
        </p:txBody>
      </p:sp>
    </p:spTree>
    <p:extLst>
      <p:ext uri="{BB962C8B-B14F-4D97-AF65-F5344CB8AC3E}">
        <p14:creationId xmlns:p14="http://schemas.microsoft.com/office/powerpoint/2010/main" val="13071329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DAA63-58B8-7F7E-4E13-4E41040A80E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D33B-6780-9D95-4B5D-1C4E6C6F329F}"/>
              </a:ext>
            </a:extLst>
          </p:cNvPr>
          <p:cNvSpPr>
            <a:spLocks noGrp="1"/>
          </p:cNvSpPr>
          <p:nvPr>
            <p:ph type="sldNum" sz="quarter" idx="12"/>
          </p:nvPr>
        </p:nvSpPr>
        <p:spPr/>
        <p:txBody>
          <a:bodyPr/>
          <a:lstStyle/>
          <a:p>
            <a:fld id="{C1DACA90-E1C3-4C19-87AA-D4513B3BCE17}" type="slidenum">
              <a:rPr lang="en-AU" smtClean="0"/>
              <a:t>16</a:t>
            </a:fld>
            <a:endParaRPr lang="en-AU" dirty="0"/>
          </a:p>
        </p:txBody>
      </p:sp>
      <p:sp>
        <p:nvSpPr>
          <p:cNvPr id="11" name="TextBox 10">
            <a:extLst>
              <a:ext uri="{FF2B5EF4-FFF2-40B4-BE49-F238E27FC236}">
                <a16:creationId xmlns:a16="http://schemas.microsoft.com/office/drawing/2014/main" id="{07806254-F698-5D2B-2BB8-8D0C256C0769}"/>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05811F12-C7DB-157D-801D-38824801CA75}"/>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2.5. </a:t>
            </a:r>
            <a:r>
              <a:rPr lang="en-US" sz="2000" b="1" dirty="0" err="1">
                <a:latin typeface="Arial" panose="020B0604020202020204" pitchFamily="34" charset="0"/>
                <a:cs typeface="Arial" panose="020B0604020202020204" pitchFamily="34" charset="0"/>
              </a:rPr>
              <a:t>Mô</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hình</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PhoBERT</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7F38D8AD-BE7A-CD3F-1105-01E1918B9DF3}"/>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FA43BE93-6C62-A6FC-CE8A-82D3110F77B5}"/>
              </a:ext>
            </a:extLst>
          </p:cNvPr>
          <p:cNvSpPr txBox="1"/>
          <p:nvPr/>
        </p:nvSpPr>
        <p:spPr>
          <a:xfrm>
            <a:off x="500061" y="1890445"/>
            <a:ext cx="5998709"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Ưu</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Được huấn luyện chuyên biệt cho tiếng Việt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Hiểu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cảnh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tốt</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Khả</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năng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biểu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diễn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ngôn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mạnh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mẽ</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Dễ</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dàng</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theo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bài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thể</a:t>
            </a:r>
            <a:r>
              <a:rPr lang="en-US" sz="2000" dirty="0">
                <a:latin typeface="Arial" panose="020B0604020202020204" pitchFamily="34" charset="0"/>
                <a:cs typeface="Arial" panose="020B0604020202020204" pitchFamily="34" charset="0"/>
              </a:rPr>
              <a:t>.</a:t>
            </a:r>
          </a:p>
        </p:txBody>
      </p:sp>
      <p:sp>
        <p:nvSpPr>
          <p:cNvPr id="5" name="TextBox 4">
            <a:extLst>
              <a:ext uri="{FF2B5EF4-FFF2-40B4-BE49-F238E27FC236}">
                <a16:creationId xmlns:a16="http://schemas.microsoft.com/office/drawing/2014/main" id="{44FA35FC-6E43-2753-5503-8717D3B9BB39}"/>
              </a:ext>
            </a:extLst>
          </p:cNvPr>
          <p:cNvSpPr txBox="1"/>
          <p:nvPr/>
        </p:nvSpPr>
        <p:spPr>
          <a:xfrm>
            <a:off x="6324600" y="1890445"/>
            <a:ext cx="5867400" cy="3103758"/>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Nhược</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điểm</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Yêu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cầu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tài</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nguyên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tính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toán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lớn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vi-VN" sz="2000" dirty="0">
                <a:latin typeface="Arial" panose="020B0604020202020204" pitchFamily="34" charset="0"/>
                <a:cs typeface="Arial" panose="020B0604020202020204" pitchFamily="34" charset="0"/>
              </a:rPr>
              <a:t>Thời gian huấn luyện và suy luận chậm hơn</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Cần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tiền</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xử</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lý</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dữ</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liệu</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hợp</a:t>
            </a:r>
            <a:r>
              <a:rPr lang="en-US" sz="2000" dirty="0">
                <a:latin typeface="Arial" panose="020B0604020202020204" pitchFamily="34" charset="0"/>
                <a:cs typeface="Arial" panose="020B0604020202020204" pitchFamily="34" charset="0"/>
              </a:rPr>
              <a:t>.</a:t>
            </a:r>
          </a:p>
          <a:p>
            <a:pPr marL="342900" indent="-342900" algn="just">
              <a:lnSpc>
                <a:spcPct val="150000"/>
              </a:lnSpc>
              <a:buFont typeface="Arial" panose="020B0604020202020204" pitchFamily="34" charset="0"/>
              <a:buChar char="•"/>
            </a:pPr>
            <a:r>
              <a:rPr lang="en-US" sz="2000" dirty="0">
                <a:latin typeface="Arial" panose="020B0604020202020204" pitchFamily="34" charset="0"/>
                <a:cs typeface="Arial" panose="020B0604020202020204" pitchFamily="34" charset="0"/>
              </a:rPr>
              <a:t>Hiệu </a:t>
            </a:r>
            <a:r>
              <a:rPr lang="en-US" sz="2000" dirty="0" err="1">
                <a:latin typeface="Arial" panose="020B0604020202020204" pitchFamily="34" charset="0"/>
                <a:cs typeface="Arial" panose="020B0604020202020204" pitchFamily="34" charset="0"/>
              </a:rPr>
              <a:t>suất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phụ</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thuộc</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vào</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kỹ</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thuật</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tinh</a:t>
            </a:r>
            <a:r>
              <a:rPr lang="en-US" sz="2000" dirty="0">
                <a:latin typeface="Arial" panose="020B0604020202020204" pitchFamily="34" charset="0"/>
                <a:cs typeface="Arial" panose="020B0604020202020204" pitchFamily="34" charset="0"/>
              </a:rPr>
              <a:t> </a:t>
            </a:r>
            <a:r>
              <a:rPr lang="en-US" sz="2000" dirty="0" err="1">
                <a:latin typeface="Arial" panose="020B0604020202020204" pitchFamily="34" charset="0"/>
                <a:cs typeface="Arial" panose="020B0604020202020204" pitchFamily="34" charset="0"/>
              </a:rPr>
              <a:t>chỉnh</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2185017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5F8436-5577-5C5F-9A59-0FF514F1DB0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C5440B1-DC07-4D04-EA8A-8AC16315DD7D}"/>
              </a:ext>
            </a:extLst>
          </p:cNvPr>
          <p:cNvSpPr>
            <a:spLocks noGrp="1"/>
          </p:cNvSpPr>
          <p:nvPr>
            <p:ph type="sldNum" sz="quarter" idx="12"/>
          </p:nvPr>
        </p:nvSpPr>
        <p:spPr/>
        <p:txBody>
          <a:bodyPr/>
          <a:lstStyle/>
          <a:p>
            <a:fld id="{C1DACA90-E1C3-4C19-87AA-D4513B3BCE17}" type="slidenum">
              <a:rPr lang="en-AU" smtClean="0"/>
              <a:t>17</a:t>
            </a:fld>
            <a:endParaRPr lang="en-AU" dirty="0"/>
          </a:p>
        </p:txBody>
      </p:sp>
      <p:sp>
        <p:nvSpPr>
          <p:cNvPr id="11" name="TextBox 10">
            <a:extLst>
              <a:ext uri="{FF2B5EF4-FFF2-40B4-BE49-F238E27FC236}">
                <a16:creationId xmlns:a16="http://schemas.microsoft.com/office/drawing/2014/main" id="{6CB81A1A-6A8E-A984-47A7-67EC3EDCA595}"/>
              </a:ext>
            </a:extLst>
          </p:cNvPr>
          <p:cNvSpPr txBox="1"/>
          <p:nvPr/>
        </p:nvSpPr>
        <p:spPr>
          <a:xfrm>
            <a:off x="134696" y="364558"/>
            <a:ext cx="11657254" cy="584775"/>
          </a:xfrm>
          <a:prstGeom prst="rect">
            <a:avLst/>
          </a:prstGeom>
          <a:noFill/>
        </p:spPr>
        <p:txBody>
          <a:bodyPr wrap="square" rtlCol="0">
            <a:spAutoFit/>
          </a:bodyPr>
          <a:lstStyle/>
          <a:p>
            <a:r>
              <a:rPr lang="en-US" sz="3200" b="1" dirty="0">
                <a:latin typeface="Arial" panose="020B0604020202020204" pitchFamily="34" charset="0"/>
                <a:cs typeface="Arial" panose="020B0604020202020204" pitchFamily="34" charset="0"/>
              </a:rPr>
              <a:t>II. NGHIÊN CỨU LÝ THUYẾT</a:t>
            </a:r>
          </a:p>
        </p:txBody>
      </p:sp>
      <p:sp>
        <p:nvSpPr>
          <p:cNvPr id="12" name="TextBox 11">
            <a:extLst>
              <a:ext uri="{FF2B5EF4-FFF2-40B4-BE49-F238E27FC236}">
                <a16:creationId xmlns:a16="http://schemas.microsoft.com/office/drawing/2014/main" id="{9D251302-DDE5-C431-B78E-3B73FDB4FF0E}"/>
              </a:ext>
            </a:extLst>
          </p:cNvPr>
          <p:cNvSpPr txBox="1"/>
          <p:nvPr/>
        </p:nvSpPr>
        <p:spPr>
          <a:xfrm>
            <a:off x="134696" y="1237610"/>
            <a:ext cx="7595371" cy="400110"/>
          </a:xfrm>
          <a:prstGeom prst="rect">
            <a:avLst/>
          </a:prstGeom>
          <a:noFill/>
        </p:spPr>
        <p:txBody>
          <a:bodyPr wrap="square" rtlCol="0">
            <a:spAutoFit/>
          </a:bodyPr>
          <a:lstStyle/>
          <a:p>
            <a:r>
              <a:rPr lang="en-US" sz="2000" b="1" dirty="0">
                <a:latin typeface="Arial" panose="020B0604020202020204" pitchFamily="34" charset="0"/>
                <a:cs typeface="Arial" panose="020B0604020202020204" pitchFamily="34" charset="0"/>
              </a:rPr>
              <a:t>2.6. Công </a:t>
            </a:r>
            <a:r>
              <a:rPr lang="en-US" sz="2000" b="1" dirty="0" err="1">
                <a:latin typeface="Arial" panose="020B0604020202020204" pitchFamily="34" charset="0"/>
                <a:cs typeface="Arial" panose="020B0604020202020204" pitchFamily="34" charset="0"/>
              </a:rPr>
              <a:t>nghệ</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phần</a:t>
            </a:r>
            <a:r>
              <a:rPr lang="en-US" sz="2000" b="1" dirty="0">
                <a:latin typeface="Arial" panose="020B0604020202020204" pitchFamily="34" charset="0"/>
                <a:cs typeface="Arial" panose="020B0604020202020204" pitchFamily="34" charset="0"/>
              </a:rPr>
              <a:t> </a:t>
            </a:r>
            <a:r>
              <a:rPr lang="en-US" sz="2000" b="1" dirty="0" err="1">
                <a:latin typeface="Arial" panose="020B0604020202020204" pitchFamily="34" charset="0"/>
                <a:cs typeface="Arial" panose="020B0604020202020204" pitchFamily="34" charset="0"/>
              </a:rPr>
              <a:t>mềm</a:t>
            </a:r>
            <a:endParaRPr lang="en-US" sz="2000" b="1" dirty="0">
              <a:latin typeface="Arial" panose="020B0604020202020204" pitchFamily="34" charset="0"/>
              <a:cs typeface="Arial" panose="020B0604020202020204" pitchFamily="34" charset="0"/>
            </a:endParaRPr>
          </a:p>
        </p:txBody>
      </p:sp>
      <p:pic>
        <p:nvPicPr>
          <p:cNvPr id="2" name="Picture 1">
            <a:extLst>
              <a:ext uri="{FF2B5EF4-FFF2-40B4-BE49-F238E27FC236}">
                <a16:creationId xmlns:a16="http://schemas.microsoft.com/office/drawing/2014/main" id="{2169A1A9-E1E9-BAF0-50CC-1BCA5E058F01}"/>
              </a:ext>
            </a:extLst>
          </p:cNvPr>
          <p:cNvPicPr>
            <a:picLocks noChangeAspect="1"/>
          </p:cNvPicPr>
          <p:nvPr/>
        </p:nvPicPr>
        <p:blipFill>
          <a:blip r:embed="rId3">
            <a:extLst>
              <a:ext uri="{28A0092B-C50C-407E-A947-70E740481C1C}">
                <a14:useLocalDpi xmlns:a14="http://schemas.microsoft.com/office/drawing/2010/main" val="0"/>
              </a:ext>
            </a:extLst>
          </a:blip>
          <a:srcRect t="-1" r="70983" b="88753"/>
          <a:stretch>
            <a:fillRect/>
          </a:stretch>
        </p:blipFill>
        <p:spPr>
          <a:xfrm>
            <a:off x="0" y="949333"/>
            <a:ext cx="3121950" cy="91440"/>
          </a:xfrm>
          <a:prstGeom prst="rect">
            <a:avLst/>
          </a:prstGeom>
        </p:spPr>
      </p:pic>
      <p:sp>
        <p:nvSpPr>
          <p:cNvPr id="3" name="TextBox 2">
            <a:extLst>
              <a:ext uri="{FF2B5EF4-FFF2-40B4-BE49-F238E27FC236}">
                <a16:creationId xmlns:a16="http://schemas.microsoft.com/office/drawing/2014/main" id="{7AC96C28-05E1-BDB9-B0EA-A55EA0F6A20D}"/>
              </a:ext>
            </a:extLst>
          </p:cNvPr>
          <p:cNvSpPr txBox="1"/>
          <p:nvPr/>
        </p:nvSpPr>
        <p:spPr>
          <a:xfrm>
            <a:off x="500061" y="1890445"/>
            <a:ext cx="5998709"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FastAPI</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ssss</a:t>
            </a:r>
            <a:endParaRPr lang="en-US" sz="2000" dirty="0">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903180AC-470F-24C2-63DF-8F25606568F9}"/>
              </a:ext>
            </a:extLst>
          </p:cNvPr>
          <p:cNvSpPr txBox="1"/>
          <p:nvPr/>
        </p:nvSpPr>
        <p:spPr>
          <a:xfrm>
            <a:off x="6324600" y="1890445"/>
            <a:ext cx="5867400" cy="1571424"/>
          </a:xfrm>
          <a:prstGeom prst="roundRect">
            <a:avLst/>
          </a:prstGeom>
          <a:noFill/>
          <a:ln>
            <a:noFill/>
          </a:ln>
        </p:spPr>
        <p:style>
          <a:lnRef idx="0">
            <a:scrgbClr r="0" g="0" b="0"/>
          </a:lnRef>
          <a:fillRef idx="0">
            <a:scrgbClr r="0" g="0" b="0"/>
          </a:fillRef>
          <a:effectRef idx="0">
            <a:scrgbClr r="0" g="0" b="0"/>
          </a:effectRef>
          <a:fontRef idx="minor">
            <a:schemeClr val="dk1"/>
          </a:fontRef>
        </p:style>
        <p:txBody>
          <a:bodyPr wrap="square" rtlCol="0">
            <a:spAutoFit/>
          </a:bodyPr>
          <a:lstStyle/>
          <a:p>
            <a:pPr algn="just">
              <a:lnSpc>
                <a:spcPct val="150000"/>
              </a:lnSpc>
            </a:pPr>
            <a:r>
              <a:rPr lang="en-US" sz="2000" b="1" dirty="0" err="1">
                <a:latin typeface="Arial" panose="020B0604020202020204" pitchFamily="34" charset="0"/>
                <a:cs typeface="Arial" panose="020B0604020202020204" pitchFamily="34" charset="0"/>
              </a:rPr>
              <a:t>NextJS</a:t>
            </a:r>
            <a:r>
              <a:rPr lang="en-US" sz="2000" b="1" dirty="0">
                <a:latin typeface="Arial" panose="020B0604020202020204" pitchFamily="34" charset="0"/>
                <a:cs typeface="Arial" panose="020B0604020202020204" pitchFamily="34" charset="0"/>
              </a:rPr>
              <a:t>:</a:t>
            </a:r>
          </a:p>
          <a:p>
            <a:pPr algn="just">
              <a:lnSpc>
                <a:spcPct val="150000"/>
              </a:lnSpc>
            </a:pPr>
            <a:endParaRPr lang="en-US" sz="2000" b="1" dirty="0">
              <a:latin typeface="Arial" panose="020B0604020202020204" pitchFamily="34" charset="0"/>
              <a:cs typeface="Arial" panose="020B0604020202020204" pitchFamily="34" charset="0"/>
            </a:endParaRPr>
          </a:p>
          <a:p>
            <a:pPr marL="342900" indent="-342900" algn="just">
              <a:lnSpc>
                <a:spcPct val="150000"/>
              </a:lnSpc>
              <a:buFont typeface="Arial" panose="020B0604020202020204" pitchFamily="34" charset="0"/>
              <a:buChar char="•"/>
            </a:pPr>
            <a:r>
              <a:rPr lang="en-US" sz="2000" dirty="0" err="1">
                <a:latin typeface="Arial" panose="020B0604020202020204" pitchFamily="34" charset="0"/>
                <a:cs typeface="Arial" panose="020B0604020202020204" pitchFamily="34" charset="0"/>
              </a:rPr>
              <a:t>abc</a:t>
            </a:r>
            <a:r>
              <a:rPr lang="en-US" sz="2000" dirty="0">
                <a:latin typeface="Arial" panose="020B0604020202020204" pitchFamily="34" charset="0"/>
                <a:cs typeface="Arial" panose="020B0604020202020204" pitchFamily="34" charset="0"/>
              </a:rPr>
              <a:t>.</a:t>
            </a:r>
          </a:p>
        </p:txBody>
      </p:sp>
    </p:spTree>
    <p:extLst>
      <p:ext uri="{BB962C8B-B14F-4D97-AF65-F5344CB8AC3E}">
        <p14:creationId xmlns:p14="http://schemas.microsoft.com/office/powerpoint/2010/main" val="35764708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Roboto"/>
        <a:ea typeface=""/>
        <a:cs typeface=""/>
      </a:majorFont>
      <a:minorFont>
        <a:latin typeface="Apto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385</TotalTime>
  <Words>3040</Words>
  <Application>Microsoft Office PowerPoint</Application>
  <PresentationFormat>Widescreen</PresentationFormat>
  <Paragraphs>238</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Roboto</vt:lpstr>
      <vt:lpstr>Times New Roman</vt:lpstr>
      <vt:lpstr>Office Theme</vt:lpstr>
      <vt:lpstr>Nhận diện cảm xúc từ văn bản tiếng Việt bằng mô hình NLP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VANHIEP</cp:lastModifiedBy>
  <cp:revision>354</cp:revision>
  <dcterms:created xsi:type="dcterms:W3CDTF">2025-08-31T05:07:06Z</dcterms:created>
  <dcterms:modified xsi:type="dcterms:W3CDTF">2025-09-03T12:30:05Z</dcterms:modified>
</cp:coreProperties>
</file>