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3B7DA3F-2391-40E1-BBE1-5BC64BB0DCDB}">
          <p14:sldIdLst>
            <p14:sldId id="256"/>
          </p14:sldIdLst>
        </p14:section>
        <p14:section name="Body" id="{1B9D7128-194D-4FFA-895B-7199127650EE}">
          <p14:sldIdLst>
            <p14:sldId id="257"/>
            <p14:sldId id="258"/>
            <p14:sldId id="259"/>
            <p14:sldId id="260"/>
            <p14:sldId id="261"/>
            <p14:sldId id="262"/>
            <p14:sldId id="263"/>
            <p14:sldId id="264"/>
            <p14:sldId id="265"/>
            <p14:sldId id="266"/>
            <p14:sldId id="267"/>
            <p14:sldId id="268"/>
            <p14:sldId id="269"/>
            <p14:sldId id="270"/>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C00"/>
    <a:srgbClr val="0533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55" autoAdjust="0"/>
    <p:restoredTop sz="86432" autoAdjust="0"/>
  </p:normalViewPr>
  <p:slideViewPr>
    <p:cSldViewPr snapToGrid="0">
      <p:cViewPr varScale="1">
        <p:scale>
          <a:sx n="92" d="100"/>
          <a:sy n="92" d="100"/>
        </p:scale>
        <p:origin x="1164" y="84"/>
      </p:cViewPr>
      <p:guideLst/>
    </p:cSldViewPr>
  </p:slideViewPr>
  <p:outlineViewPr>
    <p:cViewPr>
      <p:scale>
        <a:sx n="33" d="100"/>
        <a:sy n="33" d="100"/>
      </p:scale>
      <p:origin x="0" y="0"/>
    </p:cViewPr>
  </p:outlineViewPr>
  <p:notesTextViewPr>
    <p:cViewPr>
      <p:scale>
        <a:sx n="50" d="100"/>
        <a:sy n="5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0158F7-4B1B-432F-97DD-86161B7B4351}" type="datetimeFigureOut">
              <a:rPr lang="en-AU" smtClean="0"/>
              <a:t>4/09/2025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D2A79F-59E5-49B9-A316-22BCC94F9756}" type="slidenum">
              <a:rPr lang="en-AU" smtClean="0"/>
              <a:t>‹#›</a:t>
            </a:fld>
            <a:endParaRPr lang="en-AU"/>
          </a:p>
        </p:txBody>
      </p:sp>
    </p:spTree>
    <p:extLst>
      <p:ext uri="{BB962C8B-B14F-4D97-AF65-F5344CB8AC3E}">
        <p14:creationId xmlns:p14="http://schemas.microsoft.com/office/powerpoint/2010/main" val="29050142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FDD2A79F-59E5-49B9-A316-22BCC94F9756}" type="slidenum">
              <a:rPr lang="en-AU" smtClean="0"/>
              <a:t>0</a:t>
            </a:fld>
            <a:endParaRPr lang="en-AU"/>
          </a:p>
        </p:txBody>
      </p:sp>
    </p:spTree>
    <p:extLst>
      <p:ext uri="{BB962C8B-B14F-4D97-AF65-F5344CB8AC3E}">
        <p14:creationId xmlns:p14="http://schemas.microsoft.com/office/powerpoint/2010/main" val="1324112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DD2A79F-59E5-49B9-A316-22BCC94F9756}" type="slidenum">
              <a:rPr lang="en-AU" smtClean="0"/>
              <a:t>1</a:t>
            </a:fld>
            <a:endParaRPr lang="en-AU"/>
          </a:p>
        </p:txBody>
      </p:sp>
    </p:spTree>
    <p:extLst>
      <p:ext uri="{BB962C8B-B14F-4D97-AF65-F5344CB8AC3E}">
        <p14:creationId xmlns:p14="http://schemas.microsoft.com/office/powerpoint/2010/main" val="26713540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62C55-8F3C-835A-935F-BF67B41999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437354-8E7A-0FF7-04A2-FFECF8202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7A59B1-D59B-F2B7-EC8E-FFDA3EA33EEA}"/>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7F90BDD9-7C30-3451-3632-5F635116314B}"/>
              </a:ext>
            </a:extLst>
          </p:cNvPr>
          <p:cNvSpPr>
            <a:spLocks noGrp="1"/>
          </p:cNvSpPr>
          <p:nvPr>
            <p:ph type="sldNum" sz="quarter" idx="5"/>
          </p:nvPr>
        </p:nvSpPr>
        <p:spPr/>
        <p:txBody>
          <a:bodyPr/>
          <a:lstStyle/>
          <a:p>
            <a:fld id="{FDD2A79F-59E5-49B9-A316-22BCC94F9756}" type="slidenum">
              <a:rPr lang="en-AU" smtClean="0"/>
              <a:t>2</a:t>
            </a:fld>
            <a:endParaRPr lang="en-AU"/>
          </a:p>
        </p:txBody>
      </p:sp>
    </p:spTree>
    <p:extLst>
      <p:ext uri="{BB962C8B-B14F-4D97-AF65-F5344CB8AC3E}">
        <p14:creationId xmlns:p14="http://schemas.microsoft.com/office/powerpoint/2010/main" val="15137886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6DF7F-9C52-0EB9-CECA-96C714F7F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D0423-4DFC-A985-C022-E0A876ED20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A67F75-B7B9-4A8B-16FB-7958EE558AE7}"/>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34B5B2E4-1767-7BFF-FAE2-2AF5518CE86D}"/>
              </a:ext>
            </a:extLst>
          </p:cNvPr>
          <p:cNvSpPr>
            <a:spLocks noGrp="1"/>
          </p:cNvSpPr>
          <p:nvPr>
            <p:ph type="sldNum" sz="quarter" idx="5"/>
          </p:nvPr>
        </p:nvSpPr>
        <p:spPr/>
        <p:txBody>
          <a:bodyPr/>
          <a:lstStyle/>
          <a:p>
            <a:fld id="{FDD2A79F-59E5-49B9-A316-22BCC94F9756}" type="slidenum">
              <a:rPr lang="en-AU" smtClean="0"/>
              <a:t>3</a:t>
            </a:fld>
            <a:endParaRPr lang="en-AU"/>
          </a:p>
        </p:txBody>
      </p:sp>
    </p:spTree>
    <p:extLst>
      <p:ext uri="{BB962C8B-B14F-4D97-AF65-F5344CB8AC3E}">
        <p14:creationId xmlns:p14="http://schemas.microsoft.com/office/powerpoint/2010/main" val="1527534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B35CA-7735-178C-D8B9-16118ED53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A33BF9-837F-1777-9BD8-F1D9AAF3FE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AF74F6-BA66-5F0E-7BF0-2FF4A0110E62}"/>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5E68664F-2450-D885-82CC-3F1BD6797613}"/>
              </a:ext>
            </a:extLst>
          </p:cNvPr>
          <p:cNvSpPr>
            <a:spLocks noGrp="1"/>
          </p:cNvSpPr>
          <p:nvPr>
            <p:ph type="sldNum" sz="quarter" idx="5"/>
          </p:nvPr>
        </p:nvSpPr>
        <p:spPr/>
        <p:txBody>
          <a:bodyPr/>
          <a:lstStyle/>
          <a:p>
            <a:fld id="{FDD2A79F-59E5-49B9-A316-22BCC94F9756}" type="slidenum">
              <a:rPr lang="en-AU" smtClean="0"/>
              <a:t>4</a:t>
            </a:fld>
            <a:endParaRPr lang="en-AU"/>
          </a:p>
        </p:txBody>
      </p:sp>
    </p:spTree>
    <p:extLst>
      <p:ext uri="{BB962C8B-B14F-4D97-AF65-F5344CB8AC3E}">
        <p14:creationId xmlns:p14="http://schemas.microsoft.com/office/powerpoint/2010/main" val="10540803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CB9C3-1869-0C15-AA11-ACB9818EC6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B4C175-6BBF-07FC-0ADA-4BA278E84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915E79-019F-CCAC-AFDA-8D492B9C5B5D}"/>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7FA14839-8951-2AAF-A11C-2B7C9825A1FD}"/>
              </a:ext>
            </a:extLst>
          </p:cNvPr>
          <p:cNvSpPr>
            <a:spLocks noGrp="1"/>
          </p:cNvSpPr>
          <p:nvPr>
            <p:ph type="sldNum" sz="quarter" idx="5"/>
          </p:nvPr>
        </p:nvSpPr>
        <p:spPr/>
        <p:txBody>
          <a:bodyPr/>
          <a:lstStyle/>
          <a:p>
            <a:fld id="{FDD2A79F-59E5-49B9-A316-22BCC94F9756}" type="slidenum">
              <a:rPr lang="en-AU" smtClean="0"/>
              <a:t>5</a:t>
            </a:fld>
            <a:endParaRPr lang="en-AU"/>
          </a:p>
        </p:txBody>
      </p:sp>
    </p:spTree>
    <p:extLst>
      <p:ext uri="{BB962C8B-B14F-4D97-AF65-F5344CB8AC3E}">
        <p14:creationId xmlns:p14="http://schemas.microsoft.com/office/powerpoint/2010/main" val="24978847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046BF-74F0-0334-5B71-A709EB2BB0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DF813-50FB-01E5-A061-1F8DCE2F5D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4F8C24-A137-7DBF-3A79-8C9CE482B856}"/>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5758618A-0696-7C2A-408C-98BD8D844070}"/>
              </a:ext>
            </a:extLst>
          </p:cNvPr>
          <p:cNvSpPr>
            <a:spLocks noGrp="1"/>
          </p:cNvSpPr>
          <p:nvPr>
            <p:ph type="sldNum" sz="quarter" idx="5"/>
          </p:nvPr>
        </p:nvSpPr>
        <p:spPr/>
        <p:txBody>
          <a:bodyPr/>
          <a:lstStyle/>
          <a:p>
            <a:fld id="{FDD2A79F-59E5-49B9-A316-22BCC94F9756}" type="slidenum">
              <a:rPr lang="en-AU" smtClean="0"/>
              <a:t>6</a:t>
            </a:fld>
            <a:endParaRPr lang="en-AU"/>
          </a:p>
        </p:txBody>
      </p:sp>
    </p:spTree>
    <p:extLst>
      <p:ext uri="{BB962C8B-B14F-4D97-AF65-F5344CB8AC3E}">
        <p14:creationId xmlns:p14="http://schemas.microsoft.com/office/powerpoint/2010/main" val="25872277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CA6DE-B252-687B-47C3-540BABBA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4E7BFA-2285-E676-0429-E727BF91E4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2CBAE-DC51-7355-E34F-904957808A70}"/>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22FD5899-D7B9-5C31-C0F8-C632CFD9B880}"/>
              </a:ext>
            </a:extLst>
          </p:cNvPr>
          <p:cNvSpPr>
            <a:spLocks noGrp="1"/>
          </p:cNvSpPr>
          <p:nvPr>
            <p:ph type="sldNum" sz="quarter" idx="5"/>
          </p:nvPr>
        </p:nvSpPr>
        <p:spPr/>
        <p:txBody>
          <a:bodyPr/>
          <a:lstStyle/>
          <a:p>
            <a:fld id="{FDD2A79F-59E5-49B9-A316-22BCC94F9756}" type="slidenum">
              <a:rPr lang="en-AU" smtClean="0"/>
              <a:t>7</a:t>
            </a:fld>
            <a:endParaRPr lang="en-AU"/>
          </a:p>
        </p:txBody>
      </p:sp>
    </p:spTree>
    <p:extLst>
      <p:ext uri="{BB962C8B-B14F-4D97-AF65-F5344CB8AC3E}">
        <p14:creationId xmlns:p14="http://schemas.microsoft.com/office/powerpoint/2010/main" val="2165287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50B01-8B9D-D8DC-07F6-BF2636542D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C120F0-879A-0BB6-11A2-0F27884A97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3E9D5D-C0D6-7C0D-8BDD-9749CE777F0B}"/>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81686E1A-6BE6-B3B6-14A4-9A6B5AD51873}"/>
              </a:ext>
            </a:extLst>
          </p:cNvPr>
          <p:cNvSpPr>
            <a:spLocks noGrp="1"/>
          </p:cNvSpPr>
          <p:nvPr>
            <p:ph type="sldNum" sz="quarter" idx="5"/>
          </p:nvPr>
        </p:nvSpPr>
        <p:spPr/>
        <p:txBody>
          <a:bodyPr/>
          <a:lstStyle/>
          <a:p>
            <a:fld id="{FDD2A79F-59E5-49B9-A316-22BCC94F9756}" type="slidenum">
              <a:rPr lang="en-AU" smtClean="0"/>
              <a:t>8</a:t>
            </a:fld>
            <a:endParaRPr lang="en-AU"/>
          </a:p>
        </p:txBody>
      </p:sp>
    </p:spTree>
    <p:extLst>
      <p:ext uri="{BB962C8B-B14F-4D97-AF65-F5344CB8AC3E}">
        <p14:creationId xmlns:p14="http://schemas.microsoft.com/office/powerpoint/2010/main" val="34300996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22505-40F7-6B5D-5022-B5E233847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4B3880-F3FC-1D1E-1832-ECB4CB8ECD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05A29-15AD-E06E-1DAD-5BB28C8B43EF}"/>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F15F57EE-3BA4-EC02-B38C-6D0DE1FE5844}"/>
              </a:ext>
            </a:extLst>
          </p:cNvPr>
          <p:cNvSpPr>
            <a:spLocks noGrp="1"/>
          </p:cNvSpPr>
          <p:nvPr>
            <p:ph type="sldNum" sz="quarter" idx="5"/>
          </p:nvPr>
        </p:nvSpPr>
        <p:spPr/>
        <p:txBody>
          <a:bodyPr/>
          <a:lstStyle/>
          <a:p>
            <a:fld id="{FDD2A79F-59E5-49B9-A316-22BCC94F9756}" type="slidenum">
              <a:rPr lang="en-AU" smtClean="0"/>
              <a:t>9</a:t>
            </a:fld>
            <a:endParaRPr lang="en-AU"/>
          </a:p>
        </p:txBody>
      </p:sp>
    </p:spTree>
    <p:extLst>
      <p:ext uri="{BB962C8B-B14F-4D97-AF65-F5344CB8AC3E}">
        <p14:creationId xmlns:p14="http://schemas.microsoft.com/office/powerpoint/2010/main" val="15500839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66F4E-B3EC-4221-6BD1-D68E0EC441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11A2F-DC36-6381-D914-9716D16D58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441926-C296-579F-CFB1-7BDAB9080290}"/>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30ADF5F7-022C-DCBD-EDCE-A3D103678AE4}"/>
              </a:ext>
            </a:extLst>
          </p:cNvPr>
          <p:cNvSpPr>
            <a:spLocks noGrp="1"/>
          </p:cNvSpPr>
          <p:nvPr>
            <p:ph type="sldNum" sz="quarter" idx="5"/>
          </p:nvPr>
        </p:nvSpPr>
        <p:spPr/>
        <p:txBody>
          <a:bodyPr/>
          <a:lstStyle/>
          <a:p>
            <a:fld id="{FDD2A79F-59E5-49B9-A316-22BCC94F9756}" type="slidenum">
              <a:rPr lang="en-AU" smtClean="0"/>
              <a:t>10</a:t>
            </a:fld>
            <a:endParaRPr lang="en-AU"/>
          </a:p>
        </p:txBody>
      </p:sp>
    </p:spTree>
    <p:extLst>
      <p:ext uri="{BB962C8B-B14F-4D97-AF65-F5344CB8AC3E}">
        <p14:creationId xmlns:p14="http://schemas.microsoft.com/office/powerpoint/2010/main" val="13773219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E71B3-162F-E79F-BDAF-A48016CFB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B664C5-89E6-E7E6-D01E-95B62448E1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CA083-6CFD-D3AE-1FE9-5934CB31E454}"/>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0FA69E79-4A70-58DA-5F79-8D0FB5603BFC}"/>
              </a:ext>
            </a:extLst>
          </p:cNvPr>
          <p:cNvSpPr>
            <a:spLocks noGrp="1"/>
          </p:cNvSpPr>
          <p:nvPr>
            <p:ph type="sldNum" sz="quarter" idx="5"/>
          </p:nvPr>
        </p:nvSpPr>
        <p:spPr/>
        <p:txBody>
          <a:bodyPr/>
          <a:lstStyle/>
          <a:p>
            <a:fld id="{FDD2A79F-59E5-49B9-A316-22BCC94F9756}" type="slidenum">
              <a:rPr lang="en-AU" smtClean="0"/>
              <a:t>11</a:t>
            </a:fld>
            <a:endParaRPr lang="en-AU"/>
          </a:p>
        </p:txBody>
      </p:sp>
    </p:spTree>
    <p:extLst>
      <p:ext uri="{BB962C8B-B14F-4D97-AF65-F5344CB8AC3E}">
        <p14:creationId xmlns:p14="http://schemas.microsoft.com/office/powerpoint/2010/main" val="32112399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0F75-94A3-D60F-84CA-9C0A201B6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3D315E-17E4-EEA0-CB7B-27CBA6E949A6}"/>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CB07E70-7222-DEC4-7C58-83707DDBD067}"/>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Bayes,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hậu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kiện</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a:t>
                </a:r>
              </a:p>
              <a:p>
                <a:pPr/>
                <a14:m>
                  <m:oMathPara xmlns:m="http://schemas.openxmlformats.org/officeDocument/2006/math">
                    <m:oMathParaPr>
                      <m:jc m:val="centerGroup"/>
                    </m:oMathParaPr>
                    <m:oMath xmlns:m="http://schemas.openxmlformats.org/officeDocument/2006/math">
                      <m:r>
                        <a:rPr lang="en-US" sz="1200" i="1" kern="1200">
                          <a:solidFill>
                            <a:schemeClr val="tx1"/>
                          </a:solidFill>
                          <a:effectLst/>
                          <a:latin typeface="Cambria Math" panose="02040503050406030204" pitchFamily="18" charset="0"/>
                          <a:ea typeface="+mn-ea"/>
                          <a:cs typeface="+mn-cs"/>
                        </a:rPr>
                        <m:t>𝑃</m:t>
                      </m:r>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𝐶</m:t>
                      </m:r>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𝑋</m:t>
                      </m:r>
                      <m:r>
                        <a:rPr lang="en-US" sz="1200" i="1" kern="1200">
                          <a:solidFill>
                            <a:schemeClr val="tx1"/>
                          </a:solidFill>
                          <a:effectLst/>
                          <a:latin typeface="Cambria Math" panose="02040503050406030204" pitchFamily="18" charset="0"/>
                          <a:ea typeface="+mn-ea"/>
                          <a:cs typeface="+mn-cs"/>
                        </a:rPr>
                        <m:t>)</m:t>
                      </m:r>
                      <m:r>
                        <a:rPr lang="en-US" sz="1200" kern="1200">
                          <a:solidFill>
                            <a:schemeClr val="tx1"/>
                          </a:solidFill>
                          <a:effectLst/>
                          <a:latin typeface="Cambria Math" panose="02040503050406030204" pitchFamily="18" charset="0"/>
                          <a:ea typeface="+mn-ea"/>
                          <a:cs typeface="+mn-cs"/>
                        </a:rPr>
                        <m:t>=</m:t>
                      </m:r>
                      <m:f>
                        <m:fPr>
                          <m:ctrlPr>
                            <a:rPr lang="en-US" sz="1200" i="1" kern="1200">
                              <a:solidFill>
                                <a:schemeClr val="tx1"/>
                              </a:solidFill>
                              <a:effectLst/>
                              <a:latin typeface="Cambria Math" panose="02040503050406030204" pitchFamily="18" charset="0"/>
                              <a:ea typeface="+mn-ea"/>
                              <a:cs typeface="+mn-cs"/>
                            </a:rPr>
                          </m:ctrlPr>
                        </m:fPr>
                        <m:num>
                          <m:r>
                            <a:rPr lang="en-US" sz="1200" i="1" kern="1200">
                              <a:solidFill>
                                <a:schemeClr val="tx1"/>
                              </a:solidFill>
                              <a:effectLst/>
                              <a:latin typeface="Cambria Math" panose="02040503050406030204" pitchFamily="18" charset="0"/>
                              <a:ea typeface="+mn-ea"/>
                              <a:cs typeface="+mn-cs"/>
                            </a:rPr>
                            <m:t>𝑃</m:t>
                          </m:r>
                          <m:d>
                            <m:dPr>
                              <m:ctrlPr>
                                <a:rPr lang="en-US" sz="1200" i="1" kern="1200">
                                  <a:solidFill>
                                    <a:schemeClr val="tx1"/>
                                  </a:solidFill>
                                  <a:effectLst/>
                                  <a:latin typeface="Cambria Math" panose="02040503050406030204" pitchFamily="18" charset="0"/>
                                  <a:ea typeface="+mn-ea"/>
                                  <a:cs typeface="+mn-cs"/>
                                </a:rPr>
                              </m:ctrlPr>
                            </m:dPr>
                            <m:e>
                              <m:r>
                                <a:rPr lang="en-US" sz="1200" i="1" kern="1200">
                                  <a:solidFill>
                                    <a:schemeClr val="tx1"/>
                                  </a:solidFill>
                                  <a:effectLst/>
                                  <a:latin typeface="Cambria Math" panose="02040503050406030204" pitchFamily="18" charset="0"/>
                                  <a:ea typeface="+mn-ea"/>
                                  <a:cs typeface="+mn-cs"/>
                                </a:rPr>
                                <m:t>𝑋</m:t>
                              </m:r>
                            </m:e>
                            <m:e>
                              <m:r>
                                <a:rPr lang="en-US" sz="1200" i="1" kern="1200">
                                  <a:solidFill>
                                    <a:schemeClr val="tx1"/>
                                  </a:solidFill>
                                  <a:effectLst/>
                                  <a:latin typeface="Cambria Math" panose="02040503050406030204" pitchFamily="18" charset="0"/>
                                  <a:ea typeface="+mn-ea"/>
                                  <a:cs typeface="+mn-cs"/>
                                </a:rPr>
                                <m:t>𝐶</m:t>
                              </m:r>
                            </m:e>
                          </m:d>
                          <m:r>
                            <a:rPr lang="en-US" sz="1200" i="1" kern="1200">
                              <a:solidFill>
                                <a:schemeClr val="tx1"/>
                              </a:solidFill>
                              <a:effectLst/>
                              <a:latin typeface="Cambria Math" panose="02040503050406030204" pitchFamily="18" charset="0"/>
                              <a:ea typeface="+mn-ea"/>
                              <a:cs typeface="+mn-cs"/>
                            </a:rPr>
                            <m:t> . </m:t>
                          </m:r>
                          <m:r>
                            <a:rPr lang="en-US" sz="1200" i="1" kern="1200">
                              <a:solidFill>
                                <a:schemeClr val="tx1"/>
                              </a:solidFill>
                              <a:effectLst/>
                              <a:latin typeface="Cambria Math" panose="02040503050406030204" pitchFamily="18" charset="0"/>
                              <a:ea typeface="+mn-ea"/>
                              <a:cs typeface="+mn-cs"/>
                            </a:rPr>
                            <m:t>𝑃</m:t>
                          </m:r>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𝐶</m:t>
                          </m:r>
                          <m:r>
                            <a:rPr lang="en-US" sz="1200" i="1" kern="1200">
                              <a:solidFill>
                                <a:schemeClr val="tx1"/>
                              </a:solidFill>
                              <a:effectLst/>
                              <a:latin typeface="Cambria Math" panose="02040503050406030204" pitchFamily="18" charset="0"/>
                              <a:ea typeface="+mn-ea"/>
                              <a:cs typeface="+mn-cs"/>
                            </a:rPr>
                            <m:t>)</m:t>
                          </m:r>
                        </m:num>
                        <m:den>
                          <m:r>
                            <m:rPr>
                              <m:sty m:val="p"/>
                            </m:rPr>
                            <a:rPr lang="en-US" sz="1200" kern="1200">
                              <a:solidFill>
                                <a:schemeClr val="tx1"/>
                              </a:solidFill>
                              <a:effectLst/>
                              <a:latin typeface="Cambria Math" panose="02040503050406030204" pitchFamily="18" charset="0"/>
                              <a:ea typeface="+mn-ea"/>
                              <a:cs typeface="+mn-cs"/>
                            </a:rPr>
                            <m:t>P</m:t>
                          </m:r>
                          <m:r>
                            <a:rPr lang="en-US" sz="1200" kern="1200">
                              <a:solidFill>
                                <a:schemeClr val="tx1"/>
                              </a:solidFill>
                              <a:effectLst/>
                              <a:latin typeface="Cambria Math" panose="02040503050406030204" pitchFamily="18" charset="0"/>
                              <a:ea typeface="+mn-ea"/>
                              <a:cs typeface="+mn-cs"/>
                            </a:rPr>
                            <m:t>(</m:t>
                          </m:r>
                          <m:r>
                            <m:rPr>
                              <m:sty m:val="p"/>
                            </m:rPr>
                            <a:rPr lang="en-US" sz="1200" kern="1200">
                              <a:solidFill>
                                <a:schemeClr val="tx1"/>
                              </a:solidFill>
                              <a:effectLst/>
                              <a:latin typeface="Cambria Math" panose="02040503050406030204" pitchFamily="18" charset="0"/>
                              <a:ea typeface="+mn-ea"/>
                              <a:cs typeface="+mn-cs"/>
                            </a:rPr>
                            <m:t>X</m:t>
                          </m:r>
                          <m:r>
                            <a:rPr lang="en-US" sz="1200" kern="1200">
                              <a:solidFill>
                                <a:schemeClr val="tx1"/>
                              </a:solidFill>
                              <a:effectLst/>
                              <a:latin typeface="Cambria Math" panose="02040503050406030204" pitchFamily="18" charset="0"/>
                              <a:ea typeface="+mn-ea"/>
                              <a:cs typeface="+mn-cs"/>
                            </a:rPr>
                            <m:t>)</m:t>
                          </m:r>
                        </m:den>
                      </m:f>
                    </m:oMath>
                  </m:oMathPara>
                </a14:m>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Trong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chuỗi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xảy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Giả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định</a:t>
                </a:r>
                <a:r>
                  <a:rPr lang="en-US" sz="1200" b="1" kern="1200" dirty="0">
                    <a:solidFill>
                      <a:schemeClr val="tx1"/>
                    </a:solidFill>
                    <a:effectLst/>
                    <a:latin typeface="+mn-lt"/>
                    <a:ea typeface="+mn-ea"/>
                    <a:cs typeface="+mn-cs"/>
                  </a:rPr>
                  <a:t> “Naïve” – </a:t>
                </a:r>
                <a:r>
                  <a:rPr lang="en-US" sz="1200" b="1" kern="1200" dirty="0" err="1">
                    <a:solidFill>
                      <a:schemeClr val="tx1"/>
                    </a:solidFill>
                    <a:effectLst/>
                    <a:latin typeface="+mn-lt"/>
                    <a:ea typeface="+mn-ea"/>
                    <a:cs typeface="+mn-cs"/>
                  </a:rPr>
                  <a:t>Độc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có</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điều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kiện</a:t>
                </a:r>
                <a:endParaRPr lang="en-US" sz="1200" b="1"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Naive Bayes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hóa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i="1" kern="1200" baseline="-25000" dirty="0">
                    <a:solidFill>
                      <a:schemeClr val="tx1"/>
                    </a:solidFill>
                    <a:effectLst/>
                    <a:latin typeface="+mn-lt"/>
                    <a:ea typeface="+mn-ea"/>
                    <a:cs typeface="+mn-cs"/>
                  </a:rPr>
                  <a:t>1</a:t>
                </a:r>
                <a:r>
                  <a:rPr lang="en-US" sz="1200" i="1" kern="1200" dirty="0">
                    <a:solidFill>
                      <a:schemeClr val="tx1"/>
                    </a:solidFill>
                    <a:effectLst/>
                    <a:latin typeface="+mn-lt"/>
                    <a:ea typeface="+mn-ea"/>
                    <a:cs typeface="+mn-cs"/>
                  </a:rPr>
                  <a:t>, x</a:t>
                </a:r>
                <a:r>
                  <a:rPr lang="en-US" sz="1200" i="1" kern="1200" baseline="-25000" dirty="0">
                    <a:solidFill>
                      <a:schemeClr val="tx1"/>
                    </a:solidFill>
                    <a:effectLst/>
                    <a:latin typeface="+mn-lt"/>
                    <a:ea typeface="+mn-ea"/>
                    <a:cs typeface="+mn-cs"/>
                  </a:rPr>
                  <a:t>2</a:t>
                </a:r>
                <a:r>
                  <a:rPr lang="en-US" sz="1200" i="1" kern="1200" dirty="0">
                    <a:solidFill>
                      <a:schemeClr val="tx1"/>
                    </a:solidFill>
                    <a:effectLst/>
                    <a:latin typeface="+mn-lt"/>
                    <a:ea typeface="+mn-ea"/>
                    <a:cs typeface="+mn-cs"/>
                  </a:rPr>
                  <a:t>,…</a:t>
                </a:r>
                <a:r>
                  <a:rPr lang="en-US" sz="1200" i="1" kern="1200" dirty="0" err="1">
                    <a:solidFill>
                      <a:schemeClr val="tx1"/>
                    </a:solidFill>
                    <a:effectLst/>
                    <a:latin typeface="+mn-lt"/>
                    <a:ea typeface="+mn-ea"/>
                    <a:cs typeface="+mn-cs"/>
                  </a:rPr>
                  <a:t>x</a:t>
                </a:r>
                <a:r>
                  <a:rPr lang="en-US" sz="1200" i="1" kern="1200" baseline="-25000" dirty="0" err="1">
                    <a:solidFill>
                      <a:schemeClr val="tx1"/>
                    </a:solidFill>
                    <a:effectLst/>
                    <a:latin typeface="+mn-lt"/>
                    <a:ea typeface="+mn-ea"/>
                    <a:cs typeface="+mn-cs"/>
                  </a:rPr>
                  <a:t>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pPr/>
                <a14:m>
                  <m:oMathPara xmlns:m="http://schemas.openxmlformats.org/officeDocument/2006/math">
                    <m:oMathParaPr>
                      <m:jc m:val="centerGroup"/>
                    </m:oMathParaPr>
                    <m:oMath xmlns:m="http://schemas.openxmlformats.org/officeDocument/2006/math">
                      <m:r>
                        <a:rPr lang="en-US" sz="1200" i="1" kern="1200">
                          <a:solidFill>
                            <a:schemeClr val="tx1"/>
                          </a:solidFill>
                          <a:effectLst/>
                          <a:latin typeface="Cambria Math" panose="02040503050406030204" pitchFamily="18" charset="0"/>
                          <a:ea typeface="+mn-ea"/>
                          <a:cs typeface="+mn-cs"/>
                        </a:rPr>
                        <m:t>𝑃</m:t>
                      </m:r>
                      <m:d>
                        <m:dPr>
                          <m:ctrlPr>
                            <a:rPr lang="en-US" sz="1200" i="1" kern="1200">
                              <a:solidFill>
                                <a:schemeClr val="tx1"/>
                              </a:solidFill>
                              <a:effectLst/>
                              <a:latin typeface="Cambria Math" panose="02040503050406030204" pitchFamily="18" charset="0"/>
                              <a:ea typeface="+mn-ea"/>
                              <a:cs typeface="+mn-cs"/>
                            </a:rPr>
                          </m:ctrlPr>
                        </m:dPr>
                        <m:e>
                          <m:r>
                            <a:rPr lang="en-US" sz="1200" i="1" kern="1200">
                              <a:solidFill>
                                <a:schemeClr val="tx1"/>
                              </a:solidFill>
                              <a:effectLst/>
                              <a:latin typeface="Cambria Math" panose="02040503050406030204" pitchFamily="18" charset="0"/>
                              <a:ea typeface="+mn-ea"/>
                              <a:cs typeface="+mn-cs"/>
                            </a:rPr>
                            <m:t>𝑋</m:t>
                          </m:r>
                        </m:e>
                        <m:e>
                          <m:r>
                            <a:rPr lang="en-US" sz="1200" i="1" kern="1200">
                              <a:solidFill>
                                <a:schemeClr val="tx1"/>
                              </a:solidFill>
                              <a:effectLst/>
                              <a:latin typeface="Cambria Math" panose="02040503050406030204" pitchFamily="18" charset="0"/>
                              <a:ea typeface="+mn-ea"/>
                              <a:cs typeface="+mn-cs"/>
                            </a:rPr>
                            <m:t>𝐶</m:t>
                          </m:r>
                        </m:e>
                      </m:d>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𝑃</m:t>
                      </m:r>
                      <m:d>
                        <m:dPr>
                          <m:ctrlPr>
                            <a:rPr lang="en-US" sz="1200" i="1" kern="1200">
                              <a:solidFill>
                                <a:schemeClr val="tx1"/>
                              </a:solidFill>
                              <a:effectLst/>
                              <a:latin typeface="Cambria Math" panose="02040503050406030204" pitchFamily="18" charset="0"/>
                              <a:ea typeface="+mn-ea"/>
                              <a:cs typeface="+mn-cs"/>
                            </a:rPr>
                          </m:ctrlPr>
                        </m:dPr>
                        <m:e>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𝑥</m:t>
                              </m:r>
                            </m:e>
                            <m:sub>
                              <m:r>
                                <a:rPr lang="en-US" sz="1200" i="1" kern="1200">
                                  <a:solidFill>
                                    <a:schemeClr val="tx1"/>
                                  </a:solidFill>
                                  <a:effectLst/>
                                  <a:latin typeface="Cambria Math" panose="02040503050406030204" pitchFamily="18" charset="0"/>
                                  <a:ea typeface="+mn-ea"/>
                                  <a:cs typeface="+mn-cs"/>
                                </a:rPr>
                                <m:t>1</m:t>
                              </m:r>
                            </m:sub>
                          </m:sSub>
                          <m:r>
                            <a:rPr lang="en-US" sz="1200" i="1" kern="1200">
                              <a:solidFill>
                                <a:schemeClr val="tx1"/>
                              </a:solidFill>
                              <a:effectLst/>
                              <a:latin typeface="Cambria Math" panose="02040503050406030204" pitchFamily="18" charset="0"/>
                              <a:ea typeface="+mn-ea"/>
                              <a:cs typeface="+mn-cs"/>
                            </a:rPr>
                            <m:t>,</m:t>
                          </m:r>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𝑥</m:t>
                              </m:r>
                            </m:e>
                            <m:sub>
                              <m:r>
                                <a:rPr lang="en-US" sz="1200" i="1" kern="1200">
                                  <a:solidFill>
                                    <a:schemeClr val="tx1"/>
                                  </a:solidFill>
                                  <a:effectLst/>
                                  <a:latin typeface="Cambria Math" panose="02040503050406030204" pitchFamily="18" charset="0"/>
                                  <a:ea typeface="+mn-ea"/>
                                  <a:cs typeface="+mn-cs"/>
                                </a:rPr>
                                <m:t>2</m:t>
                              </m:r>
                            </m:sub>
                          </m:sSub>
                          <m:r>
                            <a:rPr lang="en-US" sz="1200" i="1" kern="1200">
                              <a:solidFill>
                                <a:schemeClr val="tx1"/>
                              </a:solidFill>
                              <a:effectLst/>
                              <a:latin typeface="Cambria Math" panose="02040503050406030204" pitchFamily="18" charset="0"/>
                              <a:ea typeface="+mn-ea"/>
                              <a:cs typeface="+mn-cs"/>
                            </a:rPr>
                            <m:t>,…,</m:t>
                          </m:r>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𝑥</m:t>
                              </m:r>
                            </m:e>
                            <m:sub>
                              <m:r>
                                <a:rPr lang="en-US" sz="1200" i="1" kern="1200">
                                  <a:solidFill>
                                    <a:schemeClr val="tx1"/>
                                  </a:solidFill>
                                  <a:effectLst/>
                                  <a:latin typeface="Cambria Math" panose="02040503050406030204" pitchFamily="18" charset="0"/>
                                  <a:ea typeface="+mn-ea"/>
                                  <a:cs typeface="+mn-cs"/>
                                </a:rPr>
                                <m:t>𝑛</m:t>
                              </m:r>
                            </m:sub>
                          </m:sSub>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𝐶</m:t>
                          </m:r>
                        </m:e>
                      </m:d>
                      <m:r>
                        <a:rPr lang="en-US" sz="1200" i="1" kern="1200">
                          <a:solidFill>
                            <a:schemeClr val="tx1"/>
                          </a:solidFill>
                          <a:effectLst/>
                          <a:latin typeface="Cambria Math" panose="02040503050406030204" pitchFamily="18" charset="0"/>
                          <a:ea typeface="+mn-ea"/>
                          <a:cs typeface="+mn-cs"/>
                        </a:rPr>
                        <m:t>=</m:t>
                      </m:r>
                      <m:nary>
                        <m:naryPr>
                          <m:chr m:val="∏"/>
                          <m:limLoc m:val="undOvr"/>
                          <m:ctrlPr>
                            <a:rPr lang="en-US" sz="1200" i="1" kern="1200">
                              <a:solidFill>
                                <a:schemeClr val="tx1"/>
                              </a:solidFill>
                              <a:effectLst/>
                              <a:latin typeface="Cambria Math" panose="02040503050406030204" pitchFamily="18" charset="0"/>
                              <a:ea typeface="+mn-ea"/>
                              <a:cs typeface="+mn-cs"/>
                            </a:rPr>
                          </m:ctrlPr>
                        </m:naryPr>
                        <m:sub>
                          <m:r>
                            <a:rPr lang="en-US" sz="1200" i="1" kern="1200">
                              <a:solidFill>
                                <a:schemeClr val="tx1"/>
                              </a:solidFill>
                              <a:effectLst/>
                              <a:latin typeface="Cambria Math" panose="02040503050406030204" pitchFamily="18" charset="0"/>
                              <a:ea typeface="+mn-ea"/>
                              <a:cs typeface="+mn-cs"/>
                            </a:rPr>
                            <m:t>𝑖</m:t>
                          </m:r>
                          <m:r>
                            <a:rPr lang="en-US" sz="1200" i="1" kern="1200">
                              <a:solidFill>
                                <a:schemeClr val="tx1"/>
                              </a:solidFill>
                              <a:effectLst/>
                              <a:latin typeface="Cambria Math" panose="02040503050406030204" pitchFamily="18" charset="0"/>
                              <a:ea typeface="+mn-ea"/>
                              <a:cs typeface="+mn-cs"/>
                            </a:rPr>
                            <m:t>=1</m:t>
                          </m:r>
                        </m:sub>
                        <m:sup>
                          <m:r>
                            <a:rPr lang="en-US" sz="1200" i="1" kern="1200">
                              <a:solidFill>
                                <a:schemeClr val="tx1"/>
                              </a:solidFill>
                              <a:effectLst/>
                              <a:latin typeface="Cambria Math" panose="02040503050406030204" pitchFamily="18" charset="0"/>
                              <a:ea typeface="+mn-ea"/>
                              <a:cs typeface="+mn-cs"/>
                            </a:rPr>
                            <m:t>𝑛</m:t>
                          </m:r>
                        </m:sup>
                        <m:e>
                          <m:r>
                            <a:rPr lang="en-US" sz="1200" i="1" kern="1200">
                              <a:solidFill>
                                <a:schemeClr val="tx1"/>
                              </a:solidFill>
                              <a:effectLst/>
                              <a:latin typeface="Cambria Math" panose="02040503050406030204" pitchFamily="18" charset="0"/>
                              <a:ea typeface="+mn-ea"/>
                              <a:cs typeface="+mn-cs"/>
                            </a:rPr>
                            <m:t>𝑃</m:t>
                          </m:r>
                          <m:r>
                            <a:rPr lang="en-US" sz="1200" i="1" kern="1200">
                              <a:solidFill>
                                <a:schemeClr val="tx1"/>
                              </a:solidFill>
                              <a:effectLst/>
                              <a:latin typeface="Cambria Math" panose="02040503050406030204" pitchFamily="18" charset="0"/>
                              <a:ea typeface="+mn-ea"/>
                              <a:cs typeface="+mn-cs"/>
                            </a:rPr>
                            <m:t>(</m:t>
                          </m:r>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𝑥</m:t>
                              </m:r>
                            </m:e>
                            <m:sub>
                              <m:r>
                                <a:rPr lang="en-US" sz="1200" i="1" kern="1200">
                                  <a:solidFill>
                                    <a:schemeClr val="tx1"/>
                                  </a:solidFill>
                                  <a:effectLst/>
                                  <a:latin typeface="Cambria Math" panose="02040503050406030204" pitchFamily="18" charset="0"/>
                                  <a:ea typeface="+mn-ea"/>
                                  <a:cs typeface="+mn-cs"/>
                                </a:rPr>
                                <m:t>𝑖</m:t>
                              </m:r>
                            </m:sub>
                          </m:sSub>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𝐶</m:t>
                          </m:r>
                          <m:r>
                            <a:rPr lang="en-US" sz="1200" i="1" kern="1200">
                              <a:solidFill>
                                <a:schemeClr val="tx1"/>
                              </a:solidFill>
                              <a:effectLst/>
                              <a:latin typeface="Cambria Math" panose="02040503050406030204" pitchFamily="18" charset="0"/>
                              <a:ea typeface="+mn-ea"/>
                              <a:cs typeface="+mn-cs"/>
                            </a:rPr>
                            <m:t>)</m:t>
                          </m:r>
                        </m:e>
                      </m:nary>
                    </m:oMath>
                  </m:oMathPara>
                </a14:m>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xem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Khi </a:t>
                </a:r>
                <a:r>
                  <a:rPr lang="en-US" sz="1200" kern="1200" dirty="0" err="1">
                    <a:solidFill>
                      <a:schemeClr val="tx1"/>
                    </a:solidFill>
                    <a:effectLst/>
                    <a:latin typeface="+mn-lt"/>
                    <a:ea typeface="+mn-ea"/>
                    <a:cs typeface="+mn-cs"/>
                  </a:rPr>
                  <a:t>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n-gram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vector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a:t>
                </a:r>
                <a:endParaRPr lang="en-US" dirty="0"/>
              </a:p>
            </p:txBody>
          </p:sp>
        </mc:Choice>
        <mc:Fallback xmlns="">
          <p:sp>
            <p:nvSpPr>
              <p:cNvPr id="3" name="Notes Placeholder 2">
                <a:extLst>
                  <a:ext uri="{FF2B5EF4-FFF2-40B4-BE49-F238E27FC236}">
                    <a16:creationId xmlns:a16="http://schemas.microsoft.com/office/drawing/2014/main" id="{8CB07E70-7222-DEC4-7C58-83707DDBD067}"/>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Bayes,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hậu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kiện</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a:t>
                </a:r>
              </a:p>
              <a:p>
                <a:r>
                  <a:rPr lang="en-US" sz="1200" i="0" kern="1200">
                    <a:solidFill>
                      <a:schemeClr val="tx1"/>
                    </a:solidFill>
                    <a:effectLst/>
                    <a:latin typeface="+mn-lt"/>
                    <a:ea typeface="+mn-ea"/>
                    <a:cs typeface="+mn-cs"/>
                  </a:rPr>
                  <a:t>𝑃(𝐶|𝑋)=(𝑃(𝑋│𝐶)  . 𝑃(𝐶))/(P(X))</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Trong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chuỗi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xảy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Giả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định</a:t>
                </a:r>
                <a:r>
                  <a:rPr lang="en-US" sz="1200" b="1" kern="1200" dirty="0">
                    <a:solidFill>
                      <a:schemeClr val="tx1"/>
                    </a:solidFill>
                    <a:effectLst/>
                    <a:latin typeface="+mn-lt"/>
                    <a:ea typeface="+mn-ea"/>
                    <a:cs typeface="+mn-cs"/>
                  </a:rPr>
                  <a:t> “Naïve” – </a:t>
                </a:r>
                <a:r>
                  <a:rPr lang="en-US" sz="1200" b="1" kern="1200" dirty="0" err="1">
                    <a:solidFill>
                      <a:schemeClr val="tx1"/>
                    </a:solidFill>
                    <a:effectLst/>
                    <a:latin typeface="+mn-lt"/>
                    <a:ea typeface="+mn-ea"/>
                    <a:cs typeface="+mn-cs"/>
                  </a:rPr>
                  <a:t>Độc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có</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điều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kiện</a:t>
                </a:r>
                <a:endParaRPr lang="en-US" sz="1200" b="1"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Naive Bayes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hóa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i="1" kern="1200" baseline="-25000" dirty="0">
                    <a:solidFill>
                      <a:schemeClr val="tx1"/>
                    </a:solidFill>
                    <a:effectLst/>
                    <a:latin typeface="+mn-lt"/>
                    <a:ea typeface="+mn-ea"/>
                    <a:cs typeface="+mn-cs"/>
                  </a:rPr>
                  <a:t>1</a:t>
                </a:r>
                <a:r>
                  <a:rPr lang="en-US" sz="1200" i="1" kern="1200" dirty="0">
                    <a:solidFill>
                      <a:schemeClr val="tx1"/>
                    </a:solidFill>
                    <a:effectLst/>
                    <a:latin typeface="+mn-lt"/>
                    <a:ea typeface="+mn-ea"/>
                    <a:cs typeface="+mn-cs"/>
                  </a:rPr>
                  <a:t>, x</a:t>
                </a:r>
                <a:r>
                  <a:rPr lang="en-US" sz="1200" i="1" kern="1200" baseline="-25000" dirty="0">
                    <a:solidFill>
                      <a:schemeClr val="tx1"/>
                    </a:solidFill>
                    <a:effectLst/>
                    <a:latin typeface="+mn-lt"/>
                    <a:ea typeface="+mn-ea"/>
                    <a:cs typeface="+mn-cs"/>
                  </a:rPr>
                  <a:t>2</a:t>
                </a:r>
                <a:r>
                  <a:rPr lang="en-US" sz="1200" i="1" kern="1200" dirty="0">
                    <a:solidFill>
                      <a:schemeClr val="tx1"/>
                    </a:solidFill>
                    <a:effectLst/>
                    <a:latin typeface="+mn-lt"/>
                    <a:ea typeface="+mn-ea"/>
                    <a:cs typeface="+mn-cs"/>
                  </a:rPr>
                  <a:t>,…</a:t>
                </a:r>
                <a:r>
                  <a:rPr lang="en-US" sz="1200" i="1" kern="1200" dirty="0" err="1">
                    <a:solidFill>
                      <a:schemeClr val="tx1"/>
                    </a:solidFill>
                    <a:effectLst/>
                    <a:latin typeface="+mn-lt"/>
                    <a:ea typeface="+mn-ea"/>
                    <a:cs typeface="+mn-cs"/>
                  </a:rPr>
                  <a:t>x</a:t>
                </a:r>
                <a:r>
                  <a:rPr lang="en-US" sz="1200" i="1" kern="1200" baseline="-25000" dirty="0" err="1">
                    <a:solidFill>
                      <a:schemeClr val="tx1"/>
                    </a:solidFill>
                    <a:effectLst/>
                    <a:latin typeface="+mn-lt"/>
                    <a:ea typeface="+mn-ea"/>
                    <a:cs typeface="+mn-cs"/>
                  </a:rPr>
                  <a:t>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i="0" kern="1200">
                    <a:solidFill>
                      <a:schemeClr val="tx1"/>
                    </a:solidFill>
                    <a:effectLst/>
                    <a:latin typeface="+mn-lt"/>
                    <a:ea typeface="+mn-ea"/>
                    <a:cs typeface="+mn-cs"/>
                  </a:rPr>
                  <a:t>𝑃(𝑋│𝐶)=𝑃(𝑥_1,𝑥_2,…,𝑥_𝑛 |𝐶)=∏1_(𝑖=1)^𝑛▒〖𝑃(𝑥_𝑖 |𝐶)〗</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xem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Khi </a:t>
                </a:r>
                <a:r>
                  <a:rPr lang="en-US" sz="1200" kern="1200" dirty="0" err="1">
                    <a:solidFill>
                      <a:schemeClr val="tx1"/>
                    </a:solidFill>
                    <a:effectLst/>
                    <a:latin typeface="+mn-lt"/>
                    <a:ea typeface="+mn-ea"/>
                    <a:cs typeface="+mn-cs"/>
                  </a:rPr>
                  <a:t>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n-gram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vector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a:t>
                </a:r>
                <a:endParaRPr lang="en-US" dirty="0"/>
              </a:p>
            </p:txBody>
          </p:sp>
        </mc:Fallback>
      </mc:AlternateContent>
      <p:sp>
        <p:nvSpPr>
          <p:cNvPr id="4" name="Slide Number Placeholder 3">
            <a:extLst>
              <a:ext uri="{FF2B5EF4-FFF2-40B4-BE49-F238E27FC236}">
                <a16:creationId xmlns:a16="http://schemas.microsoft.com/office/drawing/2014/main" id="{29FFD63D-0264-C042-EDC3-E08F1B1DAF1D}"/>
              </a:ext>
            </a:extLst>
          </p:cNvPr>
          <p:cNvSpPr>
            <a:spLocks noGrp="1"/>
          </p:cNvSpPr>
          <p:nvPr>
            <p:ph type="sldNum" sz="quarter" idx="5"/>
          </p:nvPr>
        </p:nvSpPr>
        <p:spPr/>
        <p:txBody>
          <a:bodyPr/>
          <a:lstStyle/>
          <a:p>
            <a:fld id="{FDD2A79F-59E5-49B9-A316-22BCC94F9756}" type="slidenum">
              <a:rPr lang="en-AU" smtClean="0"/>
              <a:t>12</a:t>
            </a:fld>
            <a:endParaRPr lang="en-AU"/>
          </a:p>
        </p:txBody>
      </p:sp>
    </p:spTree>
    <p:extLst>
      <p:ext uri="{BB962C8B-B14F-4D97-AF65-F5344CB8AC3E}">
        <p14:creationId xmlns:p14="http://schemas.microsoft.com/office/powerpoint/2010/main" val="20593958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03D28-8F01-CA0E-AB36-80180E2B45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8388B0-EAAB-FA24-1B9E-11A07721C6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E62A77-A68C-C133-521D-E8A2E8DA1EE9}"/>
              </a:ext>
            </a:extLst>
          </p:cNvPr>
          <p:cNvSpPr>
            <a:spLocks noGrp="1"/>
          </p:cNvSpPr>
          <p:nvPr>
            <p:ph type="body" idx="1"/>
          </p:nvPr>
        </p:nvSpPr>
        <p:spPr/>
        <p:txBody>
          <a:bodyPr/>
          <a:lstStyle/>
          <a:p>
            <a:r>
              <a:rPr lang="en-US" sz="1200" b="1" kern="1200" dirty="0" err="1">
                <a:solidFill>
                  <a:schemeClr val="tx1"/>
                </a:solidFill>
                <a:effectLst/>
                <a:latin typeface="+mn-lt"/>
                <a:ea typeface="+mn-ea"/>
                <a:cs typeface="+mn-cs"/>
              </a:rPr>
              <a:t>Ưu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r>
              <a:rPr lang="en-US" sz="1200" b="1"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Đơn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dễ</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triển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khai</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máy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thuyết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Tốc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độ</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nhanh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hồi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Ít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bị</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ảnh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hưởng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bởi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nhiễu</a:t>
            </a:r>
            <a:r>
              <a:rPr lang="en-US" sz="1200" b="1" kern="12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Do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những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nhiễu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ảnh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hưởng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nghiêm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Hoạt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động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tốt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với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nhỏ</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ngay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còn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Nhược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r>
              <a:rPr lang="en-US" sz="1200" b="1"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Giả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định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tế</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vi </a:t>
            </a:r>
            <a:r>
              <a:rPr lang="en-US" sz="1200" kern="1200" dirty="0" err="1">
                <a:solidFill>
                  <a:schemeClr val="tx1"/>
                </a:solidFill>
                <a:effectLst/>
                <a:latin typeface="+mn-lt"/>
                <a:ea typeface="+mn-ea"/>
                <a:cs typeface="+mn-cs"/>
              </a:rPr>
              <a:t>phạm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xét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thứ</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tự</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từ</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cảnh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Dễ</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bị</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sai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lệch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nếu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có</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từ</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chưa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từng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xuất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chưa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P(</a:t>
            </a:r>
            <a:r>
              <a:rPr lang="en-US" sz="1200" kern="1200" dirty="0" err="1">
                <a:solidFill>
                  <a:schemeClr val="tx1"/>
                </a:solidFill>
                <a:effectLst/>
                <a:latin typeface="+mn-lt"/>
                <a:ea typeface="+mn-ea"/>
                <a:cs typeface="+mn-cs"/>
              </a:rPr>
              <a:t>x</a:t>
            </a:r>
            <a:r>
              <a:rPr lang="en-US" sz="1200" kern="1200" baseline="-25000" dirty="0" err="1">
                <a:solidFill>
                  <a:schemeClr val="tx1"/>
                </a:solidFill>
                <a:effectLst/>
                <a:latin typeface="+mn-lt"/>
                <a:ea typeface="+mn-ea"/>
                <a:cs typeface="+mn-cs"/>
              </a:rPr>
              <a:t>i</a:t>
            </a:r>
            <a:r>
              <a:rPr lang="en-US" sz="1200" kern="1200" dirty="0" err="1">
                <a:solidFill>
                  <a:schemeClr val="tx1"/>
                </a:solidFill>
                <a:effectLst/>
                <a:latin typeface="+mn-lt"/>
                <a:ea typeface="+mn-ea"/>
                <a:cs typeface="+mn-cs"/>
              </a:rPr>
              <a:t>|C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0, </a:t>
            </a:r>
            <a:r>
              <a:rPr lang="en-US" sz="1200" kern="1200" dirty="0" err="1">
                <a:solidFill>
                  <a:schemeClr val="tx1"/>
                </a:solidFill>
                <a:effectLst/>
                <a:latin typeface="+mn-lt"/>
                <a:ea typeface="+mn-ea"/>
                <a:cs typeface="+mn-cs"/>
              </a:rPr>
              <a:t>khiến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0. Tuy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khắc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yếu</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Độ</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chính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thấp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hơn</a:t>
            </a:r>
            <a:r>
              <a:rPr lang="en-US" sz="1200" b="1" kern="1200" dirty="0">
                <a:solidFill>
                  <a:schemeClr val="tx1"/>
                </a:solidFill>
                <a:effectLst/>
                <a:latin typeface="+mn-lt"/>
                <a:ea typeface="+mn-ea"/>
                <a:cs typeface="+mn-cs"/>
              </a:rPr>
              <a:t> so </a:t>
            </a:r>
            <a:r>
              <a:rPr lang="en-US" sz="1200" b="1" kern="1200" dirty="0" err="1">
                <a:solidFill>
                  <a:schemeClr val="tx1"/>
                </a:solidFill>
                <a:effectLst/>
                <a:latin typeface="+mn-lt"/>
                <a:ea typeface="+mn-ea"/>
                <a:cs typeface="+mn-cs"/>
              </a:rPr>
              <a:t>với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mô</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hình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đại</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LSTM, Transformer (BERT, GPT),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máy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SVM,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những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a:t>
            </a:r>
            <a:endParaRPr lang="en-US" b="1" dirty="0"/>
          </a:p>
        </p:txBody>
      </p:sp>
      <p:sp>
        <p:nvSpPr>
          <p:cNvPr id="4" name="Slide Number Placeholder 3">
            <a:extLst>
              <a:ext uri="{FF2B5EF4-FFF2-40B4-BE49-F238E27FC236}">
                <a16:creationId xmlns:a16="http://schemas.microsoft.com/office/drawing/2014/main" id="{F1844F7A-998F-3884-1E38-6420B6C66C9D}"/>
              </a:ext>
            </a:extLst>
          </p:cNvPr>
          <p:cNvSpPr>
            <a:spLocks noGrp="1"/>
          </p:cNvSpPr>
          <p:nvPr>
            <p:ph type="sldNum" sz="quarter" idx="5"/>
          </p:nvPr>
        </p:nvSpPr>
        <p:spPr/>
        <p:txBody>
          <a:bodyPr/>
          <a:lstStyle/>
          <a:p>
            <a:fld id="{FDD2A79F-59E5-49B9-A316-22BCC94F9756}" type="slidenum">
              <a:rPr lang="en-AU" smtClean="0"/>
              <a:t>13</a:t>
            </a:fld>
            <a:endParaRPr lang="en-AU"/>
          </a:p>
        </p:txBody>
      </p:sp>
    </p:spTree>
    <p:extLst>
      <p:ext uri="{BB962C8B-B14F-4D97-AF65-F5344CB8AC3E}">
        <p14:creationId xmlns:p14="http://schemas.microsoft.com/office/powerpoint/2010/main" val="33628259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6E13A-6742-CE58-2402-1535E5F3D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7A84C0-5E08-6C1E-F0AD-5D853F7E39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424AFC-BBA5-4277-14BD-DCC0EBD7292D}"/>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(pre-trained language model) </a:t>
            </a:r>
            <a:r>
              <a:rPr lang="en-US" sz="1200" kern="1200" dirty="0" err="1">
                <a:solidFill>
                  <a:schemeClr val="tx1"/>
                </a:solidFill>
                <a:effectLst/>
                <a:latin typeface="+mn-lt"/>
                <a:ea typeface="+mn-ea"/>
                <a:cs typeface="+mn-cs"/>
              </a:rPr>
              <a:t>dành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riêng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BERT (Bidirectional Encoder Representations from Transformers)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Google. </a:t>
            </a:r>
            <a:r>
              <a:rPr lang="en-US" sz="1200" kern="1200" dirty="0" err="1">
                <a:solidFill>
                  <a:schemeClr val="tx1"/>
                </a:solidFill>
                <a:effectLst/>
                <a:latin typeface="+mn-lt"/>
                <a:ea typeface="+mn-ea"/>
                <a:cs typeface="+mn-cs"/>
              </a:rPr>
              <a:t>Đây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rệt</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Anh</a:t>
            </a:r>
            <a:endParaRPr lang="en-US" dirty="0"/>
          </a:p>
        </p:txBody>
      </p:sp>
      <p:sp>
        <p:nvSpPr>
          <p:cNvPr id="4" name="Slide Number Placeholder 3">
            <a:extLst>
              <a:ext uri="{FF2B5EF4-FFF2-40B4-BE49-F238E27FC236}">
                <a16:creationId xmlns:a16="http://schemas.microsoft.com/office/drawing/2014/main" id="{1342B3CF-1E04-C947-EE71-7085782B57EC}"/>
              </a:ext>
            </a:extLst>
          </p:cNvPr>
          <p:cNvSpPr>
            <a:spLocks noGrp="1"/>
          </p:cNvSpPr>
          <p:nvPr>
            <p:ph type="sldNum" sz="quarter" idx="5"/>
          </p:nvPr>
        </p:nvSpPr>
        <p:spPr/>
        <p:txBody>
          <a:bodyPr/>
          <a:lstStyle/>
          <a:p>
            <a:fld id="{FDD2A79F-59E5-49B9-A316-22BCC94F9756}" type="slidenum">
              <a:rPr lang="en-AU" smtClean="0"/>
              <a:t>14</a:t>
            </a:fld>
            <a:endParaRPr lang="en-AU"/>
          </a:p>
        </p:txBody>
      </p:sp>
    </p:spTree>
    <p:extLst>
      <p:ext uri="{BB962C8B-B14F-4D97-AF65-F5344CB8AC3E}">
        <p14:creationId xmlns:p14="http://schemas.microsoft.com/office/powerpoint/2010/main" val="31385736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637D2-9539-A928-31ED-20526FFC25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5B6B2E-AE63-CA11-34C1-D85BA5D48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46C72-2BEF-9CE3-84B6-7B3D8DD7A82F}"/>
              </a:ext>
            </a:extLst>
          </p:cNvPr>
          <p:cNvSpPr>
            <a:spLocks noGrp="1"/>
          </p:cNvSpPr>
          <p:nvPr>
            <p:ph type="body" idx="1"/>
          </p:nvPr>
        </p:nvSpPr>
        <p:spPr/>
        <p:txBody>
          <a:bodyPr/>
          <a:lstStyle/>
          <a:p>
            <a:pPr lvl="3"/>
            <a:r>
              <a:rPr lang="en-US" sz="1200" b="1" kern="1200" dirty="0" err="1">
                <a:solidFill>
                  <a:schemeClr val="tx1"/>
                </a:solidFill>
                <a:effectLst/>
                <a:latin typeface="+mn-lt"/>
                <a:ea typeface="+mn-ea"/>
                <a:cs typeface="+mn-cs"/>
              </a:rPr>
              <a:t>Ưu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endParaRPr lang="en-US" sz="1200" b="1"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Được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huấn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luyện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chuyên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biệt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tiếng</a:t>
            </a:r>
            <a:r>
              <a:rPr lang="en-US" sz="1200" b="1" kern="1200" dirty="0">
                <a:solidFill>
                  <a:schemeClr val="tx1"/>
                </a:solidFill>
                <a:effectLst/>
                <a:latin typeface="+mn-lt"/>
                <a:ea typeface="+mn-ea"/>
                <a:cs typeface="+mn-cs"/>
              </a:rPr>
              <a:t> Việt: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gồm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sắc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a:t>
            </a:r>
          </a:p>
          <a:p>
            <a:r>
              <a:rPr lang="en-US" sz="1200" b="1" kern="1200" dirty="0" err="1">
                <a:solidFill>
                  <a:schemeClr val="tx1"/>
                </a:solidFill>
                <a:effectLst/>
                <a:latin typeface="+mn-lt"/>
                <a:ea typeface="+mn-ea"/>
                <a:cs typeface="+mn-cs"/>
              </a:rPr>
              <a:t>Hiểu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cảnh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tốt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nhờ</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 Transformer:</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Transformer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chú</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phép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nắm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bắt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ngụ</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ẩn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a:t>
            </a:r>
          </a:p>
          <a:p>
            <a:r>
              <a:rPr lang="en-US" sz="1200" b="1" kern="1200" dirty="0" err="1">
                <a:solidFill>
                  <a:schemeClr val="tx1"/>
                </a:solidFill>
                <a:effectLst/>
                <a:latin typeface="+mn-lt"/>
                <a:ea typeface="+mn-ea"/>
                <a:cs typeface="+mn-cs"/>
              </a:rPr>
              <a:t>Khả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năng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biểu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diễn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ngôn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mạnh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mẽ</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Các vector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NLP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Dễ</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dàng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chỉnh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theo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bài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toán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cụ</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thể</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fine-tune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những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a:t>
            </a:r>
          </a:p>
          <a:p>
            <a:pPr lvl="3"/>
            <a:r>
              <a:rPr lang="en-US" sz="1200" b="1" kern="1200" dirty="0" err="1">
                <a:solidFill>
                  <a:schemeClr val="tx1"/>
                </a:solidFill>
                <a:effectLst/>
                <a:latin typeface="+mn-lt"/>
                <a:ea typeface="+mn-ea"/>
                <a:cs typeface="+mn-cs"/>
              </a:rPr>
              <a:t>Nhược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endParaRPr lang="en-US" sz="1200" b="1"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Yêu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cầu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tài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nguyên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tính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toán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lớn</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tham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GPU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nhớ</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chế</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Thời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gian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huấn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luyện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luận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chậm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hơn</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chậm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Cần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tiền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phù</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hợp</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tokenizer </a:t>
            </a:r>
            <a:r>
              <a:rPr lang="en-US" sz="1200" kern="1200" dirty="0" err="1">
                <a:solidFill>
                  <a:schemeClr val="tx1"/>
                </a:solidFill>
                <a:effectLst/>
                <a:latin typeface="+mn-lt"/>
                <a:ea typeface="+mn-ea"/>
                <a:cs typeface="+mn-cs"/>
              </a:rPr>
              <a:t>riêng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BPE.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lệch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a:t>
            </a:r>
          </a:p>
          <a:p>
            <a:r>
              <a:rPr lang="en-US" sz="1200" b="1" kern="1200" dirty="0">
                <a:solidFill>
                  <a:schemeClr val="tx1"/>
                </a:solidFill>
                <a:effectLst/>
                <a:latin typeface="+mn-lt"/>
                <a:ea typeface="+mn-ea"/>
                <a:cs typeface="+mn-cs"/>
              </a:rPr>
              <a:t>Hiệu </a:t>
            </a:r>
            <a:r>
              <a:rPr lang="en-US" sz="1200" b="1" kern="1200" dirty="0" err="1">
                <a:solidFill>
                  <a:schemeClr val="tx1"/>
                </a:solidFill>
                <a:effectLst/>
                <a:latin typeface="+mn-lt"/>
                <a:ea typeface="+mn-ea"/>
                <a:cs typeface="+mn-cs"/>
              </a:rPr>
              <a:t>suất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phụ</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thuộc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kỹ</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thuật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chỉnh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chọn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tham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hợp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lĩnh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a:t>
            </a:r>
            <a:endParaRPr lang="en-US" b="1" dirty="0"/>
          </a:p>
        </p:txBody>
      </p:sp>
      <p:sp>
        <p:nvSpPr>
          <p:cNvPr id="4" name="Slide Number Placeholder 3">
            <a:extLst>
              <a:ext uri="{FF2B5EF4-FFF2-40B4-BE49-F238E27FC236}">
                <a16:creationId xmlns:a16="http://schemas.microsoft.com/office/drawing/2014/main" id="{16FB5AC3-AA88-FF85-A40D-97F39DB11268}"/>
              </a:ext>
            </a:extLst>
          </p:cNvPr>
          <p:cNvSpPr>
            <a:spLocks noGrp="1"/>
          </p:cNvSpPr>
          <p:nvPr>
            <p:ph type="sldNum" sz="quarter" idx="5"/>
          </p:nvPr>
        </p:nvSpPr>
        <p:spPr/>
        <p:txBody>
          <a:bodyPr/>
          <a:lstStyle/>
          <a:p>
            <a:fld id="{FDD2A79F-59E5-49B9-A316-22BCC94F9756}" type="slidenum">
              <a:rPr lang="en-AU" smtClean="0"/>
              <a:t>15</a:t>
            </a:fld>
            <a:endParaRPr lang="en-AU"/>
          </a:p>
        </p:txBody>
      </p:sp>
    </p:spTree>
    <p:extLst>
      <p:ext uri="{BB962C8B-B14F-4D97-AF65-F5344CB8AC3E}">
        <p14:creationId xmlns:p14="http://schemas.microsoft.com/office/powerpoint/2010/main" val="26863454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6D88E-7C7A-6FBF-450E-B43C140B7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0C520-CEFC-0E5B-3FB0-A024015B5B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CFE0DC-3D4D-1FDA-A941-6EF147A51DD9}"/>
              </a:ext>
            </a:extLst>
          </p:cNvPr>
          <p:cNvSpPr>
            <a:spLocks noGrp="1"/>
          </p:cNvSpPr>
          <p:nvPr>
            <p:ph type="body" idx="1"/>
          </p:nvPr>
        </p:nvSpPr>
        <p:spPr/>
        <p:txBody>
          <a:bodyPr/>
          <a:lstStyle/>
          <a:p>
            <a:pPr lvl="3"/>
            <a:endParaRPr lang="en-US" b="1" dirty="0"/>
          </a:p>
        </p:txBody>
      </p:sp>
      <p:sp>
        <p:nvSpPr>
          <p:cNvPr id="4" name="Slide Number Placeholder 3">
            <a:extLst>
              <a:ext uri="{FF2B5EF4-FFF2-40B4-BE49-F238E27FC236}">
                <a16:creationId xmlns:a16="http://schemas.microsoft.com/office/drawing/2014/main" id="{13E52121-E445-06B2-EEF0-A8A35D41CF89}"/>
              </a:ext>
            </a:extLst>
          </p:cNvPr>
          <p:cNvSpPr>
            <a:spLocks noGrp="1"/>
          </p:cNvSpPr>
          <p:nvPr>
            <p:ph type="sldNum" sz="quarter" idx="5"/>
          </p:nvPr>
        </p:nvSpPr>
        <p:spPr/>
        <p:txBody>
          <a:bodyPr/>
          <a:lstStyle/>
          <a:p>
            <a:fld id="{FDD2A79F-59E5-49B9-A316-22BCC94F9756}" type="slidenum">
              <a:rPr lang="en-AU" smtClean="0"/>
              <a:t>16</a:t>
            </a:fld>
            <a:endParaRPr lang="en-AU"/>
          </a:p>
        </p:txBody>
      </p:sp>
    </p:spTree>
    <p:extLst>
      <p:ext uri="{BB962C8B-B14F-4D97-AF65-F5344CB8AC3E}">
        <p14:creationId xmlns:p14="http://schemas.microsoft.com/office/powerpoint/2010/main" val="23846657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0851D-523B-C0AB-8E42-4A3FEF1C98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526CC8-9537-3416-1789-9C9B935896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C4CEA3-9062-2BC5-94E3-CEE0A0345C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EA798D-4010-6C7B-DFA6-366CF9242E0A}"/>
              </a:ext>
            </a:extLst>
          </p:cNvPr>
          <p:cNvSpPr>
            <a:spLocks noGrp="1"/>
          </p:cNvSpPr>
          <p:nvPr>
            <p:ph type="sldNum" sz="quarter" idx="5"/>
          </p:nvPr>
        </p:nvSpPr>
        <p:spPr/>
        <p:txBody>
          <a:bodyPr/>
          <a:lstStyle/>
          <a:p>
            <a:fld id="{FDD2A79F-59E5-49B9-A316-22BCC94F9756}" type="slidenum">
              <a:rPr lang="en-AU" smtClean="0"/>
              <a:t>17</a:t>
            </a:fld>
            <a:endParaRPr lang="en-AU"/>
          </a:p>
        </p:txBody>
      </p:sp>
    </p:spTree>
    <p:extLst>
      <p:ext uri="{BB962C8B-B14F-4D97-AF65-F5344CB8AC3E}">
        <p14:creationId xmlns:p14="http://schemas.microsoft.com/office/powerpoint/2010/main" val="333886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2453F-B6C4-DB28-CBD5-247560F52C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838662-50FC-05CD-A2DA-C0BF36DA2A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E68FFB-2C56-A81D-A912-FBD6183119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C2F0D7-F7E9-9DE0-359B-5E64FD5AA845}"/>
              </a:ext>
            </a:extLst>
          </p:cNvPr>
          <p:cNvSpPr>
            <a:spLocks noGrp="1"/>
          </p:cNvSpPr>
          <p:nvPr>
            <p:ph type="sldNum" sz="quarter" idx="5"/>
          </p:nvPr>
        </p:nvSpPr>
        <p:spPr/>
        <p:txBody>
          <a:bodyPr/>
          <a:lstStyle/>
          <a:p>
            <a:fld id="{FDD2A79F-59E5-49B9-A316-22BCC94F9756}" type="slidenum">
              <a:rPr lang="en-AU" smtClean="0"/>
              <a:t>18</a:t>
            </a:fld>
            <a:endParaRPr lang="en-AU"/>
          </a:p>
        </p:txBody>
      </p:sp>
    </p:spTree>
    <p:extLst>
      <p:ext uri="{BB962C8B-B14F-4D97-AF65-F5344CB8AC3E}">
        <p14:creationId xmlns:p14="http://schemas.microsoft.com/office/powerpoint/2010/main" val="32227494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814FC-2B45-4DF7-7476-A48D791087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86FA46-EC78-895B-BBDB-B5C77FBDD6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849476-EA3A-4853-F967-FBAF7247A185}"/>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chia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bậc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gồm</a:t>
            </a:r>
            <a:r>
              <a:rPr lang="en-US" sz="1200" kern="1200" dirty="0">
                <a:solidFill>
                  <a:schemeClr val="tx1"/>
                </a:solidFill>
                <a:effectLst/>
                <a:latin typeface="+mn-lt"/>
                <a:ea typeface="+mn-ea"/>
                <a:cs typeface="+mn-cs"/>
              </a:rPr>
              <a:t> 3 </a:t>
            </a:r>
            <a:r>
              <a:rPr lang="en-US" sz="1200" kern="1200" dirty="0" err="1">
                <a:solidFill>
                  <a:schemeClr val="tx1"/>
                </a:solidFill>
                <a:effectLst/>
                <a:latin typeface="+mn-lt"/>
                <a:ea typeface="+mn-ea"/>
                <a:cs typeface="+mn-cs"/>
              </a:rPr>
              <a:t>nhóm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Tích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cực</a:t>
            </a:r>
            <a:r>
              <a:rPr lang="en-US" sz="1200" b="1" kern="1200" dirty="0">
                <a:solidFill>
                  <a:schemeClr val="tx1"/>
                </a:solidFill>
                <a:effectLst/>
                <a:latin typeface="+mn-lt"/>
                <a:ea typeface="+mn-ea"/>
                <a:cs typeface="+mn-cs"/>
              </a:rPr>
              <a:t> (positive):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1</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lòng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đẹp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ưng</a:t>
            </a:r>
            <a:r>
              <a:rPr lang="en-US" sz="1200" kern="1200" dirty="0">
                <a:solidFill>
                  <a:schemeClr val="tx1"/>
                </a:solidFill>
                <a:effectLst/>
                <a:latin typeface="+mn-lt"/>
                <a:ea typeface="+mn-ea"/>
                <a:cs typeface="+mn-cs"/>
              </a:rPr>
              <a:t> ý”.</a:t>
            </a:r>
          </a:p>
          <a:p>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cực</a:t>
            </a:r>
            <a:r>
              <a:rPr lang="en-US" sz="1200" b="1" kern="1200" dirty="0">
                <a:solidFill>
                  <a:schemeClr val="tx1"/>
                </a:solidFill>
                <a:effectLst/>
                <a:latin typeface="+mn-lt"/>
                <a:ea typeface="+mn-ea"/>
                <a:cs typeface="+mn-cs"/>
              </a:rPr>
              <a:t> (negative):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-1</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lòng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chê</a:t>
            </a:r>
            <a:r>
              <a:rPr lang="en-US" sz="1200" kern="1200" dirty="0">
                <a:solidFill>
                  <a:schemeClr val="tx1"/>
                </a:solidFill>
                <a:effectLst/>
                <a:latin typeface="+mn-lt"/>
                <a:ea typeface="+mn-ea"/>
                <a:cs typeface="+mn-cs"/>
              </a:rPr>
              <a:t> bai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trễ</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a:t>
            </a:r>
            <a:r>
              <a:rPr lang="en-US" sz="1200" kern="1200" dirty="0">
                <a:solidFill>
                  <a:schemeClr val="tx1"/>
                </a:solidFill>
                <a:effectLst/>
                <a:latin typeface="+mn-lt"/>
                <a:ea typeface="+mn-ea"/>
                <a:cs typeface="+mn-cs"/>
              </a:rPr>
              <a:t>”.</a:t>
            </a:r>
          </a:p>
          <a:p>
            <a:r>
              <a:rPr lang="en-US" sz="1200" b="1" kern="1200" dirty="0">
                <a:solidFill>
                  <a:schemeClr val="tx1"/>
                </a:solidFill>
                <a:effectLst/>
                <a:latin typeface="+mn-lt"/>
                <a:ea typeface="+mn-ea"/>
                <a:cs typeface="+mn-cs"/>
              </a:rPr>
              <a:t>Trung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(neutral):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0</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nội</a:t>
            </a:r>
            <a:r>
              <a:rPr lang="en-US" sz="1200" kern="1200" dirty="0">
                <a:solidFill>
                  <a:schemeClr val="tx1"/>
                </a:solidFill>
                <a:effectLst/>
                <a:latin typeface="+mn-lt"/>
                <a:ea typeface="+mn-ea"/>
                <a:cs typeface="+mn-cs"/>
              </a:rPr>
              <a:t> dung </a:t>
            </a:r>
            <a:r>
              <a:rPr lang="en-US" sz="1200" kern="1200" dirty="0" err="1">
                <a:solidFill>
                  <a:schemeClr val="tx1"/>
                </a:solidFill>
                <a:effectLst/>
                <a:latin typeface="+mn-lt"/>
                <a:ea typeface="+mn-ea"/>
                <a:cs typeface="+mn-cs"/>
              </a:rPr>
              <a:t>khách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vừa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khen</a:t>
            </a:r>
            <a:r>
              <a:rPr lang="en-US" sz="1200" kern="1200" dirty="0">
                <a:solidFill>
                  <a:schemeClr val="tx1"/>
                </a:solidFill>
                <a:effectLst/>
                <a:latin typeface="+mn-lt"/>
                <a:ea typeface="+mn-ea"/>
                <a:cs typeface="+mn-cs"/>
              </a:rPr>
              <a:t> ở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vừa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góp</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chê</a:t>
            </a:r>
            <a:r>
              <a:rPr lang="en-US" sz="1200" kern="1200" dirty="0">
                <a:solidFill>
                  <a:schemeClr val="tx1"/>
                </a:solidFill>
                <a:effectLst/>
                <a:latin typeface="+mn-lt"/>
                <a:ea typeface="+mn-ea"/>
                <a:cs typeface="+mn-cs"/>
              </a:rPr>
              <a:t> bai ở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32517998-364E-51D7-5E84-F94A8F8F9A93}"/>
              </a:ext>
            </a:extLst>
          </p:cNvPr>
          <p:cNvSpPr>
            <a:spLocks noGrp="1"/>
          </p:cNvSpPr>
          <p:nvPr>
            <p:ph type="sldNum" sz="quarter" idx="5"/>
          </p:nvPr>
        </p:nvSpPr>
        <p:spPr/>
        <p:txBody>
          <a:bodyPr/>
          <a:lstStyle/>
          <a:p>
            <a:fld id="{FDD2A79F-59E5-49B9-A316-22BCC94F9756}" type="slidenum">
              <a:rPr lang="en-AU" smtClean="0"/>
              <a:t>19</a:t>
            </a:fld>
            <a:endParaRPr lang="en-AU"/>
          </a:p>
        </p:txBody>
      </p:sp>
    </p:spTree>
    <p:extLst>
      <p:ext uri="{BB962C8B-B14F-4D97-AF65-F5344CB8AC3E}">
        <p14:creationId xmlns:p14="http://schemas.microsoft.com/office/powerpoint/2010/main" val="41288816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8C25C-51F8-C493-7116-388EF44400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0DB276-F602-58A4-3D97-50BBE45FDA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850227-BB6E-903C-4C2B-87ADA0131428}"/>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đồng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hành</a:t>
            </a:r>
            <a:r>
              <a:rPr lang="en-US" sz="1200" kern="1200" dirty="0">
                <a:solidFill>
                  <a:schemeClr val="tx1"/>
                </a:solidFill>
                <a:effectLst/>
                <a:latin typeface="+mn-lt"/>
                <a:ea typeface="+mn-ea"/>
                <a:cs typeface="+mn-cs"/>
              </a:rPr>
              <a:t> vi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tử</a:t>
            </a:r>
            <a:r>
              <a:rPr lang="en-US" sz="1200" kern="1200" dirty="0">
                <a:solidFill>
                  <a:schemeClr val="tx1"/>
                </a:solidFill>
                <a:effectLst/>
                <a:latin typeface="+mn-lt"/>
                <a:ea typeface="+mn-ea"/>
                <a:cs typeface="+mn-cs"/>
              </a:rPr>
              <a:t>. Tuy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xu </a:t>
            </a:r>
            <a:r>
              <a:rPr lang="en-US" sz="1200" kern="1200" dirty="0" err="1">
                <a:solidFill>
                  <a:schemeClr val="tx1"/>
                </a:solidFill>
                <a:effectLst/>
                <a:latin typeface="+mn-lt"/>
                <a:ea typeface="+mn-ea"/>
                <a:cs typeface="+mn-cs"/>
              </a:rPr>
              <a:t>hướng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hồi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lòng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lòng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900FC66E-095B-6F7E-3337-0E3AA1D66F13}"/>
              </a:ext>
            </a:extLst>
          </p:cNvPr>
          <p:cNvSpPr>
            <a:spLocks noGrp="1"/>
          </p:cNvSpPr>
          <p:nvPr>
            <p:ph type="sldNum" sz="quarter" idx="5"/>
          </p:nvPr>
        </p:nvSpPr>
        <p:spPr/>
        <p:txBody>
          <a:bodyPr/>
          <a:lstStyle/>
          <a:p>
            <a:fld id="{FDD2A79F-59E5-49B9-A316-22BCC94F9756}" type="slidenum">
              <a:rPr lang="en-AU" smtClean="0"/>
              <a:t>20</a:t>
            </a:fld>
            <a:endParaRPr lang="en-AU"/>
          </a:p>
        </p:txBody>
      </p:sp>
    </p:spTree>
    <p:extLst>
      <p:ext uri="{BB962C8B-B14F-4D97-AF65-F5344CB8AC3E}">
        <p14:creationId xmlns:p14="http://schemas.microsoft.com/office/powerpoint/2010/main" val="24750263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5AE835-6671-C15A-C86A-D6D0FE7F48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7E2D06-39DA-EF36-35C1-D9E86C4DCF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8A75EA-667E-402C-5E4D-CE66E713CBEA}"/>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accuracy </a:t>
            </a:r>
            <a:r>
              <a:rPr lang="en-US" sz="1200" b="1" kern="1200" dirty="0">
                <a:solidFill>
                  <a:schemeClr val="tx1"/>
                </a:solidFill>
                <a:effectLst/>
                <a:latin typeface="+mn-lt"/>
                <a:ea typeface="+mn-ea"/>
                <a:cs typeface="+mn-cs"/>
              </a:rPr>
              <a:t>78.79%</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Recall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0.04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4%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tế</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0.08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bỏ</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7B979C9D-6A75-5435-B398-4BF78FF9DB76}"/>
              </a:ext>
            </a:extLst>
          </p:cNvPr>
          <p:cNvSpPr>
            <a:spLocks noGrp="1"/>
          </p:cNvSpPr>
          <p:nvPr>
            <p:ph type="sldNum" sz="quarter" idx="5"/>
          </p:nvPr>
        </p:nvSpPr>
        <p:spPr/>
        <p:txBody>
          <a:bodyPr/>
          <a:lstStyle/>
          <a:p>
            <a:fld id="{FDD2A79F-59E5-49B9-A316-22BCC94F9756}" type="slidenum">
              <a:rPr lang="en-AU" smtClean="0"/>
              <a:t>21</a:t>
            </a:fld>
            <a:endParaRPr lang="en-AU"/>
          </a:p>
        </p:txBody>
      </p:sp>
    </p:spTree>
    <p:extLst>
      <p:ext uri="{BB962C8B-B14F-4D97-AF65-F5344CB8AC3E}">
        <p14:creationId xmlns:p14="http://schemas.microsoft.com/office/powerpoint/2010/main" val="18575406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28036-D2AF-9BAC-7305-B825D7955F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677603-C6EF-D2A8-B4B2-64063179AC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A39275-EDA3-B5E5-69F7-4C21F4BD4A05}"/>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ma </a:t>
            </a:r>
            <a:r>
              <a:rPr lang="en-US" sz="1200" kern="1200" dirty="0" err="1">
                <a:solidFill>
                  <a:schemeClr val="tx1"/>
                </a:solidFill>
                <a:effectLst/>
                <a:latin typeface="+mn-lt"/>
                <a:ea typeface="+mn-ea"/>
                <a:cs typeface="+mn-cs"/>
              </a:rPr>
              <a:t>trận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1 677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2 157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khoảng</a:t>
            </a:r>
            <a:r>
              <a:rPr lang="en-US" sz="1200" kern="1200" dirty="0">
                <a:solidFill>
                  <a:schemeClr val="tx1"/>
                </a:solidFill>
                <a:effectLst/>
                <a:latin typeface="+mn-lt"/>
                <a:ea typeface="+mn-ea"/>
                <a:cs typeface="+mn-cs"/>
              </a:rPr>
              <a:t> 77.8%.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477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chưa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30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683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xem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p>
          <a:p>
            <a:endParaRPr lang="en-US" dirty="0"/>
          </a:p>
        </p:txBody>
      </p:sp>
      <p:sp>
        <p:nvSpPr>
          <p:cNvPr id="4" name="Slide Number Placeholder 3">
            <a:extLst>
              <a:ext uri="{FF2B5EF4-FFF2-40B4-BE49-F238E27FC236}">
                <a16:creationId xmlns:a16="http://schemas.microsoft.com/office/drawing/2014/main" id="{A402A2F3-5884-2922-6112-643479FAFAD5}"/>
              </a:ext>
            </a:extLst>
          </p:cNvPr>
          <p:cNvSpPr>
            <a:spLocks noGrp="1"/>
          </p:cNvSpPr>
          <p:nvPr>
            <p:ph type="sldNum" sz="quarter" idx="5"/>
          </p:nvPr>
        </p:nvSpPr>
        <p:spPr/>
        <p:txBody>
          <a:bodyPr/>
          <a:lstStyle/>
          <a:p>
            <a:fld id="{FDD2A79F-59E5-49B9-A316-22BCC94F9756}" type="slidenum">
              <a:rPr lang="en-AU" smtClean="0"/>
              <a:t>22</a:t>
            </a:fld>
            <a:endParaRPr lang="en-AU"/>
          </a:p>
        </p:txBody>
      </p:sp>
    </p:spTree>
    <p:extLst>
      <p:ext uri="{BB962C8B-B14F-4D97-AF65-F5344CB8AC3E}">
        <p14:creationId xmlns:p14="http://schemas.microsoft.com/office/powerpoint/2010/main" val="40854205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289F4-6C20-2C6F-A549-0E82CCEC55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913EF-0DBB-012A-A1DA-346D1740E2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389318-B846-D279-0348-20DD2AEF56FA}"/>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Accuracy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81.11%</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vì</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nên</a:t>
            </a:r>
            <a:r>
              <a:rPr lang="en-US" sz="1200" kern="1200" dirty="0">
                <a:solidFill>
                  <a:schemeClr val="tx1"/>
                </a:solidFill>
                <a:effectLst/>
                <a:latin typeface="+mn-lt"/>
                <a:ea typeface="+mn-ea"/>
                <a:cs typeface="+mn-cs"/>
              </a:rPr>
              <a:t> accuracy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nói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Ta </a:t>
            </a:r>
            <a:r>
              <a:rPr lang="en-US" sz="1200" kern="1200" dirty="0" err="1">
                <a:solidFill>
                  <a:schemeClr val="tx1"/>
                </a:solidFill>
                <a:effectLst/>
                <a:latin typeface="+mn-lt"/>
                <a:ea typeface="+mn-ea"/>
                <a:cs typeface="+mn-cs"/>
              </a:rPr>
              <a:t>cần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xét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thêm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Recall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0.32</a:t>
            </a:r>
            <a:r>
              <a:rPr lang="en-US" sz="1200" kern="1200" dirty="0">
                <a:solidFill>
                  <a:schemeClr val="tx1"/>
                </a:solidFill>
                <a:effectLst/>
                <a:latin typeface="+mn-lt"/>
                <a:ea typeface="+mn-ea"/>
                <a:cs typeface="+mn-cs"/>
              </a:rPr>
              <a:t>, ta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32%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xảy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vì</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hợp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dễ</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3B171110-9EEB-54E3-AA26-C83F4478F403}"/>
              </a:ext>
            </a:extLst>
          </p:cNvPr>
          <p:cNvSpPr>
            <a:spLocks noGrp="1"/>
          </p:cNvSpPr>
          <p:nvPr>
            <p:ph type="sldNum" sz="quarter" idx="5"/>
          </p:nvPr>
        </p:nvSpPr>
        <p:spPr/>
        <p:txBody>
          <a:bodyPr/>
          <a:lstStyle/>
          <a:p>
            <a:fld id="{FDD2A79F-59E5-49B9-A316-22BCC94F9756}" type="slidenum">
              <a:rPr lang="en-AU" smtClean="0"/>
              <a:t>23</a:t>
            </a:fld>
            <a:endParaRPr lang="en-AU"/>
          </a:p>
        </p:txBody>
      </p:sp>
    </p:spTree>
    <p:extLst>
      <p:ext uri="{BB962C8B-B14F-4D97-AF65-F5344CB8AC3E}">
        <p14:creationId xmlns:p14="http://schemas.microsoft.com/office/powerpoint/2010/main" val="35583991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7B928-7A5B-4C96-874F-1BEDF04702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2686E6-78D4-B89D-5CE5-BBC4103408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C680AD-F8A4-6372-4784-DEDB5ECCEDB2}"/>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Nhìn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ma </a:t>
            </a:r>
            <a:r>
              <a:rPr lang="en-US" sz="1200" kern="1200" dirty="0" err="1">
                <a:solidFill>
                  <a:schemeClr val="tx1"/>
                </a:solidFill>
                <a:effectLst/>
                <a:latin typeface="+mn-lt"/>
                <a:ea typeface="+mn-ea"/>
                <a:cs typeface="+mn-cs"/>
              </a:rPr>
              <a:t>trận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dễ</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152,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315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216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683,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thiện</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BFAB9165-8059-1D2E-0BCF-3BE9F15A58DF}"/>
              </a:ext>
            </a:extLst>
          </p:cNvPr>
          <p:cNvSpPr>
            <a:spLocks noGrp="1"/>
          </p:cNvSpPr>
          <p:nvPr>
            <p:ph type="sldNum" sz="quarter" idx="5"/>
          </p:nvPr>
        </p:nvSpPr>
        <p:spPr/>
        <p:txBody>
          <a:bodyPr/>
          <a:lstStyle/>
          <a:p>
            <a:fld id="{FDD2A79F-59E5-49B9-A316-22BCC94F9756}" type="slidenum">
              <a:rPr lang="en-AU" smtClean="0"/>
              <a:t>24</a:t>
            </a:fld>
            <a:endParaRPr lang="en-AU"/>
          </a:p>
        </p:txBody>
      </p:sp>
    </p:spTree>
    <p:extLst>
      <p:ext uri="{BB962C8B-B14F-4D97-AF65-F5344CB8AC3E}">
        <p14:creationId xmlns:p14="http://schemas.microsoft.com/office/powerpoint/2010/main" val="2334151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34F06-3865-FEBC-8C1C-5B40A66307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F9BCB-DECA-56BF-82D1-22A2FFE6C5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E4E01B-6B86-A32D-BAFD-54E6D8F3BF74}"/>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Qua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đồ</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ổn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Loss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mạnh</a:t>
            </a:r>
            <a:r>
              <a:rPr lang="en-US" sz="1200" kern="1200" dirty="0">
                <a:solidFill>
                  <a:schemeClr val="tx1"/>
                </a:solidFill>
                <a:effectLst/>
                <a:latin typeface="+mn-lt"/>
                <a:ea typeface="+mn-ea"/>
                <a:cs typeface="+mn-cs"/>
              </a:rPr>
              <a:t> ở </a:t>
            </a:r>
            <a:r>
              <a:rPr lang="en-US" sz="1200" kern="1200" dirty="0" err="1">
                <a:solidFill>
                  <a:schemeClr val="tx1"/>
                </a:solidFill>
                <a:effectLst/>
                <a:latin typeface="+mn-lt"/>
                <a:ea typeface="+mn-ea"/>
                <a:cs typeface="+mn-cs"/>
              </a:rPr>
              <a:t>giai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chậm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hội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tụ</a:t>
            </a:r>
            <a:r>
              <a:rPr lang="en-US" sz="1200" kern="1200" dirty="0">
                <a:solidFill>
                  <a:schemeClr val="tx1"/>
                </a:solidFill>
                <a:effectLst/>
                <a:latin typeface="+mn-lt"/>
                <a:ea typeface="+mn-ea"/>
                <a:cs typeface="+mn-cs"/>
              </a:rPr>
              <a:t> ở </a:t>
            </a:r>
            <a:r>
              <a:rPr lang="en-US" sz="1200" kern="1200" dirty="0" err="1">
                <a:solidFill>
                  <a:schemeClr val="tx1"/>
                </a:solidFill>
                <a:effectLst/>
                <a:latin typeface="+mn-lt"/>
                <a:ea typeface="+mn-ea"/>
                <a:cs typeface="+mn-cs"/>
              </a:rPr>
              <a:t>mức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khoảng</a:t>
            </a:r>
            <a:r>
              <a:rPr lang="en-US" sz="1200" kern="1200" dirty="0">
                <a:solidFill>
                  <a:schemeClr val="tx1"/>
                </a:solidFill>
                <a:effectLst/>
                <a:latin typeface="+mn-lt"/>
                <a:ea typeface="+mn-ea"/>
                <a:cs typeface="+mn-cs"/>
              </a:rPr>
              <a:t> 0,12.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B16A378B-2600-634F-1643-2523577520E6}"/>
              </a:ext>
            </a:extLst>
          </p:cNvPr>
          <p:cNvSpPr>
            <a:spLocks noGrp="1"/>
          </p:cNvSpPr>
          <p:nvPr>
            <p:ph type="sldNum" sz="quarter" idx="5"/>
          </p:nvPr>
        </p:nvSpPr>
        <p:spPr/>
        <p:txBody>
          <a:bodyPr/>
          <a:lstStyle/>
          <a:p>
            <a:fld id="{FDD2A79F-59E5-49B9-A316-22BCC94F9756}" type="slidenum">
              <a:rPr lang="en-AU" smtClean="0"/>
              <a:t>25</a:t>
            </a:fld>
            <a:endParaRPr lang="en-AU"/>
          </a:p>
        </p:txBody>
      </p:sp>
    </p:spTree>
    <p:extLst>
      <p:ext uri="{BB962C8B-B14F-4D97-AF65-F5344CB8AC3E}">
        <p14:creationId xmlns:p14="http://schemas.microsoft.com/office/powerpoint/2010/main" val="22407620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E63D26-1E02-EE8E-8B8D-57AAA20E8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619E3-4AFD-3C6C-49D3-397820992C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3D09AF-FAE1-7A6E-9D0B-F135F118F40F}"/>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“Trung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Precision, Recall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còn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gặp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Tuy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“Trung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E8143EF3-F623-8799-6F73-144FE7A278A5}"/>
              </a:ext>
            </a:extLst>
          </p:cNvPr>
          <p:cNvSpPr>
            <a:spLocks noGrp="1"/>
          </p:cNvSpPr>
          <p:nvPr>
            <p:ph type="sldNum" sz="quarter" idx="5"/>
          </p:nvPr>
        </p:nvSpPr>
        <p:spPr/>
        <p:txBody>
          <a:bodyPr/>
          <a:lstStyle/>
          <a:p>
            <a:fld id="{FDD2A79F-59E5-49B9-A316-22BCC94F9756}" type="slidenum">
              <a:rPr lang="en-AU" smtClean="0"/>
              <a:t>26</a:t>
            </a:fld>
            <a:endParaRPr lang="en-AU"/>
          </a:p>
        </p:txBody>
      </p:sp>
    </p:spTree>
    <p:extLst>
      <p:ext uri="{BB962C8B-B14F-4D97-AF65-F5344CB8AC3E}">
        <p14:creationId xmlns:p14="http://schemas.microsoft.com/office/powerpoint/2010/main" val="19019988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00AB1-59EA-4C3D-C838-75BF99CF63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257A19-FBC2-C75C-1972-22D52D5E84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85135A-17AC-3C38-FBD6-A30EC46C140D}"/>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đồ</a:t>
            </a:r>
            <a:r>
              <a:rPr lang="en-US" sz="1200" kern="1200" dirty="0">
                <a:solidFill>
                  <a:schemeClr val="tx1"/>
                </a:solidFill>
                <a:effectLst/>
                <a:latin typeface="+mn-lt"/>
                <a:ea typeface="+mn-ea"/>
                <a:cs typeface="+mn-cs"/>
              </a:rPr>
              <a:t> ma </a:t>
            </a:r>
            <a:r>
              <a:rPr lang="en-US" sz="1200" kern="1200" dirty="0" err="1">
                <a:solidFill>
                  <a:schemeClr val="tx1"/>
                </a:solidFill>
                <a:effectLst/>
                <a:latin typeface="+mn-lt"/>
                <a:ea typeface="+mn-ea"/>
                <a:cs typeface="+mn-cs"/>
              </a:rPr>
              <a:t>trận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nói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3.228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1.951,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“Trung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443,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tỷ</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108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C4A25184-8D3C-3935-0C81-395E5859B1DD}"/>
              </a:ext>
            </a:extLst>
          </p:cNvPr>
          <p:cNvSpPr>
            <a:spLocks noGrp="1"/>
          </p:cNvSpPr>
          <p:nvPr>
            <p:ph type="sldNum" sz="quarter" idx="5"/>
          </p:nvPr>
        </p:nvSpPr>
        <p:spPr/>
        <p:txBody>
          <a:bodyPr/>
          <a:lstStyle/>
          <a:p>
            <a:fld id="{FDD2A79F-59E5-49B9-A316-22BCC94F9756}" type="slidenum">
              <a:rPr lang="en-AU" smtClean="0"/>
              <a:t>27</a:t>
            </a:fld>
            <a:endParaRPr lang="en-AU"/>
          </a:p>
        </p:txBody>
      </p:sp>
    </p:spTree>
    <p:extLst>
      <p:ext uri="{BB962C8B-B14F-4D97-AF65-F5344CB8AC3E}">
        <p14:creationId xmlns:p14="http://schemas.microsoft.com/office/powerpoint/2010/main" val="26992995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E7726-78CA-A20D-D0D6-463334F411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8FE379-A243-0CF3-F5ED-844251D135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A1C61E-01B0-03B1-DB91-27810891DA2F}"/>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Nhìn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trội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hẳn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Precision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Recall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ở </a:t>
            </a:r>
            <a:r>
              <a:rPr lang="en-US" sz="1200" kern="1200" dirty="0" err="1">
                <a:solidFill>
                  <a:schemeClr val="tx1"/>
                </a:solidFill>
                <a:effectLst/>
                <a:latin typeface="+mn-lt"/>
                <a:ea typeface="+mn-ea"/>
                <a:cs typeface="+mn-cs"/>
              </a:rPr>
              <a:t>mức</a:t>
            </a:r>
            <a:r>
              <a:rPr lang="en-US" sz="1200" kern="1200" dirty="0">
                <a:solidFill>
                  <a:schemeClr val="tx1"/>
                </a:solidFill>
                <a:effectLst/>
                <a:latin typeface="+mn-lt"/>
                <a:ea typeface="+mn-ea"/>
                <a:cs typeface="+mn-cs"/>
              </a:rPr>
              <a:t> 0.86,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0.86,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Accuracy </a:t>
            </a:r>
            <a:r>
              <a:rPr lang="en-US" sz="1200" kern="1200" dirty="0" err="1">
                <a:solidFill>
                  <a:schemeClr val="tx1"/>
                </a:solidFill>
                <a:effectLst/>
                <a:latin typeface="+mn-lt"/>
                <a:ea typeface="+mn-ea"/>
                <a:cs typeface="+mn-cs"/>
              </a:rPr>
              <a:t>lên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tới</a:t>
            </a:r>
            <a:r>
              <a:rPr lang="en-US" sz="1200" kern="1200" dirty="0">
                <a:solidFill>
                  <a:schemeClr val="tx1"/>
                </a:solidFill>
                <a:effectLst/>
                <a:latin typeface="+mn-lt"/>
                <a:ea typeface="+mn-ea"/>
                <a:cs typeface="+mn-cs"/>
              </a:rPr>
              <a:t> 0.91.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còn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trì</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Đây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nổi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vốn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a:t>
            </a:r>
          </a:p>
          <a:p>
            <a:r>
              <a:rPr lang="en-US" sz="1200" kern="1200" dirty="0">
                <a:solidFill>
                  <a:schemeClr val="tx1"/>
                </a:solidFill>
                <a:effectLst/>
                <a:latin typeface="+mn-lt"/>
                <a:ea typeface="+mn-ea"/>
                <a:cs typeface="+mn-cs"/>
              </a:rPr>
              <a:t>Trong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Naïve Bayes + TF-IDF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Precision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(0.82)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Recall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(0.59), </a:t>
            </a:r>
            <a:r>
              <a:rPr lang="en-US" sz="1200" kern="1200" dirty="0" err="1">
                <a:solidFill>
                  <a:schemeClr val="tx1"/>
                </a:solidFill>
                <a:effectLst/>
                <a:latin typeface="+mn-lt"/>
                <a:ea typeface="+mn-ea"/>
                <a:cs typeface="+mn-cs"/>
              </a:rPr>
              <a:t>dẫn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đến</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0.58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Accuracy ở </a:t>
            </a:r>
            <a:r>
              <a:rPr lang="en-US" sz="1200" kern="1200" dirty="0" err="1">
                <a:solidFill>
                  <a:schemeClr val="tx1"/>
                </a:solidFill>
                <a:effectLst/>
                <a:latin typeface="+mn-lt"/>
                <a:ea typeface="+mn-ea"/>
                <a:cs typeface="+mn-cs"/>
              </a:rPr>
              <a:t>mức</a:t>
            </a:r>
            <a:r>
              <a:rPr lang="en-US" sz="1200" kern="1200" dirty="0">
                <a:solidFill>
                  <a:schemeClr val="tx1"/>
                </a:solidFill>
                <a:effectLst/>
                <a:latin typeface="+mn-lt"/>
                <a:ea typeface="+mn-ea"/>
                <a:cs typeface="+mn-cs"/>
              </a:rPr>
              <a:t> 0.79.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hợp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sót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Naïve Bayes + </a:t>
            </a:r>
            <a:r>
              <a:rPr lang="en-US" sz="1200" kern="1200" dirty="0" err="1">
                <a:solidFill>
                  <a:schemeClr val="tx1"/>
                </a:solidFill>
                <a:effectLst/>
                <a:latin typeface="+mn-lt"/>
                <a:ea typeface="+mn-ea"/>
                <a:cs typeface="+mn-cs"/>
              </a:rPr>
              <a:t>BoW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Precision (0.77)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Recall (0.68),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lên</a:t>
            </a:r>
            <a:r>
              <a:rPr lang="en-US" sz="1200" kern="1200" dirty="0">
                <a:solidFill>
                  <a:schemeClr val="tx1"/>
                </a:solidFill>
                <a:effectLst/>
                <a:latin typeface="+mn-lt"/>
                <a:ea typeface="+mn-ea"/>
                <a:cs typeface="+mn-cs"/>
              </a:rPr>
              <a:t> 0.71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Accuracy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0.81.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BoW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bao </a:t>
            </a:r>
            <a:r>
              <a:rPr lang="en-US" sz="1200" kern="1200" dirty="0" err="1">
                <a:solidFill>
                  <a:schemeClr val="tx1"/>
                </a:solidFill>
                <a:effectLst/>
                <a:latin typeface="+mn-lt"/>
                <a:ea typeface="+mn-ea"/>
                <a:cs typeface="+mn-cs"/>
              </a:rPr>
              <a:t>phủ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TF-IDF, </a:t>
            </a:r>
            <a:r>
              <a:rPr lang="en-US" sz="1200" kern="1200" dirty="0" err="1">
                <a:solidFill>
                  <a:schemeClr val="tx1"/>
                </a:solidFill>
                <a:effectLst/>
                <a:latin typeface="+mn-lt"/>
                <a:ea typeface="+mn-ea"/>
                <a:cs typeface="+mn-cs"/>
              </a:rPr>
              <a:t>mặc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(Precision)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nhẹ</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trội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bao </a:t>
            </a:r>
            <a:r>
              <a:rPr lang="en-US" sz="1200" kern="1200" dirty="0" err="1">
                <a:solidFill>
                  <a:schemeClr val="tx1"/>
                </a:solidFill>
                <a:effectLst/>
                <a:latin typeface="+mn-lt"/>
                <a:ea typeface="+mn-ea"/>
                <a:cs typeface="+mn-cs"/>
              </a:rPr>
              <a:t>phủ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Trong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TF-IDF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BoW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B9BAF2BE-5394-6CB7-B1A4-F7B7DC431C81}"/>
              </a:ext>
            </a:extLst>
          </p:cNvPr>
          <p:cNvSpPr>
            <a:spLocks noGrp="1"/>
          </p:cNvSpPr>
          <p:nvPr>
            <p:ph type="sldNum" sz="quarter" idx="5"/>
          </p:nvPr>
        </p:nvSpPr>
        <p:spPr/>
        <p:txBody>
          <a:bodyPr/>
          <a:lstStyle/>
          <a:p>
            <a:fld id="{FDD2A79F-59E5-49B9-A316-22BCC94F9756}" type="slidenum">
              <a:rPr lang="en-AU" smtClean="0"/>
              <a:t>28</a:t>
            </a:fld>
            <a:endParaRPr lang="en-AU"/>
          </a:p>
        </p:txBody>
      </p:sp>
    </p:spTree>
    <p:extLst>
      <p:ext uri="{BB962C8B-B14F-4D97-AF65-F5344CB8AC3E}">
        <p14:creationId xmlns:p14="http://schemas.microsoft.com/office/powerpoint/2010/main" val="141684223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440F9-EAF4-75C9-287E-72B9029890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FE068-29AF-9D39-F80F-4B3666CCBF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F43BDE-72AB-2593-FB08-A65897A769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998CCC-083A-D9D3-15F3-493FBE716415}"/>
              </a:ext>
            </a:extLst>
          </p:cNvPr>
          <p:cNvSpPr>
            <a:spLocks noGrp="1"/>
          </p:cNvSpPr>
          <p:nvPr>
            <p:ph type="sldNum" sz="quarter" idx="5"/>
          </p:nvPr>
        </p:nvSpPr>
        <p:spPr/>
        <p:txBody>
          <a:bodyPr/>
          <a:lstStyle/>
          <a:p>
            <a:fld id="{FDD2A79F-59E5-49B9-A316-22BCC94F9756}" type="slidenum">
              <a:rPr lang="en-AU" smtClean="0"/>
              <a:t>29</a:t>
            </a:fld>
            <a:endParaRPr lang="en-AU"/>
          </a:p>
        </p:txBody>
      </p:sp>
    </p:spTree>
    <p:extLst>
      <p:ext uri="{BB962C8B-B14F-4D97-AF65-F5344CB8AC3E}">
        <p14:creationId xmlns:p14="http://schemas.microsoft.com/office/powerpoint/2010/main" val="14503802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F05C-739B-B8C5-8301-FD1378A29E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CDA046-7A4A-50E2-2774-C7292F2D84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9FA4CA-37F3-3538-0338-62C31F5FF8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310782-8E51-52E5-CA4E-5CB2B6193772}"/>
              </a:ext>
            </a:extLst>
          </p:cNvPr>
          <p:cNvSpPr>
            <a:spLocks noGrp="1"/>
          </p:cNvSpPr>
          <p:nvPr>
            <p:ph type="sldNum" sz="quarter" idx="5"/>
          </p:nvPr>
        </p:nvSpPr>
        <p:spPr/>
        <p:txBody>
          <a:bodyPr/>
          <a:lstStyle/>
          <a:p>
            <a:fld id="{FDD2A79F-59E5-49B9-A316-22BCC94F9756}" type="slidenum">
              <a:rPr lang="en-AU" smtClean="0"/>
              <a:t>30</a:t>
            </a:fld>
            <a:endParaRPr lang="en-AU"/>
          </a:p>
        </p:txBody>
      </p:sp>
    </p:spTree>
    <p:extLst>
      <p:ext uri="{BB962C8B-B14F-4D97-AF65-F5344CB8AC3E}">
        <p14:creationId xmlns:p14="http://schemas.microsoft.com/office/powerpoint/2010/main" val="40013719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27D54-E996-5C83-A34B-58A44E3716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CE2895-7B19-3393-296F-97808B75E8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14CF0-9E21-830E-1EE9-D4A76E9A36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A5D28E-B865-374C-4D8C-6E80A61F5A47}"/>
              </a:ext>
            </a:extLst>
          </p:cNvPr>
          <p:cNvSpPr>
            <a:spLocks noGrp="1"/>
          </p:cNvSpPr>
          <p:nvPr>
            <p:ph type="sldNum" sz="quarter" idx="5"/>
          </p:nvPr>
        </p:nvSpPr>
        <p:spPr/>
        <p:txBody>
          <a:bodyPr/>
          <a:lstStyle/>
          <a:p>
            <a:fld id="{FDD2A79F-59E5-49B9-A316-22BCC94F9756}" type="slidenum">
              <a:rPr lang="en-AU" smtClean="0"/>
              <a:t>31</a:t>
            </a:fld>
            <a:endParaRPr lang="en-AU"/>
          </a:p>
        </p:txBody>
      </p:sp>
    </p:spTree>
    <p:extLst>
      <p:ext uri="{BB962C8B-B14F-4D97-AF65-F5344CB8AC3E}">
        <p14:creationId xmlns:p14="http://schemas.microsoft.com/office/powerpoint/2010/main" val="91100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5CAEA-C6AD-8D86-3854-16D44F6E52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4F2F2D-02D2-5742-10AE-D4F40E5A0F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03C609-7BCD-153F-FEB0-96F6198BDF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7118F6-BC52-5750-5D0A-0269EAD0517D}"/>
              </a:ext>
            </a:extLst>
          </p:cNvPr>
          <p:cNvSpPr>
            <a:spLocks noGrp="1"/>
          </p:cNvSpPr>
          <p:nvPr>
            <p:ph type="sldNum" sz="quarter" idx="5"/>
          </p:nvPr>
        </p:nvSpPr>
        <p:spPr/>
        <p:txBody>
          <a:bodyPr/>
          <a:lstStyle/>
          <a:p>
            <a:fld id="{FDD2A79F-59E5-49B9-A316-22BCC94F9756}" type="slidenum">
              <a:rPr lang="en-AU" smtClean="0"/>
              <a:t>32</a:t>
            </a:fld>
            <a:endParaRPr lang="en-AU"/>
          </a:p>
        </p:txBody>
      </p:sp>
    </p:spTree>
    <p:extLst>
      <p:ext uri="{BB962C8B-B14F-4D97-AF65-F5344CB8AC3E}">
        <p14:creationId xmlns:p14="http://schemas.microsoft.com/office/powerpoint/2010/main" val="30342194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2FCF2-D0A0-4860-6B28-08CD32C226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92D53A-A850-8CB7-D450-A0184A2358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B14FA0-E10B-CF79-0CF5-36C0921A93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2CB8CF-005F-2AA0-4419-3B9A40ED916F}"/>
              </a:ext>
            </a:extLst>
          </p:cNvPr>
          <p:cNvSpPr>
            <a:spLocks noGrp="1"/>
          </p:cNvSpPr>
          <p:nvPr>
            <p:ph type="sldNum" sz="quarter" idx="5"/>
          </p:nvPr>
        </p:nvSpPr>
        <p:spPr/>
        <p:txBody>
          <a:bodyPr/>
          <a:lstStyle/>
          <a:p>
            <a:fld id="{FDD2A79F-59E5-49B9-A316-22BCC94F9756}" type="slidenum">
              <a:rPr lang="en-AU" smtClean="0"/>
              <a:t>33</a:t>
            </a:fld>
            <a:endParaRPr lang="en-AU"/>
          </a:p>
        </p:txBody>
      </p:sp>
    </p:spTree>
    <p:extLst>
      <p:ext uri="{BB962C8B-B14F-4D97-AF65-F5344CB8AC3E}">
        <p14:creationId xmlns:p14="http://schemas.microsoft.com/office/powerpoint/2010/main" val="301844946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402EF-3CB2-4C68-48FF-B43F04823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FDD248-4EA4-4096-02BB-FCA725C8D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B48016-877F-3278-0DC1-D2A10A54F9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5298EF-49FC-BA69-BD59-5D89B6FFB975}"/>
              </a:ext>
            </a:extLst>
          </p:cNvPr>
          <p:cNvSpPr>
            <a:spLocks noGrp="1"/>
          </p:cNvSpPr>
          <p:nvPr>
            <p:ph type="sldNum" sz="quarter" idx="5"/>
          </p:nvPr>
        </p:nvSpPr>
        <p:spPr/>
        <p:txBody>
          <a:bodyPr/>
          <a:lstStyle/>
          <a:p>
            <a:fld id="{FDD2A79F-59E5-49B9-A316-22BCC94F9756}" type="slidenum">
              <a:rPr lang="en-AU" smtClean="0"/>
              <a:t>34</a:t>
            </a:fld>
            <a:endParaRPr lang="en-AU"/>
          </a:p>
        </p:txBody>
      </p:sp>
    </p:spTree>
    <p:extLst>
      <p:ext uri="{BB962C8B-B14F-4D97-AF65-F5344CB8AC3E}">
        <p14:creationId xmlns:p14="http://schemas.microsoft.com/office/powerpoint/2010/main" val="29788176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3C269-A818-2E42-080B-AE52357E9E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5C324253-6E52-30FF-1412-575C7E6752F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B0D0A5F7-188B-349E-DA7B-BA371A5B1212}"/>
              </a:ext>
            </a:extLst>
          </p:cNvPr>
          <p:cNvSpPr>
            <a:spLocks noGrp="1"/>
          </p:cNvSpPr>
          <p:nvPr>
            <p:ph type="dt" sz="half" idx="10"/>
          </p:nvPr>
        </p:nvSpPr>
        <p:spPr/>
        <p:txBody>
          <a:bodyPr/>
          <a:lstStyle/>
          <a:p>
            <a:fld id="{DB2BBBA9-7FA0-4BE4-8F04-92472A33ED22}" type="datetime1">
              <a:rPr lang="en-AU" smtClean="0"/>
              <a:t>4/09/2025</a:t>
            </a:fld>
            <a:endParaRPr lang="en-AU"/>
          </a:p>
        </p:txBody>
      </p:sp>
      <p:sp>
        <p:nvSpPr>
          <p:cNvPr id="5" name="Footer Placeholder 4">
            <a:extLst>
              <a:ext uri="{FF2B5EF4-FFF2-40B4-BE49-F238E27FC236}">
                <a16:creationId xmlns:a16="http://schemas.microsoft.com/office/drawing/2014/main" id="{507701EA-36CB-748F-FA83-8F519F74466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988244-48A3-CB37-F507-87CB47170798}"/>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3859107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4B9EE-6A2F-EAC4-7C16-EC9CA298F95C}"/>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18F1F84-2AB7-EEB1-D124-922B0358AB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19DFB11-BB70-75FF-B392-B2C77241680C}"/>
              </a:ext>
            </a:extLst>
          </p:cNvPr>
          <p:cNvSpPr>
            <a:spLocks noGrp="1"/>
          </p:cNvSpPr>
          <p:nvPr>
            <p:ph type="dt" sz="half" idx="10"/>
          </p:nvPr>
        </p:nvSpPr>
        <p:spPr/>
        <p:txBody>
          <a:bodyPr/>
          <a:lstStyle/>
          <a:p>
            <a:fld id="{0E100AE7-E8FF-4927-98BF-867B14D6459F}" type="datetime1">
              <a:rPr lang="en-AU" smtClean="0"/>
              <a:t>4/09/2025</a:t>
            </a:fld>
            <a:endParaRPr lang="en-AU"/>
          </a:p>
        </p:txBody>
      </p:sp>
      <p:sp>
        <p:nvSpPr>
          <p:cNvPr id="5" name="Footer Placeholder 4">
            <a:extLst>
              <a:ext uri="{FF2B5EF4-FFF2-40B4-BE49-F238E27FC236}">
                <a16:creationId xmlns:a16="http://schemas.microsoft.com/office/drawing/2014/main" id="{702938B6-6CB7-2CE2-CE2A-1DBDA62E121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D254541-4F17-CD05-9D0D-B2E1F2A3E475}"/>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4152780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DF4F9-9F31-8C70-C3D3-F5BB05BE98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D2AB0EC-7418-4254-5170-73F32C7249D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14B254C-7726-67A4-A7F4-6642CD82DF63}"/>
              </a:ext>
            </a:extLst>
          </p:cNvPr>
          <p:cNvSpPr>
            <a:spLocks noGrp="1"/>
          </p:cNvSpPr>
          <p:nvPr>
            <p:ph type="dt" sz="half" idx="10"/>
          </p:nvPr>
        </p:nvSpPr>
        <p:spPr/>
        <p:txBody>
          <a:bodyPr/>
          <a:lstStyle/>
          <a:p>
            <a:fld id="{16B4E545-433C-4248-BA07-B45BCF609E6D}" type="datetime1">
              <a:rPr lang="en-AU" smtClean="0"/>
              <a:t>4/09/2025</a:t>
            </a:fld>
            <a:endParaRPr lang="en-AU"/>
          </a:p>
        </p:txBody>
      </p:sp>
      <p:sp>
        <p:nvSpPr>
          <p:cNvPr id="5" name="Footer Placeholder 4">
            <a:extLst>
              <a:ext uri="{FF2B5EF4-FFF2-40B4-BE49-F238E27FC236}">
                <a16:creationId xmlns:a16="http://schemas.microsoft.com/office/drawing/2014/main" id="{BE336924-0D1A-B337-AA13-6691FCA9D62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A85711-A453-870D-7D55-1E90898ED7E6}"/>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1118236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B81B9-6886-CA1E-1AE9-4844599BCB6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214D813-0048-572E-A857-75CFF0AC821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2106DF0-C971-6883-96D5-3FB15E3DBF1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06581C3C-2BC5-FFAA-7479-9467921BB438}"/>
              </a:ext>
            </a:extLst>
          </p:cNvPr>
          <p:cNvSpPr>
            <a:spLocks noGrp="1"/>
          </p:cNvSpPr>
          <p:nvPr>
            <p:ph type="dt" sz="half" idx="10"/>
          </p:nvPr>
        </p:nvSpPr>
        <p:spPr/>
        <p:txBody>
          <a:bodyPr/>
          <a:lstStyle/>
          <a:p>
            <a:fld id="{5DA07EC2-CCBC-4CD1-881F-C10752CFBB2D}" type="datetime1">
              <a:rPr lang="en-AU" smtClean="0"/>
              <a:t>4/09/2025</a:t>
            </a:fld>
            <a:endParaRPr lang="en-AU"/>
          </a:p>
        </p:txBody>
      </p:sp>
      <p:sp>
        <p:nvSpPr>
          <p:cNvPr id="6" name="Footer Placeholder 5">
            <a:extLst>
              <a:ext uri="{FF2B5EF4-FFF2-40B4-BE49-F238E27FC236}">
                <a16:creationId xmlns:a16="http://schemas.microsoft.com/office/drawing/2014/main" id="{F8513511-7CC2-52FC-3859-6693738DBF4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86E4292A-6FC0-A4E5-EDC5-51B6B76B88BD}"/>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421167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41892-B8AA-73AA-D8C5-8C5974003AC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D56298A9-6249-553E-B3BC-D756B920CB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0307D12-615E-ACDB-5771-267211DCA58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DF5EDD-83D9-2D7E-A47C-23413EB7FFF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B3286-FB8A-5E1D-10E6-3F9A080F7E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18B5894A-B55B-809A-0E07-E59EEED0F2E0}"/>
              </a:ext>
            </a:extLst>
          </p:cNvPr>
          <p:cNvSpPr>
            <a:spLocks noGrp="1"/>
          </p:cNvSpPr>
          <p:nvPr>
            <p:ph type="dt" sz="half" idx="10"/>
          </p:nvPr>
        </p:nvSpPr>
        <p:spPr/>
        <p:txBody>
          <a:bodyPr/>
          <a:lstStyle/>
          <a:p>
            <a:fld id="{5C91FD46-124E-43B3-95A0-7F08E34F5829}" type="datetime1">
              <a:rPr lang="en-AU" smtClean="0"/>
              <a:t>4/09/2025</a:t>
            </a:fld>
            <a:endParaRPr lang="en-AU"/>
          </a:p>
        </p:txBody>
      </p:sp>
      <p:sp>
        <p:nvSpPr>
          <p:cNvPr id="8" name="Footer Placeholder 7">
            <a:extLst>
              <a:ext uri="{FF2B5EF4-FFF2-40B4-BE49-F238E27FC236}">
                <a16:creationId xmlns:a16="http://schemas.microsoft.com/office/drawing/2014/main" id="{3FBD03B6-5ABC-F10E-347A-FEC7D8A2D052}"/>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C632F8E0-8029-3406-15F3-2BC4BB8276A7}"/>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4636826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56E65-9257-4DAA-989E-E9BFC3C8E75E}"/>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BF43ADA2-9157-0640-FEE9-E598FCDBD278}"/>
              </a:ext>
            </a:extLst>
          </p:cNvPr>
          <p:cNvSpPr>
            <a:spLocks noGrp="1"/>
          </p:cNvSpPr>
          <p:nvPr>
            <p:ph type="dt" sz="half" idx="10"/>
          </p:nvPr>
        </p:nvSpPr>
        <p:spPr/>
        <p:txBody>
          <a:bodyPr/>
          <a:lstStyle/>
          <a:p>
            <a:fld id="{7A46920B-BC95-4378-91F3-B9259F5138B6}" type="datetime1">
              <a:rPr lang="en-AU" smtClean="0"/>
              <a:t>4/09/2025</a:t>
            </a:fld>
            <a:endParaRPr lang="en-AU"/>
          </a:p>
        </p:txBody>
      </p:sp>
      <p:sp>
        <p:nvSpPr>
          <p:cNvPr id="4" name="Footer Placeholder 3">
            <a:extLst>
              <a:ext uri="{FF2B5EF4-FFF2-40B4-BE49-F238E27FC236}">
                <a16:creationId xmlns:a16="http://schemas.microsoft.com/office/drawing/2014/main" id="{4B7618CD-A076-0678-9C9E-909FBE8DBB07}"/>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E263F353-043F-0D18-A13C-B7B34738870B}"/>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2626578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594A17D-D58A-5546-3B18-B3725E9A1CAB}"/>
              </a:ext>
            </a:extLst>
          </p:cNvPr>
          <p:cNvSpPr>
            <a:spLocks noGrp="1"/>
          </p:cNvSpPr>
          <p:nvPr>
            <p:ph type="dt" sz="half" idx="10"/>
          </p:nvPr>
        </p:nvSpPr>
        <p:spPr/>
        <p:txBody>
          <a:bodyPr/>
          <a:lstStyle/>
          <a:p>
            <a:fld id="{2C9C22CF-5BE4-42DA-838A-CB91C3ABBA07}" type="datetime1">
              <a:rPr lang="en-AU" smtClean="0"/>
              <a:t>4/09/2025</a:t>
            </a:fld>
            <a:endParaRPr lang="en-AU"/>
          </a:p>
        </p:txBody>
      </p:sp>
      <p:sp>
        <p:nvSpPr>
          <p:cNvPr id="3" name="Footer Placeholder 2">
            <a:extLst>
              <a:ext uri="{FF2B5EF4-FFF2-40B4-BE49-F238E27FC236}">
                <a16:creationId xmlns:a16="http://schemas.microsoft.com/office/drawing/2014/main" id="{F0D1A884-0E02-0879-D1A1-5CD4B300C693}"/>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068C66FF-E7F0-030F-7376-9C7C8E2A1E9B}"/>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6507089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25E08-4010-F441-543A-E739C84A1B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F8D173F-4647-9DA8-3C78-F65341B4EE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D614A77-8CFC-B9D3-4CFF-A9C1BE8956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A0054B-DEB8-3435-1F0C-615ECC015A47}"/>
              </a:ext>
            </a:extLst>
          </p:cNvPr>
          <p:cNvSpPr>
            <a:spLocks noGrp="1"/>
          </p:cNvSpPr>
          <p:nvPr>
            <p:ph type="dt" sz="half" idx="10"/>
          </p:nvPr>
        </p:nvSpPr>
        <p:spPr/>
        <p:txBody>
          <a:bodyPr/>
          <a:lstStyle/>
          <a:p>
            <a:fld id="{6539736B-9FE1-4417-B95D-22EF47749343}" type="datetime1">
              <a:rPr lang="en-AU" smtClean="0"/>
              <a:t>4/09/2025</a:t>
            </a:fld>
            <a:endParaRPr lang="en-AU"/>
          </a:p>
        </p:txBody>
      </p:sp>
      <p:sp>
        <p:nvSpPr>
          <p:cNvPr id="6" name="Footer Placeholder 5">
            <a:extLst>
              <a:ext uri="{FF2B5EF4-FFF2-40B4-BE49-F238E27FC236}">
                <a16:creationId xmlns:a16="http://schemas.microsoft.com/office/drawing/2014/main" id="{B44E799B-9B94-5D1B-F2FA-B3D03BED3599}"/>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1AD8E96B-B909-5FD4-436A-67FB9E051775}"/>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9443915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A5D6E-A3BB-2CD3-3D99-9B5FF87557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3AF0721C-C3DE-EE46-846D-A79BBEC50F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0B5AF031-08E6-8BDA-14BB-968FA04889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01033F4-FCD2-84E7-9DA4-3961DDBAFBDA}"/>
              </a:ext>
            </a:extLst>
          </p:cNvPr>
          <p:cNvSpPr>
            <a:spLocks noGrp="1"/>
          </p:cNvSpPr>
          <p:nvPr>
            <p:ph type="dt" sz="half" idx="10"/>
          </p:nvPr>
        </p:nvSpPr>
        <p:spPr/>
        <p:txBody>
          <a:bodyPr/>
          <a:lstStyle/>
          <a:p>
            <a:fld id="{48BCE44F-9EBC-4872-B08B-08D7E0E11A83}" type="datetime1">
              <a:rPr lang="en-AU" smtClean="0"/>
              <a:t>4/09/2025</a:t>
            </a:fld>
            <a:endParaRPr lang="en-AU"/>
          </a:p>
        </p:txBody>
      </p:sp>
      <p:sp>
        <p:nvSpPr>
          <p:cNvPr id="6" name="Footer Placeholder 5">
            <a:extLst>
              <a:ext uri="{FF2B5EF4-FFF2-40B4-BE49-F238E27FC236}">
                <a16:creationId xmlns:a16="http://schemas.microsoft.com/office/drawing/2014/main" id="{149B56F5-A035-D88B-301D-B95F439FBF2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361CEF64-8C79-39CB-0D82-91EED0B09477}"/>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6290735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D834A2-C788-B6B5-E57B-517B62FC3A36}"/>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74EB2093-29DD-E64B-BEF6-A45178A359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7510453-0258-7226-C788-EC3BDB562CE2}"/>
              </a:ext>
            </a:extLst>
          </p:cNvPr>
          <p:cNvSpPr>
            <a:spLocks noGrp="1"/>
          </p:cNvSpPr>
          <p:nvPr>
            <p:ph type="dt" sz="half" idx="10"/>
          </p:nvPr>
        </p:nvSpPr>
        <p:spPr/>
        <p:txBody>
          <a:bodyPr/>
          <a:lstStyle/>
          <a:p>
            <a:fld id="{E12251AA-B4A0-49F3-9766-915F64A70B62}" type="datetime1">
              <a:rPr lang="en-AU" smtClean="0"/>
              <a:t>4/09/2025</a:t>
            </a:fld>
            <a:endParaRPr lang="en-AU"/>
          </a:p>
        </p:txBody>
      </p:sp>
      <p:sp>
        <p:nvSpPr>
          <p:cNvPr id="5" name="Footer Placeholder 4">
            <a:extLst>
              <a:ext uri="{FF2B5EF4-FFF2-40B4-BE49-F238E27FC236}">
                <a16:creationId xmlns:a16="http://schemas.microsoft.com/office/drawing/2014/main" id="{BE882347-94EC-E816-F6BA-C477FD5C5EC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195935AA-EB81-AEAD-3F83-C033B8F13CC9}"/>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399119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942E50F-F22E-63E6-78D7-EFCA5784A8A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7CCC860-9F56-C34D-4229-4298F8C6FC8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967EA38-89F1-27CC-C083-5B1C2BE25D29}"/>
              </a:ext>
            </a:extLst>
          </p:cNvPr>
          <p:cNvSpPr>
            <a:spLocks noGrp="1"/>
          </p:cNvSpPr>
          <p:nvPr>
            <p:ph type="dt" sz="half" idx="10"/>
          </p:nvPr>
        </p:nvSpPr>
        <p:spPr/>
        <p:txBody>
          <a:bodyPr/>
          <a:lstStyle/>
          <a:p>
            <a:fld id="{D810115E-3D8A-4DAA-87FA-D3DD73D050DC}" type="datetime1">
              <a:rPr lang="en-AU" smtClean="0"/>
              <a:t>4/09/2025</a:t>
            </a:fld>
            <a:endParaRPr lang="en-AU"/>
          </a:p>
        </p:txBody>
      </p:sp>
      <p:sp>
        <p:nvSpPr>
          <p:cNvPr id="5" name="Footer Placeholder 4">
            <a:extLst>
              <a:ext uri="{FF2B5EF4-FFF2-40B4-BE49-F238E27FC236}">
                <a16:creationId xmlns:a16="http://schemas.microsoft.com/office/drawing/2014/main" id="{FEF63B92-ADAE-45A0-A0E6-63AB17F9260C}"/>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6AE6A429-2277-DF3D-7AB6-9FAE8712F398}"/>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5446074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BF07B8-E016-AC55-2AB1-6746D43A37B5}"/>
              </a:ext>
            </a:extLst>
          </p:cNvPr>
          <p:cNvSpPr/>
          <p:nvPr userDrawn="1"/>
        </p:nvSpPr>
        <p:spPr>
          <a:xfrm>
            <a:off x="2895600" y="228600"/>
            <a:ext cx="6400800" cy="6400800"/>
          </a:xfrm>
          <a:prstGeom prst="rect">
            <a:avLst/>
          </a:prstGeom>
          <a:blipFill dpi="0" rotWithShape="1">
            <a:blip r:embed="rId13">
              <a:alphaModFix amt="2000"/>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 name="Title Placeholder 1">
            <a:extLst>
              <a:ext uri="{FF2B5EF4-FFF2-40B4-BE49-F238E27FC236}">
                <a16:creationId xmlns:a16="http://schemas.microsoft.com/office/drawing/2014/main" id="{5116B0E1-9E7F-1492-DEE4-8760C5D63B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a:extLst>
              <a:ext uri="{FF2B5EF4-FFF2-40B4-BE49-F238E27FC236}">
                <a16:creationId xmlns:a16="http://schemas.microsoft.com/office/drawing/2014/main" id="{C2A55374-AE63-F136-FC33-8130421A2B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a:extLst>
              <a:ext uri="{FF2B5EF4-FFF2-40B4-BE49-F238E27FC236}">
                <a16:creationId xmlns:a16="http://schemas.microsoft.com/office/drawing/2014/main" id="{A69C30DE-80AB-B8C8-051A-2FE75A86F60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9A594CD-256C-4B5B-A5E3-932D9DC43440}" type="datetime1">
              <a:rPr lang="en-AU" smtClean="0"/>
              <a:t>4/09/2025</a:t>
            </a:fld>
            <a:endParaRPr lang="en-AU"/>
          </a:p>
        </p:txBody>
      </p:sp>
      <p:sp>
        <p:nvSpPr>
          <p:cNvPr id="5" name="Footer Placeholder 4">
            <a:extLst>
              <a:ext uri="{FF2B5EF4-FFF2-40B4-BE49-F238E27FC236}">
                <a16:creationId xmlns:a16="http://schemas.microsoft.com/office/drawing/2014/main" id="{4F7349BA-7C2F-C851-CA38-B16DB61855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96B3264D-FEA9-9801-3CD3-93F6229DABC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ACA90-E1C3-4C19-87AA-D4513B3BCE17}" type="slidenum">
              <a:rPr lang="en-AU" smtClean="0"/>
              <a:t>‹#›</a:t>
            </a:fld>
            <a:endParaRPr lang="en-AU"/>
          </a:p>
        </p:txBody>
      </p:sp>
      <p:pic>
        <p:nvPicPr>
          <p:cNvPr id="8" name="Picture 7">
            <a:extLst>
              <a:ext uri="{FF2B5EF4-FFF2-40B4-BE49-F238E27FC236}">
                <a16:creationId xmlns:a16="http://schemas.microsoft.com/office/drawing/2014/main" id="{BC960397-B4A7-9B2C-C9BD-B2CC7993C868}"/>
              </a:ext>
            </a:extLst>
          </p:cNvPr>
          <p:cNvPicPr>
            <a:picLocks noChangeAspect="1"/>
          </p:cNvPicPr>
          <p:nvPr userDrawn="1"/>
        </p:nvPicPr>
        <p:blipFill>
          <a:blip r:embed="rId14">
            <a:extLst>
              <a:ext uri="{28A0092B-C50C-407E-A947-70E740481C1C}">
                <a14:useLocalDpi xmlns:a14="http://schemas.microsoft.com/office/drawing/2010/main" val="0"/>
              </a:ext>
            </a:extLst>
          </a:blip>
          <a:srcRect r="21035" b="91521"/>
          <a:stretch>
            <a:fillRect/>
          </a:stretch>
        </p:blipFill>
        <p:spPr>
          <a:xfrm>
            <a:off x="0" y="6765925"/>
            <a:ext cx="12192000" cy="92075"/>
          </a:xfrm>
          <a:prstGeom prst="rect">
            <a:avLst/>
          </a:prstGeom>
        </p:spPr>
      </p:pic>
    </p:spTree>
    <p:extLst>
      <p:ext uri="{BB962C8B-B14F-4D97-AF65-F5344CB8AC3E}">
        <p14:creationId xmlns:p14="http://schemas.microsoft.com/office/powerpoint/2010/main" val="1744192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05DB3-B159-E31B-C1F7-63722E7D6BD9}"/>
              </a:ext>
            </a:extLst>
          </p:cNvPr>
          <p:cNvSpPr>
            <a:spLocks noGrp="1"/>
          </p:cNvSpPr>
          <p:nvPr>
            <p:ph type="ctrTitle"/>
          </p:nvPr>
        </p:nvSpPr>
        <p:spPr>
          <a:xfrm>
            <a:off x="1302214" y="3169091"/>
            <a:ext cx="9587571" cy="1458280"/>
          </a:xfrm>
        </p:spPr>
        <p:txBody>
          <a:bodyPr>
            <a:noAutofit/>
          </a:bodyPr>
          <a:lstStyle/>
          <a:p>
            <a:r>
              <a:rPr lang="en-US" sz="5000" b="1" dirty="0" err="1">
                <a:solidFill>
                  <a:srgbClr val="053384"/>
                </a:solidFill>
                <a:latin typeface="Arial" panose="020B0604020202020204" pitchFamily="34" charset="0"/>
                <a:cs typeface="Arial" panose="020B0604020202020204" pitchFamily="34" charset="0"/>
              </a:rPr>
              <a:t>Nhận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diện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cảm</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xúc</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từ</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văn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bản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tiếng</a:t>
            </a:r>
            <a:r>
              <a:rPr lang="en-US" sz="5000" b="1" dirty="0">
                <a:solidFill>
                  <a:srgbClr val="053384"/>
                </a:solidFill>
                <a:latin typeface="Arial" panose="020B0604020202020204" pitchFamily="34" charset="0"/>
                <a:cs typeface="Arial" panose="020B0604020202020204" pitchFamily="34" charset="0"/>
              </a:rPr>
              <a:t> Việt </a:t>
            </a:r>
            <a:r>
              <a:rPr lang="en-US" sz="5000" b="1" dirty="0" err="1">
                <a:solidFill>
                  <a:srgbClr val="053384"/>
                </a:solidFill>
                <a:latin typeface="Arial" panose="020B0604020202020204" pitchFamily="34" charset="0"/>
                <a:cs typeface="Arial" panose="020B0604020202020204" pitchFamily="34" charset="0"/>
              </a:rPr>
              <a:t>bằng</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mô</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hình</a:t>
            </a:r>
            <a:r>
              <a:rPr lang="en-US" sz="5000" b="1" dirty="0">
                <a:solidFill>
                  <a:srgbClr val="053384"/>
                </a:solidFill>
                <a:latin typeface="Arial" panose="020B0604020202020204" pitchFamily="34" charset="0"/>
                <a:cs typeface="Arial" panose="020B0604020202020204" pitchFamily="34" charset="0"/>
              </a:rPr>
              <a:t> NLP</a:t>
            </a:r>
            <a:endParaRPr lang="en-AU" sz="5000" b="1" dirty="0">
              <a:solidFill>
                <a:srgbClr val="053384"/>
              </a:solidFill>
              <a:latin typeface="Arial" panose="020B0604020202020204" pitchFamily="34" charset="0"/>
              <a:cs typeface="Arial" panose="020B0604020202020204" pitchFamily="34" charset="0"/>
            </a:endParaRPr>
          </a:p>
        </p:txBody>
      </p:sp>
      <p:sp>
        <p:nvSpPr>
          <p:cNvPr id="3" name="Subtitle 2">
            <a:extLst>
              <a:ext uri="{FF2B5EF4-FFF2-40B4-BE49-F238E27FC236}">
                <a16:creationId xmlns:a16="http://schemas.microsoft.com/office/drawing/2014/main" id="{1C7F5B1E-1CA5-6E47-A24C-3B970BC67179}"/>
              </a:ext>
            </a:extLst>
          </p:cNvPr>
          <p:cNvSpPr>
            <a:spLocks noGrp="1"/>
          </p:cNvSpPr>
          <p:nvPr>
            <p:ph type="subTitle" idx="1"/>
          </p:nvPr>
        </p:nvSpPr>
        <p:spPr>
          <a:xfrm>
            <a:off x="1696323" y="2315134"/>
            <a:ext cx="8799351" cy="1038708"/>
          </a:xfrm>
        </p:spPr>
        <p:txBody>
          <a:bodyPr>
            <a:normAutofit/>
          </a:bodyPr>
          <a:lstStyle/>
          <a:p>
            <a:pPr>
              <a:lnSpc>
                <a:spcPct val="100000"/>
              </a:lnSpc>
              <a:spcBef>
                <a:spcPts val="0"/>
              </a:spcBef>
            </a:pPr>
            <a:r>
              <a:rPr lang="en-US" b="1" dirty="0">
                <a:cs typeface="Arial" panose="020B0604020202020204" pitchFamily="34" charset="0"/>
              </a:rPr>
              <a:t>BÁO CÁO</a:t>
            </a:r>
          </a:p>
          <a:p>
            <a:pPr>
              <a:lnSpc>
                <a:spcPct val="100000"/>
              </a:lnSpc>
              <a:spcBef>
                <a:spcPts val="0"/>
              </a:spcBef>
            </a:pPr>
            <a:r>
              <a:rPr lang="en-US" b="1" dirty="0">
                <a:cs typeface="Arial" panose="020B0604020202020204" pitchFamily="34" charset="0"/>
              </a:rPr>
              <a:t>KHÓA LUẬN TỐT NGHIỆP</a:t>
            </a:r>
            <a:endParaRPr lang="en-AU" b="1" dirty="0">
              <a:cs typeface="Arial" panose="020B0604020202020204" pitchFamily="34" charset="0"/>
            </a:endParaRPr>
          </a:p>
        </p:txBody>
      </p:sp>
      <p:pic>
        <p:nvPicPr>
          <p:cNvPr id="5" name="Picture 4">
            <a:extLst>
              <a:ext uri="{FF2B5EF4-FFF2-40B4-BE49-F238E27FC236}">
                <a16:creationId xmlns:a16="http://schemas.microsoft.com/office/drawing/2014/main" id="{DF3738A5-7603-E0CC-6F2E-3383359E382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195" y="1041605"/>
            <a:ext cx="1038708" cy="1038708"/>
          </a:xfrm>
          <a:prstGeom prst="rect">
            <a:avLst/>
          </a:prstGeom>
          <a:noFill/>
        </p:spPr>
      </p:pic>
      <p:sp>
        <p:nvSpPr>
          <p:cNvPr id="7" name="TextBox 6">
            <a:extLst>
              <a:ext uri="{FF2B5EF4-FFF2-40B4-BE49-F238E27FC236}">
                <a16:creationId xmlns:a16="http://schemas.microsoft.com/office/drawing/2014/main" id="{42286185-8E11-F0F4-B66E-994BE542D48F}"/>
              </a:ext>
            </a:extLst>
          </p:cNvPr>
          <p:cNvSpPr txBox="1"/>
          <p:nvPr/>
        </p:nvSpPr>
        <p:spPr>
          <a:xfrm>
            <a:off x="5576644" y="2053919"/>
            <a:ext cx="991810" cy="246221"/>
          </a:xfrm>
          <a:prstGeom prst="rect">
            <a:avLst/>
          </a:prstGeom>
          <a:noFill/>
        </p:spPr>
        <p:txBody>
          <a:bodyPr wrap="square" rtlCol="0">
            <a:spAutoFit/>
          </a:bodyPr>
          <a:lstStyle/>
          <a:p>
            <a:r>
              <a:rPr lang="en-AU" sz="1000" b="1" dirty="0">
                <a:solidFill>
                  <a:srgbClr val="FF0000"/>
                </a:solidFill>
                <a:latin typeface="Times New Roman" panose="02020603050405020304" pitchFamily="18" charset="0"/>
                <a:cs typeface="Times New Roman" panose="02020603050405020304" pitchFamily="18" charset="0"/>
              </a:rPr>
              <a:t>ISO 9001:2015</a:t>
            </a:r>
          </a:p>
        </p:txBody>
      </p:sp>
      <p:sp>
        <p:nvSpPr>
          <p:cNvPr id="9" name="TextBox 8">
            <a:extLst>
              <a:ext uri="{FF2B5EF4-FFF2-40B4-BE49-F238E27FC236}">
                <a16:creationId xmlns:a16="http://schemas.microsoft.com/office/drawing/2014/main" id="{3E1F16EE-5C1A-BE30-1BE5-7716B1C84704}"/>
              </a:ext>
            </a:extLst>
          </p:cNvPr>
          <p:cNvSpPr txBox="1"/>
          <p:nvPr/>
        </p:nvSpPr>
        <p:spPr>
          <a:xfrm>
            <a:off x="1302214" y="4932202"/>
            <a:ext cx="4936028" cy="369332"/>
          </a:xfrm>
          <a:prstGeom prst="rect">
            <a:avLst/>
          </a:prstGeom>
          <a:noFill/>
        </p:spPr>
        <p:txBody>
          <a:bodyPr wrap="square" rtlCol="0">
            <a:spAutoFit/>
          </a:bodyPr>
          <a:lstStyle/>
          <a:p>
            <a:r>
              <a:rPr lang="en-US" dirty="0" err="1"/>
              <a:t>Giảng</a:t>
            </a:r>
            <a:r>
              <a:rPr lang="en-US" dirty="0"/>
              <a:t> </a:t>
            </a:r>
            <a:r>
              <a:rPr lang="en-US" dirty="0" err="1"/>
              <a:t>viên</a:t>
            </a:r>
            <a:r>
              <a:rPr lang="en-US" dirty="0"/>
              <a:t> </a:t>
            </a:r>
            <a:r>
              <a:rPr lang="en-US" dirty="0" err="1"/>
              <a:t>hướng</a:t>
            </a:r>
            <a:r>
              <a:rPr lang="en-US" dirty="0"/>
              <a:t> </a:t>
            </a:r>
            <a:r>
              <a:rPr lang="en-US" dirty="0" err="1"/>
              <a:t>dẫn</a:t>
            </a:r>
            <a:r>
              <a:rPr lang="en-US" dirty="0"/>
              <a:t>: </a:t>
            </a:r>
            <a:r>
              <a:rPr lang="en-US" b="1" dirty="0"/>
              <a:t>TS. Nguyễn </a:t>
            </a:r>
            <a:r>
              <a:rPr lang="en-US" b="1" dirty="0" err="1"/>
              <a:t>Nhứt</a:t>
            </a:r>
            <a:r>
              <a:rPr lang="en-US" b="1" dirty="0"/>
              <a:t> Lam</a:t>
            </a:r>
          </a:p>
        </p:txBody>
      </p:sp>
      <p:sp>
        <p:nvSpPr>
          <p:cNvPr id="4" name="TextBox 3">
            <a:extLst>
              <a:ext uri="{FF2B5EF4-FFF2-40B4-BE49-F238E27FC236}">
                <a16:creationId xmlns:a16="http://schemas.microsoft.com/office/drawing/2014/main" id="{27E08DAE-00A5-67E2-9F16-346471A09862}"/>
              </a:ext>
            </a:extLst>
          </p:cNvPr>
          <p:cNvSpPr txBox="1"/>
          <p:nvPr/>
        </p:nvSpPr>
        <p:spPr>
          <a:xfrm>
            <a:off x="6591903" y="4932202"/>
            <a:ext cx="4936028" cy="923330"/>
          </a:xfrm>
          <a:prstGeom prst="rect">
            <a:avLst/>
          </a:prstGeom>
          <a:noFill/>
        </p:spPr>
        <p:txBody>
          <a:bodyPr wrap="square" rtlCol="0">
            <a:spAutoFit/>
          </a:bodyPr>
          <a:lstStyle/>
          <a:p>
            <a:r>
              <a:rPr lang="en-US" dirty="0"/>
              <a:t>Sinh </a:t>
            </a:r>
            <a:r>
              <a:rPr lang="en-US" dirty="0" err="1"/>
              <a:t>viên</a:t>
            </a:r>
            <a:r>
              <a:rPr lang="en-US" dirty="0"/>
              <a:t> </a:t>
            </a:r>
            <a:r>
              <a:rPr lang="en-US" dirty="0" err="1"/>
              <a:t>thực</a:t>
            </a:r>
            <a:r>
              <a:rPr lang="en-US" dirty="0"/>
              <a:t> </a:t>
            </a:r>
            <a:r>
              <a:rPr lang="en-US" dirty="0" err="1"/>
              <a:t>hiện</a:t>
            </a:r>
            <a:r>
              <a:rPr lang="en-US" dirty="0"/>
              <a:t>: </a:t>
            </a:r>
            <a:r>
              <a:rPr lang="en-US" b="1" dirty="0"/>
              <a:t>Dương Văn </a:t>
            </a:r>
            <a:r>
              <a:rPr lang="en-US" b="1" dirty="0" err="1"/>
              <a:t>Hiệp</a:t>
            </a:r>
            <a:endParaRPr lang="en-US" b="1" dirty="0"/>
          </a:p>
          <a:p>
            <a:r>
              <a:rPr lang="en-US" dirty="0" err="1"/>
              <a:t>Mã</a:t>
            </a:r>
            <a:r>
              <a:rPr lang="en-US" dirty="0"/>
              <a:t> </a:t>
            </a:r>
            <a:r>
              <a:rPr lang="en-US" dirty="0" err="1"/>
              <a:t>số</a:t>
            </a:r>
            <a:r>
              <a:rPr lang="en-US" dirty="0"/>
              <a:t> </a:t>
            </a:r>
            <a:r>
              <a:rPr lang="en-US" dirty="0" err="1"/>
              <a:t>sinh</a:t>
            </a:r>
            <a:r>
              <a:rPr lang="en-US" dirty="0"/>
              <a:t> </a:t>
            </a:r>
            <a:r>
              <a:rPr lang="en-US" dirty="0" err="1"/>
              <a:t>viên</a:t>
            </a:r>
            <a:r>
              <a:rPr lang="en-US" dirty="0"/>
              <a:t>:         </a:t>
            </a:r>
            <a:r>
              <a:rPr lang="en-US" b="1" dirty="0"/>
              <a:t>110121209</a:t>
            </a:r>
          </a:p>
          <a:p>
            <a:r>
              <a:rPr lang="en-US" dirty="0" err="1"/>
              <a:t>Mã</a:t>
            </a:r>
            <a:r>
              <a:rPr lang="en-US" dirty="0"/>
              <a:t> </a:t>
            </a:r>
            <a:r>
              <a:rPr lang="en-US" dirty="0" err="1"/>
              <a:t>lớp</a:t>
            </a:r>
            <a:r>
              <a:rPr lang="en-US" dirty="0"/>
              <a:t>:		   </a:t>
            </a:r>
            <a:r>
              <a:rPr lang="en-US" b="1" dirty="0"/>
              <a:t>DA21TTB</a:t>
            </a:r>
          </a:p>
        </p:txBody>
      </p:sp>
      <p:sp>
        <p:nvSpPr>
          <p:cNvPr id="10" name="Subtitle 2">
            <a:extLst>
              <a:ext uri="{FF2B5EF4-FFF2-40B4-BE49-F238E27FC236}">
                <a16:creationId xmlns:a16="http://schemas.microsoft.com/office/drawing/2014/main" id="{57BE3716-01A5-6410-7020-5442BE0F3F27}"/>
              </a:ext>
            </a:extLst>
          </p:cNvPr>
          <p:cNvSpPr txBox="1">
            <a:spLocks/>
          </p:cNvSpPr>
          <p:nvPr/>
        </p:nvSpPr>
        <p:spPr>
          <a:xfrm>
            <a:off x="1696324" y="193397"/>
            <a:ext cx="8799351" cy="103870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100000"/>
              </a:lnSpc>
              <a:spcBef>
                <a:spcPts val="0"/>
              </a:spcBef>
            </a:pPr>
            <a:r>
              <a:rPr lang="en-US" sz="2200" dirty="0">
                <a:cs typeface="Arial" panose="020B0604020202020204" pitchFamily="34" charset="0"/>
              </a:rPr>
              <a:t>TRƯỜNG ĐẠI HỌC TRÀ VINH</a:t>
            </a:r>
          </a:p>
          <a:p>
            <a:pPr>
              <a:lnSpc>
                <a:spcPct val="100000"/>
              </a:lnSpc>
              <a:spcBef>
                <a:spcPts val="0"/>
              </a:spcBef>
            </a:pPr>
            <a:r>
              <a:rPr lang="en-AU" sz="2200" b="1" dirty="0">
                <a:cs typeface="Arial" panose="020B0604020202020204" pitchFamily="34" charset="0"/>
              </a:rPr>
              <a:t>TRƯỜNG KỸ THUẬT VÀ CÔNG NGHỆ</a:t>
            </a:r>
          </a:p>
        </p:txBody>
      </p:sp>
    </p:spTree>
    <p:extLst>
      <p:ext uri="{BB962C8B-B14F-4D97-AF65-F5344CB8AC3E}">
        <p14:creationId xmlns:p14="http://schemas.microsoft.com/office/powerpoint/2010/main" val="30552615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86DC7BD-5577-1836-330F-9B6A7681BD78}"/>
              </a:ext>
            </a:extLst>
          </p:cNvPr>
          <p:cNvSpPr>
            <a:spLocks noGrp="1"/>
          </p:cNvSpPr>
          <p:nvPr>
            <p:ph type="sldNum" sz="quarter" idx="12"/>
          </p:nvPr>
        </p:nvSpPr>
        <p:spPr/>
        <p:txBody>
          <a:bodyPr/>
          <a:lstStyle/>
          <a:p>
            <a:fld id="{C1DACA90-E1C3-4C19-87AA-D4513B3BCE17}" type="slidenum">
              <a:rPr lang="en-AU" smtClean="0"/>
              <a:t>1</a:t>
            </a:fld>
            <a:endParaRPr lang="en-AU" dirty="0"/>
          </a:p>
        </p:txBody>
      </p:sp>
      <p:pic>
        <p:nvPicPr>
          <p:cNvPr id="9" name="Picture 8">
            <a:extLst>
              <a:ext uri="{FF2B5EF4-FFF2-40B4-BE49-F238E27FC236}">
                <a16:creationId xmlns:a16="http://schemas.microsoft.com/office/drawing/2014/main" id="{35ADE01E-C04B-268D-38A8-29187BBD785B}"/>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11" name="TextBox 10">
            <a:extLst>
              <a:ext uri="{FF2B5EF4-FFF2-40B4-BE49-F238E27FC236}">
                <a16:creationId xmlns:a16="http://schemas.microsoft.com/office/drawing/2014/main" id="{ED4B9551-2363-70A4-AD2B-5FCB6A76ECBF}"/>
              </a:ext>
            </a:extLst>
          </p:cNvPr>
          <p:cNvSpPr txBox="1"/>
          <p:nvPr/>
        </p:nvSpPr>
        <p:spPr>
          <a:xfrm>
            <a:off x="134696" y="364558"/>
            <a:ext cx="2446867"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NỘI DUNG</a:t>
            </a:r>
          </a:p>
        </p:txBody>
      </p:sp>
      <p:sp>
        <p:nvSpPr>
          <p:cNvPr id="12" name="TextBox 11">
            <a:extLst>
              <a:ext uri="{FF2B5EF4-FFF2-40B4-BE49-F238E27FC236}">
                <a16:creationId xmlns:a16="http://schemas.microsoft.com/office/drawing/2014/main" id="{EB2300F8-68F9-FF45-3619-3FF5ED960370}"/>
              </a:ext>
            </a:extLst>
          </p:cNvPr>
          <p:cNvSpPr txBox="1"/>
          <p:nvPr/>
        </p:nvSpPr>
        <p:spPr>
          <a:xfrm>
            <a:off x="1358128" y="1832942"/>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TỔNG QUAN ĐỀ TÀI</a:t>
            </a:r>
          </a:p>
        </p:txBody>
      </p:sp>
      <p:sp>
        <p:nvSpPr>
          <p:cNvPr id="13" name="TextBox 12">
            <a:extLst>
              <a:ext uri="{FF2B5EF4-FFF2-40B4-BE49-F238E27FC236}">
                <a16:creationId xmlns:a16="http://schemas.microsoft.com/office/drawing/2014/main" id="{432E0572-74B2-B064-B929-63F9F2D7D9CC}"/>
              </a:ext>
            </a:extLst>
          </p:cNvPr>
          <p:cNvSpPr txBox="1"/>
          <p:nvPr/>
        </p:nvSpPr>
        <p:spPr>
          <a:xfrm>
            <a:off x="1358129" y="2633162"/>
            <a:ext cx="8081146"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II.</a:t>
            </a:r>
            <a:r>
              <a:rPr lang="en-US" sz="2000" dirty="0">
                <a:latin typeface="Arial" panose="020B0604020202020204" pitchFamily="34" charset="0"/>
                <a:cs typeface="Arial" panose="020B0604020202020204" pitchFamily="34" charset="0"/>
              </a:rPr>
              <a:t> NGHIÊN CỨU LÝ THUYẾT</a:t>
            </a:r>
          </a:p>
        </p:txBody>
      </p:sp>
      <p:sp>
        <p:nvSpPr>
          <p:cNvPr id="14" name="TextBox 13">
            <a:extLst>
              <a:ext uri="{FF2B5EF4-FFF2-40B4-BE49-F238E27FC236}">
                <a16:creationId xmlns:a16="http://schemas.microsoft.com/office/drawing/2014/main" id="{9452B722-7DB6-7448-59F4-54697242BB83}"/>
              </a:ext>
            </a:extLst>
          </p:cNvPr>
          <p:cNvSpPr txBox="1"/>
          <p:nvPr/>
        </p:nvSpPr>
        <p:spPr>
          <a:xfrm>
            <a:off x="1358129" y="4233602"/>
            <a:ext cx="85097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IV.</a:t>
            </a:r>
            <a:r>
              <a:rPr lang="en-US" sz="2000" dirty="0">
                <a:latin typeface="Arial" panose="020B0604020202020204" pitchFamily="34" charset="0"/>
                <a:cs typeface="Arial" panose="020B0604020202020204" pitchFamily="34" charset="0"/>
              </a:rPr>
              <a:t> XÂY DỰNG ỨNG DỤNG THỬ NGHIỆM</a:t>
            </a:r>
          </a:p>
        </p:txBody>
      </p:sp>
      <p:sp>
        <p:nvSpPr>
          <p:cNvPr id="15" name="TextBox 14">
            <a:extLst>
              <a:ext uri="{FF2B5EF4-FFF2-40B4-BE49-F238E27FC236}">
                <a16:creationId xmlns:a16="http://schemas.microsoft.com/office/drawing/2014/main" id="{26461347-FAD6-D020-C1F5-D34FF6B49154}"/>
              </a:ext>
            </a:extLst>
          </p:cNvPr>
          <p:cNvSpPr txBox="1"/>
          <p:nvPr/>
        </p:nvSpPr>
        <p:spPr>
          <a:xfrm>
            <a:off x="1358129" y="3433382"/>
            <a:ext cx="776682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III.</a:t>
            </a:r>
            <a:r>
              <a:rPr lang="en-US" sz="2000" dirty="0">
                <a:latin typeface="Arial" panose="020B0604020202020204" pitchFamily="34" charset="0"/>
                <a:cs typeface="Arial" panose="020B0604020202020204" pitchFamily="34" charset="0"/>
              </a:rPr>
              <a:t> HUẤN LUYỆN MÔ HÌNH</a:t>
            </a:r>
          </a:p>
        </p:txBody>
      </p:sp>
      <p:sp>
        <p:nvSpPr>
          <p:cNvPr id="16" name="TextBox 15">
            <a:extLst>
              <a:ext uri="{FF2B5EF4-FFF2-40B4-BE49-F238E27FC236}">
                <a16:creationId xmlns:a16="http://schemas.microsoft.com/office/drawing/2014/main" id="{A2500CDA-9E3B-9575-1F05-A0345277871D}"/>
              </a:ext>
            </a:extLst>
          </p:cNvPr>
          <p:cNvSpPr txBox="1"/>
          <p:nvPr/>
        </p:nvSpPr>
        <p:spPr>
          <a:xfrm>
            <a:off x="1358129" y="5034836"/>
            <a:ext cx="7766820"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V.</a:t>
            </a:r>
            <a:r>
              <a:rPr lang="en-US" sz="2000" dirty="0">
                <a:latin typeface="Arial" panose="020B0604020202020204" pitchFamily="34" charset="0"/>
                <a:cs typeface="Arial" panose="020B0604020202020204" pitchFamily="34" charset="0"/>
              </a:rPr>
              <a:t> KẾT LUẬN VÀ HƯỚNG PHÁT TRIỂN</a:t>
            </a:r>
          </a:p>
        </p:txBody>
      </p:sp>
    </p:spTree>
    <p:extLst>
      <p:ext uri="{BB962C8B-B14F-4D97-AF65-F5344CB8AC3E}">
        <p14:creationId xmlns:p14="http://schemas.microsoft.com/office/powerpoint/2010/main" val="1276395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BBB80-9CEB-0966-664B-BE49E3B6ECB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2846F36-3B87-7255-4A45-F439C388A6F7}"/>
              </a:ext>
            </a:extLst>
          </p:cNvPr>
          <p:cNvSpPr>
            <a:spLocks noGrp="1"/>
          </p:cNvSpPr>
          <p:nvPr>
            <p:ph type="sldNum" sz="quarter" idx="12"/>
          </p:nvPr>
        </p:nvSpPr>
        <p:spPr/>
        <p:txBody>
          <a:bodyPr/>
          <a:lstStyle/>
          <a:p>
            <a:fld id="{C1DACA90-E1C3-4C19-87AA-D4513B3BCE17}" type="slidenum">
              <a:rPr lang="en-AU" smtClean="0"/>
              <a:t>2</a:t>
            </a:fld>
            <a:endParaRPr lang="en-AU" dirty="0"/>
          </a:p>
        </p:txBody>
      </p:sp>
      <p:sp>
        <p:nvSpPr>
          <p:cNvPr id="11" name="TextBox 10">
            <a:extLst>
              <a:ext uri="{FF2B5EF4-FFF2-40B4-BE49-F238E27FC236}">
                <a16:creationId xmlns:a16="http://schemas.microsoft.com/office/drawing/2014/main" id="{8C09D276-A6F2-D652-43BC-43CCBB1315D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 TỔNG QUAN ĐỀ TÀI</a:t>
            </a:r>
          </a:p>
        </p:txBody>
      </p:sp>
      <p:sp>
        <p:nvSpPr>
          <p:cNvPr id="12" name="TextBox 11">
            <a:extLst>
              <a:ext uri="{FF2B5EF4-FFF2-40B4-BE49-F238E27FC236}">
                <a16:creationId xmlns:a16="http://schemas.microsoft.com/office/drawing/2014/main" id="{F571DFC1-398B-0B65-C13A-F8CE6F01FD8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1.1. Lý do </a:t>
            </a:r>
            <a:r>
              <a:rPr lang="en-US" sz="2000" b="1" dirty="0" err="1">
                <a:latin typeface="Arial" panose="020B0604020202020204" pitchFamily="34" charset="0"/>
                <a:cs typeface="Arial" panose="020B0604020202020204" pitchFamily="34" charset="0"/>
              </a:rPr>
              <a:t>chọn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tài</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21BAE425-9057-761A-DD1A-A51FDAC16C1E}"/>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4FBFCB67-06DD-FF86-971D-B6D79528B546}"/>
              </a:ext>
            </a:extLst>
          </p:cNvPr>
          <p:cNvSpPr txBox="1"/>
          <p:nvPr/>
        </p:nvSpPr>
        <p:spPr>
          <a:xfrm>
            <a:off x="485775" y="1834557"/>
            <a:ext cx="3181350" cy="4473991"/>
          </a:xfrm>
          <a:prstGeom prst="roundRect">
            <a:avLst/>
          </a:prstGeom>
          <a:ln>
            <a:solidFill>
              <a:schemeClr val="tx2">
                <a:lumMod val="75000"/>
                <a:lumOff val="25000"/>
              </a:schemeClr>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V</a:t>
            </a:r>
            <a:r>
              <a:rPr lang="vi-VN" sz="2000" dirty="0">
                <a:latin typeface="Arial" panose="020B0604020202020204" pitchFamily="34" charset="0"/>
                <a:cs typeface="Arial" panose="020B0604020202020204" pitchFamily="34" charset="0"/>
              </a:rPr>
              <a:t>ới sự phát triển mạnh mẽ của các nền tảng thương mại điện tử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người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tiêu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xu </a:t>
            </a:r>
            <a:r>
              <a:rPr lang="en-US" sz="2000" dirty="0" err="1">
                <a:latin typeface="Arial" panose="020B0604020202020204" pitchFamily="34" charset="0"/>
                <a:cs typeface="Arial" panose="020B0604020202020204" pitchFamily="34" charset="0"/>
              </a:rPr>
              <a:t>hướng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mua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sắm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sang </a:t>
            </a:r>
            <a:r>
              <a:rPr lang="en-US" sz="2000" dirty="0" err="1">
                <a:latin typeface="Arial" panose="020B0604020202020204" pitchFamily="34" charset="0"/>
                <a:cs typeface="Arial" panose="020B0604020202020204" pitchFamily="34" charset="0"/>
              </a:rPr>
              <a:t>mua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sắm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tuyến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9F8E8B9A-3579-4226-48B2-CF7258453F10}"/>
              </a:ext>
            </a:extLst>
          </p:cNvPr>
          <p:cNvSpPr txBox="1"/>
          <p:nvPr/>
        </p:nvSpPr>
        <p:spPr>
          <a:xfrm>
            <a:off x="4505325" y="1834556"/>
            <a:ext cx="3181350" cy="4473991"/>
          </a:xfrm>
          <a:prstGeom prst="roundRect">
            <a:avLst/>
          </a:prstGeom>
          <a:ln>
            <a:solidFill>
              <a:schemeClr val="tx2">
                <a:lumMod val="75000"/>
                <a:lumOff val="25000"/>
              </a:schemeClr>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Các </a:t>
            </a:r>
            <a:r>
              <a:rPr lang="en-US" sz="2000" dirty="0" err="1">
                <a:latin typeface="Arial" panose="020B0604020202020204" pitchFamily="34" charset="0"/>
                <a:cs typeface="Arial" panose="020B0604020202020204" pitchFamily="34" charset="0"/>
              </a:rPr>
              <a:t>cửa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doanh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nghiệp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lượng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doanh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này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Việc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chăm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sóc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lấy</a:t>
            </a:r>
            <a:r>
              <a:rPr lang="en-US" sz="2000" dirty="0">
                <a:latin typeface="Arial" panose="020B0604020202020204" pitchFamily="34" charset="0"/>
                <a:cs typeface="Arial" panose="020B0604020202020204" pitchFamily="34" charset="0"/>
              </a:rPr>
              <a:t> ý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quan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trọng</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F6A8CE52-98B4-F58C-6BEA-A2CA794EFFD2}"/>
              </a:ext>
            </a:extLst>
          </p:cNvPr>
          <p:cNvSpPr txBox="1"/>
          <p:nvPr/>
        </p:nvSpPr>
        <p:spPr>
          <a:xfrm>
            <a:off x="8524875" y="1834555"/>
            <a:ext cx="3181350" cy="4473991"/>
          </a:xfrm>
          <a:prstGeom prst="roundRect">
            <a:avLst/>
          </a:prstGeom>
          <a:ln>
            <a:solidFill>
              <a:schemeClr val="tx2">
                <a:lumMod val="75000"/>
                <a:lumOff val="25000"/>
              </a:schemeClr>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algn="just">
              <a:lnSpc>
                <a:spcPct val="150000"/>
              </a:lnSpc>
            </a:pP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nhiều</a:t>
            </a:r>
            <a:r>
              <a:rPr lang="en-US" sz="2000" dirty="0">
                <a:latin typeface="Arial" panose="020B0604020202020204" pitchFamily="34" charset="0"/>
                <a:cs typeface="Arial" panose="020B0604020202020204" pitchFamily="34" charset="0"/>
              </a:rPr>
              <a:t> ý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vì</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vậy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cần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pháp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cửa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doanh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nghiệp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lượng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như</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vậy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cách</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động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và</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chính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xác</a:t>
            </a:r>
            <a:r>
              <a:rPr lang="en-US" sz="2000" dirty="0">
                <a:latin typeface="Arial" panose="020B0604020202020204" pitchFamily="34" charset="0"/>
                <a:cs typeface="Arial" panose="020B0604020202020204" pitchFamily="34" charset="0"/>
              </a:rPr>
              <a:t>.</a:t>
            </a:r>
          </a:p>
        </p:txBody>
      </p:sp>
      <p:sp>
        <p:nvSpPr>
          <p:cNvPr id="8" name="Arrow: Right 7">
            <a:extLst>
              <a:ext uri="{FF2B5EF4-FFF2-40B4-BE49-F238E27FC236}">
                <a16:creationId xmlns:a16="http://schemas.microsoft.com/office/drawing/2014/main" id="{A1CBFC9A-5A78-DB61-04EE-4758ACBDB2ED}"/>
              </a:ext>
            </a:extLst>
          </p:cNvPr>
          <p:cNvSpPr/>
          <p:nvPr/>
        </p:nvSpPr>
        <p:spPr>
          <a:xfrm>
            <a:off x="7745701" y="3872727"/>
            <a:ext cx="720148" cy="400110"/>
          </a:xfrm>
          <a:prstGeom prst="rightArrow">
            <a:avLst/>
          </a:prstGeom>
          <a:solidFill>
            <a:srgbClr val="FFCC00"/>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465D9263-8B2C-8A13-6CE0-57666435798B}"/>
              </a:ext>
            </a:extLst>
          </p:cNvPr>
          <p:cNvSpPr/>
          <p:nvPr/>
        </p:nvSpPr>
        <p:spPr>
          <a:xfrm>
            <a:off x="3726151" y="3872727"/>
            <a:ext cx="720148" cy="400110"/>
          </a:xfrm>
          <a:prstGeom prst="rightArrow">
            <a:avLst/>
          </a:prstGeom>
          <a:solidFill>
            <a:srgbClr val="FFCC00"/>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91717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EAAFC-B292-6998-7724-747B2D4A4BF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34B2A8-9BC7-9334-E069-567CABA938B2}"/>
              </a:ext>
            </a:extLst>
          </p:cNvPr>
          <p:cNvSpPr>
            <a:spLocks noGrp="1"/>
          </p:cNvSpPr>
          <p:nvPr>
            <p:ph type="sldNum" sz="quarter" idx="12"/>
          </p:nvPr>
        </p:nvSpPr>
        <p:spPr/>
        <p:txBody>
          <a:bodyPr/>
          <a:lstStyle/>
          <a:p>
            <a:fld id="{C1DACA90-E1C3-4C19-87AA-D4513B3BCE17}" type="slidenum">
              <a:rPr lang="en-AU" smtClean="0"/>
              <a:t>3</a:t>
            </a:fld>
            <a:endParaRPr lang="en-AU" dirty="0"/>
          </a:p>
        </p:txBody>
      </p:sp>
      <p:sp>
        <p:nvSpPr>
          <p:cNvPr id="11" name="TextBox 10">
            <a:extLst>
              <a:ext uri="{FF2B5EF4-FFF2-40B4-BE49-F238E27FC236}">
                <a16:creationId xmlns:a16="http://schemas.microsoft.com/office/drawing/2014/main" id="{A306B84D-B68E-DA92-D6C3-26AF1FBF2FE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 TỔNG QUAN ĐỀ TÀI</a:t>
            </a:r>
          </a:p>
        </p:txBody>
      </p:sp>
      <p:sp>
        <p:nvSpPr>
          <p:cNvPr id="12" name="TextBox 11">
            <a:extLst>
              <a:ext uri="{FF2B5EF4-FFF2-40B4-BE49-F238E27FC236}">
                <a16:creationId xmlns:a16="http://schemas.microsoft.com/office/drawing/2014/main" id="{33949B28-CF1C-0672-7003-C36F157630BF}"/>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1.2. </a:t>
            </a:r>
            <a:r>
              <a:rPr lang="en-US" sz="2000" b="1" dirty="0" err="1">
                <a:latin typeface="Arial" panose="020B0604020202020204" pitchFamily="34" charset="0"/>
                <a:cs typeface="Arial" panose="020B0604020202020204" pitchFamily="34" charset="0"/>
              </a:rPr>
              <a:t>Mục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tài</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31B91EAA-EF55-AA36-BD38-FC5FB3D2A8E1}"/>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B3209618-3413-33E7-F719-E13D743F8733}"/>
              </a:ext>
            </a:extLst>
          </p:cNvPr>
          <p:cNvSpPr txBox="1"/>
          <p:nvPr/>
        </p:nvSpPr>
        <p:spPr>
          <a:xfrm>
            <a:off x="485775" y="1834557"/>
            <a:ext cx="11191876"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Mục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chính</a:t>
            </a:r>
            <a:r>
              <a:rPr lang="en-US" sz="2000" b="1"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cứu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huấn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xúc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tiếng</a:t>
            </a:r>
            <a:r>
              <a:rPr lang="en-US" sz="2000" dirty="0">
                <a:latin typeface="Arial" panose="020B0604020202020204" pitchFamily="34" charset="0"/>
                <a:cs typeface="Arial" panose="020B0604020202020204" pitchFamily="34" charset="0"/>
              </a:rPr>
              <a:t> Việt. </a:t>
            </a:r>
            <a:r>
              <a:rPr lang="en-US" sz="2000" dirty="0" err="1">
                <a:latin typeface="Arial" panose="020B0604020202020204" pitchFamily="34" charset="0"/>
                <a:cs typeface="Arial" panose="020B0604020202020204" pitchFamily="34" charset="0"/>
              </a:rPr>
              <a:t>Cụ</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của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đối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mua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 Tiki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nhãn</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dirty="0">
                <a:latin typeface="Arial" panose="020B0604020202020204" pitchFamily="34" charset="0"/>
                <a:cs typeface="Arial" panose="020B0604020202020204" pitchFamily="34" charset="0"/>
              </a:rPr>
              <a: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trung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lập</a:t>
            </a:r>
            <a:r>
              <a:rPr lang="en-US" sz="2000" dirty="0">
                <a:latin typeface="Arial" panose="020B0604020202020204" pitchFamily="34" charset="0"/>
                <a:cs typeface="Arial" panose="020B0604020202020204" pitchFamily="34" charset="0"/>
              </a:rPr>
              <a:t>.</a:t>
            </a:r>
            <a:endParaRPr lang="en-US" sz="2000" b="1"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7C6B260-B124-29EF-292C-3EDA61A23320}"/>
              </a:ext>
            </a:extLst>
          </p:cNvPr>
          <p:cNvSpPr txBox="1"/>
          <p:nvPr/>
        </p:nvSpPr>
        <p:spPr>
          <a:xfrm>
            <a:off x="485775" y="3405981"/>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Mục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học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tập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nghiên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cứu</a:t>
            </a:r>
            <a:r>
              <a:rPr lang="en-US" sz="2000" b="1" dirty="0">
                <a:latin typeface="Arial" panose="020B0604020202020204" pitchFamily="34" charset="0"/>
                <a:cs typeface="Arial" panose="020B0604020202020204" pitchFamily="34" charset="0"/>
              </a:rPr>
              <a:t>: </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Mở</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lĩnh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áp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nhiên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Làm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quen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sâu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nhiên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cứu</a:t>
            </a:r>
            <a:r>
              <a:rPr lang="en-US" sz="2000" dirty="0">
                <a:latin typeface="Arial" panose="020B0604020202020204" pitchFamily="34" charset="0"/>
                <a:cs typeface="Arial" panose="020B0604020202020204" pitchFamily="34" charset="0"/>
              </a:rPr>
              <a:t> khoa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tư</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duy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biện</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688089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36C9A-BBA8-768A-A5D2-7929F907CC1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A18EAEE-73E3-BF76-F6B3-F42FD5D2C81C}"/>
              </a:ext>
            </a:extLst>
          </p:cNvPr>
          <p:cNvSpPr>
            <a:spLocks noGrp="1"/>
          </p:cNvSpPr>
          <p:nvPr>
            <p:ph type="sldNum" sz="quarter" idx="12"/>
          </p:nvPr>
        </p:nvSpPr>
        <p:spPr/>
        <p:txBody>
          <a:bodyPr/>
          <a:lstStyle/>
          <a:p>
            <a:fld id="{C1DACA90-E1C3-4C19-87AA-D4513B3BCE17}" type="slidenum">
              <a:rPr lang="en-AU" smtClean="0"/>
              <a:t>4</a:t>
            </a:fld>
            <a:endParaRPr lang="en-AU" dirty="0"/>
          </a:p>
        </p:txBody>
      </p:sp>
      <p:sp>
        <p:nvSpPr>
          <p:cNvPr id="11" name="TextBox 10">
            <a:extLst>
              <a:ext uri="{FF2B5EF4-FFF2-40B4-BE49-F238E27FC236}">
                <a16:creationId xmlns:a16="http://schemas.microsoft.com/office/drawing/2014/main" id="{5F2FC0D3-34F1-82B0-3741-207E24118860}"/>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CF853B04-F357-788B-E186-F2753AEE2FDD}"/>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2.1. </a:t>
            </a: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ngôn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nhiên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249095D3-1425-35F0-20BE-0329841EBE89}"/>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EC6038B2-1947-5868-A442-991911C44E3D}"/>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7353B91D-A5D5-3E32-DF2F-7BDA7C35E96B}"/>
              </a:ext>
            </a:extLst>
          </p:cNvPr>
          <p:cNvSpPr txBox="1"/>
          <p:nvPr/>
        </p:nvSpPr>
        <p:spPr>
          <a:xfrm>
            <a:off x="367385" y="2522944"/>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ngôn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nhiên</a:t>
            </a:r>
            <a:r>
              <a:rPr lang="en-US" sz="2000" b="1" dirty="0">
                <a:latin typeface="Arial" panose="020B0604020202020204" pitchFamily="34" charset="0"/>
                <a:cs typeface="Arial" panose="020B0604020202020204" pitchFamily="34" charset="0"/>
              </a:rPr>
              <a:t> (Natural Language Processing - NLP)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lĩnh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giữa</a:t>
            </a:r>
            <a:r>
              <a:rPr lang="en-US" sz="2000" dirty="0">
                <a:latin typeface="Arial" panose="020B0604020202020204" pitchFamily="34" charset="0"/>
                <a:cs typeface="Arial" panose="020B0604020202020204" pitchFamily="34" charset="0"/>
              </a:rPr>
              <a:t> khoa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vi-VN" sz="2000" b="1" dirty="0">
                <a:latin typeface="Arial" panose="020B0604020202020204" pitchFamily="34" charset="0"/>
                <a:cs typeface="Arial" panose="020B0604020202020204" pitchFamily="34" charset="0"/>
              </a:rPr>
              <a:t>Mục tiêu của NLP</a:t>
            </a:r>
            <a:r>
              <a:rPr lang="vi-VN" sz="2000" dirty="0">
                <a:latin typeface="Arial" panose="020B0604020202020204" pitchFamily="34" charset="0"/>
                <a:cs typeface="Arial" panose="020B0604020202020204" pitchFamily="34" charset="0"/>
              </a:rPr>
              <a:t> là giúp máy tính có khả năng 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vi-VN" sz="2000" dirty="0">
                <a:latin typeface="Arial" panose="020B0604020202020204" pitchFamily="34" charset="0"/>
                <a:cs typeface="Arial" panose="020B0604020202020204" pitchFamily="34" charset="0"/>
              </a:rPr>
              <a:t> phân tích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tạo ra ngôn ngữ của con người, cả ở dạng văn bản lẫn giọng nói.</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71667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6268F-14AC-1D25-E67F-779FD6BF78C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64BBC4A-AC85-7D9F-E04F-363C78D3E093}"/>
              </a:ext>
            </a:extLst>
          </p:cNvPr>
          <p:cNvSpPr>
            <a:spLocks noGrp="1"/>
          </p:cNvSpPr>
          <p:nvPr>
            <p:ph type="sldNum" sz="quarter" idx="12"/>
          </p:nvPr>
        </p:nvSpPr>
        <p:spPr/>
        <p:txBody>
          <a:bodyPr/>
          <a:lstStyle/>
          <a:p>
            <a:fld id="{C1DACA90-E1C3-4C19-87AA-D4513B3BCE17}" type="slidenum">
              <a:rPr lang="en-AU" smtClean="0"/>
              <a:t>5</a:t>
            </a:fld>
            <a:endParaRPr lang="en-AU" dirty="0"/>
          </a:p>
        </p:txBody>
      </p:sp>
      <p:sp>
        <p:nvSpPr>
          <p:cNvPr id="11" name="TextBox 10">
            <a:extLst>
              <a:ext uri="{FF2B5EF4-FFF2-40B4-BE49-F238E27FC236}">
                <a16:creationId xmlns:a16="http://schemas.microsoft.com/office/drawing/2014/main" id="{8F27A161-6D03-F462-F27C-E1ECF142132F}"/>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C35B591E-FD2B-FFF9-AA49-724D5793D4C4}"/>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2.1. </a:t>
            </a: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ngôn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nhiên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170F94E5-27F1-9513-5858-5163130F664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C9BB89CA-538B-946A-23C8-F6AABEB6A2BC}"/>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Quy </a:t>
            </a:r>
            <a:r>
              <a:rPr lang="en-US" sz="2000" b="1" dirty="0" err="1">
                <a:latin typeface="Arial" panose="020B0604020202020204" pitchFamily="34" charset="0"/>
                <a:cs typeface="Arial" panose="020B0604020202020204" pitchFamily="34" charset="0"/>
              </a:rPr>
              <a:t>trình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gồm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nhiều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giai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đoạn</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BDA8629-8693-6CA3-160B-64DB45AB20B7}"/>
              </a:ext>
            </a:extLst>
          </p:cNvPr>
          <p:cNvSpPr txBox="1"/>
          <p:nvPr/>
        </p:nvSpPr>
        <p:spPr>
          <a:xfrm>
            <a:off x="367385" y="2522944"/>
            <a:ext cx="11191876" cy="2082202"/>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Thu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Biểu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trưng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Xây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sâu</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Đánh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tối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ưu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9079668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F441A-954B-EF3E-8351-CB3AF7957B9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7C4399C-CBFD-9071-9799-2725E3553007}"/>
              </a:ext>
            </a:extLst>
          </p:cNvPr>
          <p:cNvSpPr>
            <a:spLocks noGrp="1"/>
          </p:cNvSpPr>
          <p:nvPr>
            <p:ph type="sldNum" sz="quarter" idx="12"/>
          </p:nvPr>
        </p:nvSpPr>
        <p:spPr/>
        <p:txBody>
          <a:bodyPr/>
          <a:lstStyle/>
          <a:p>
            <a:fld id="{C1DACA90-E1C3-4C19-87AA-D4513B3BCE17}" type="slidenum">
              <a:rPr lang="en-AU" smtClean="0"/>
              <a:t>6</a:t>
            </a:fld>
            <a:endParaRPr lang="en-AU" dirty="0"/>
          </a:p>
        </p:txBody>
      </p:sp>
      <p:sp>
        <p:nvSpPr>
          <p:cNvPr id="11" name="TextBox 10">
            <a:extLst>
              <a:ext uri="{FF2B5EF4-FFF2-40B4-BE49-F238E27FC236}">
                <a16:creationId xmlns:a16="http://schemas.microsoft.com/office/drawing/2014/main" id="{DC772472-2A13-FDDB-1130-E8DFDF50CDCD}"/>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E3967A12-1CEA-E5A4-225E-2C72B1A1E2E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AC30FFD1-F4D0-2D17-745A-9FE850EA1F7D}"/>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E5A64092-AA4D-4EB1-D659-C606033D7165}"/>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endParaRPr lang="en-US" sz="2000"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530323DD-71B7-8A6C-6096-9382EF90C19C}"/>
              </a:ext>
            </a:extLst>
          </p:cNvPr>
          <p:cNvSpPr txBox="1"/>
          <p:nvPr/>
        </p:nvSpPr>
        <p:spPr>
          <a:xfrm>
            <a:off x="367385" y="2578832"/>
            <a:ext cx="11191876"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vi-VN" sz="2000" b="1" dirty="0">
                <a:latin typeface="Arial" panose="020B0604020202020204" pitchFamily="34" charset="0"/>
                <a:cs typeface="Arial" panose="020B0604020202020204" pitchFamily="34" charset="0"/>
              </a:rPr>
              <a:t>Phân tích cảm xúc (Sentiment Analysis)</a:t>
            </a:r>
            <a:r>
              <a:rPr lang="vi-VN" sz="2000" dirty="0">
                <a:latin typeface="Arial" panose="020B0604020202020204" pitchFamily="34" charset="0"/>
                <a:cs typeface="Arial" panose="020B0604020202020204" pitchFamily="34" charset="0"/>
              </a:rPr>
              <a:t> hay còn gọi là </a:t>
            </a:r>
            <a:r>
              <a:rPr lang="vi-VN" sz="2000" b="1" dirty="0">
                <a:latin typeface="Arial" panose="020B0604020202020204" pitchFamily="34" charset="0"/>
                <a:cs typeface="Arial" panose="020B0604020202020204" pitchFamily="34" charset="0"/>
              </a:rPr>
              <a:t>phân loại cảm xúc</a:t>
            </a:r>
            <a:r>
              <a:rPr lang="vi-VN" sz="2000" dirty="0">
                <a:latin typeface="Arial" panose="020B0604020202020204" pitchFamily="34" charset="0"/>
                <a:cs typeface="Arial" panose="020B0604020202020204" pitchFamily="34" charset="0"/>
              </a:rPr>
              <a:t>, là một nhánh quan trọng trong xử lý ngôn ngữ tự nhiên, tập trung vào việc xác định thái độ, quan điểm hoặc cảm xúc của người viết đối với một chủ đề cụ thể trong văn bản.</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04353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87735-5B4C-B30D-965A-D2680D9A2B5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9064F2F-1392-1499-68B1-2A08CF966F5C}"/>
              </a:ext>
            </a:extLst>
          </p:cNvPr>
          <p:cNvSpPr>
            <a:spLocks noGrp="1"/>
          </p:cNvSpPr>
          <p:nvPr>
            <p:ph type="sldNum" sz="quarter" idx="12"/>
          </p:nvPr>
        </p:nvSpPr>
        <p:spPr/>
        <p:txBody>
          <a:bodyPr/>
          <a:lstStyle/>
          <a:p>
            <a:fld id="{C1DACA90-E1C3-4C19-87AA-D4513B3BCE17}" type="slidenum">
              <a:rPr lang="en-AU" smtClean="0"/>
              <a:t>7</a:t>
            </a:fld>
            <a:endParaRPr lang="en-AU" dirty="0"/>
          </a:p>
        </p:txBody>
      </p:sp>
      <p:sp>
        <p:nvSpPr>
          <p:cNvPr id="11" name="TextBox 10">
            <a:extLst>
              <a:ext uri="{FF2B5EF4-FFF2-40B4-BE49-F238E27FC236}">
                <a16:creationId xmlns:a16="http://schemas.microsoft.com/office/drawing/2014/main" id="{F609F3F1-EB84-46B4-9F53-B72A5C2355E8}"/>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7DDE65B8-07E6-C8DC-94D0-49BCE5AA8DA4}"/>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C89DB9E9-DEB5-23BD-1102-9CED1F000FA6}"/>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2FB1B910-0F43-6D7C-D210-247B7B09353F}"/>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Ứng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dụng</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FE23CCD4-B53B-D353-9754-AC31F48530CF}"/>
              </a:ext>
            </a:extLst>
          </p:cNvPr>
          <p:cNvSpPr txBox="1"/>
          <p:nvPr/>
        </p:nvSpPr>
        <p:spPr>
          <a:xfrm>
            <a:off x="367385" y="2578832"/>
            <a:ext cx="11191876"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R</a:t>
            </a:r>
            <a:r>
              <a:rPr lang="vi-VN" sz="2000" b="1" dirty="0">
                <a:latin typeface="Arial" panose="020B0604020202020204" pitchFamily="34" charset="0"/>
                <a:cs typeface="Arial" panose="020B0604020202020204" pitchFamily="34" charset="0"/>
              </a:rPr>
              <a:t>ất nhiều ứng dụng trong thực tế</a:t>
            </a:r>
            <a:r>
              <a:rPr lang="vi-VN" sz="2000" dirty="0">
                <a:latin typeface="Arial" panose="020B0604020202020204" pitchFamily="34" charset="0"/>
                <a:cs typeface="Arial" panose="020B0604020202020204" pitchFamily="34" charset="0"/>
              </a:rPr>
              <a:t>, đặc biệt là trong lĩnh vực </a:t>
            </a:r>
            <a:r>
              <a:rPr lang="vi-VN" sz="2000" b="1" dirty="0">
                <a:latin typeface="Arial" panose="020B0604020202020204" pitchFamily="34" charset="0"/>
                <a:cs typeface="Arial" panose="020B0604020202020204" pitchFamily="34" charset="0"/>
              </a:rPr>
              <a:t>kinh doanh và chăm sóc khách h</a:t>
            </a:r>
            <a:r>
              <a:rPr lang="en-US" sz="2000" b="1" dirty="0" err="1">
                <a:latin typeface="Arial" panose="020B0604020202020204" pitchFamily="34" charset="0"/>
                <a:cs typeface="Arial" panose="020B0604020202020204" pitchFamily="34" charset="0"/>
              </a:rPr>
              <a:t>àng</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có thể sử dụng phân tích cảm xúc để theo dõi phản hồi của người tiêu dùng, đánh giá mức độ hài lòng về sản phẩm, dịch vụ hoặc thương hiệu, từ đó đưa ra chiến lược cải thiện phù hợp.</a:t>
            </a:r>
            <a:endParaRPr lang="en-US" sz="2000" dirty="0">
              <a:latin typeface="Arial" panose="020B0604020202020204" pitchFamily="34" charset="0"/>
              <a:cs typeface="Arial" panose="020B0604020202020204" pitchFamily="34" charset="0"/>
            </a:endParaRP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vi-VN" sz="2000" dirty="0">
                <a:latin typeface="Arial" panose="020B0604020202020204" pitchFamily="34" charset="0"/>
                <a:cs typeface="Arial" panose="020B0604020202020204" pitchFamily="34" charset="0"/>
              </a:rPr>
              <a:t>Ngoài ra, phân tích cảm xúc còn được ứng dụng trong </a:t>
            </a:r>
            <a:r>
              <a:rPr lang="vi-VN" sz="2000" b="1" dirty="0">
                <a:latin typeface="Arial" panose="020B0604020202020204" pitchFamily="34" charset="0"/>
                <a:cs typeface="Arial" panose="020B0604020202020204" pitchFamily="34" charset="0"/>
              </a:rPr>
              <a:t>phân tích dư luận xã hội, đánh giá hiệu quả chiến dịch truyền thông, quản lý danh tiếng và nhiều lĩnh vực khác.</a:t>
            </a:r>
            <a:endParaRPr lang="en-US"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802987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40F0C-2245-8EE1-4BED-742FFD90D06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F6D5E31-936E-F0A4-8C74-56DABAD156D3}"/>
              </a:ext>
            </a:extLst>
          </p:cNvPr>
          <p:cNvSpPr>
            <a:spLocks noGrp="1"/>
          </p:cNvSpPr>
          <p:nvPr>
            <p:ph type="sldNum" sz="quarter" idx="12"/>
          </p:nvPr>
        </p:nvSpPr>
        <p:spPr/>
        <p:txBody>
          <a:bodyPr/>
          <a:lstStyle/>
          <a:p>
            <a:fld id="{C1DACA90-E1C3-4C19-87AA-D4513B3BCE17}" type="slidenum">
              <a:rPr lang="en-AU" smtClean="0"/>
              <a:t>8</a:t>
            </a:fld>
            <a:endParaRPr lang="en-AU" dirty="0"/>
          </a:p>
        </p:txBody>
      </p:sp>
      <p:sp>
        <p:nvSpPr>
          <p:cNvPr id="11" name="TextBox 10">
            <a:extLst>
              <a:ext uri="{FF2B5EF4-FFF2-40B4-BE49-F238E27FC236}">
                <a16:creationId xmlns:a16="http://schemas.microsoft.com/office/drawing/2014/main" id="{3F135AF2-92E8-A3D0-5B65-565F9D3CAB52}"/>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443F9706-BC16-2A9F-E3BB-E78DFC609FF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C0EB3D2D-935B-AFDF-5D0B-2263D3DDFB3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CEEAC763-2A06-41C5-E901-94014AC7D8F7}"/>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Triển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khai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dưới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nhiều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mức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độ</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BDAADCB-3DDA-0014-B561-C734220B4EF3}"/>
              </a:ext>
            </a:extLst>
          </p:cNvPr>
          <p:cNvSpPr txBox="1"/>
          <p:nvPr/>
        </p:nvSpPr>
        <p:spPr>
          <a:xfrm>
            <a:off x="367385" y="2578832"/>
            <a:ext cx="11191876"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Mức câu:</a:t>
            </a:r>
            <a:r>
              <a:rPr lang="vi-VN" sz="2000" dirty="0">
                <a:latin typeface="Arial" panose="020B0604020202020204" pitchFamily="34" charset="0"/>
                <a:cs typeface="Arial" panose="020B0604020202020204" pitchFamily="34" charset="0"/>
              </a:rPr>
              <a:t> Xác định cảm xúc tổng thể của từng câu.</a:t>
            </a: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Mức đoạn văn, bình luận:</a:t>
            </a:r>
            <a:r>
              <a:rPr lang="vi-VN" sz="2000" dirty="0">
                <a:latin typeface="Arial" panose="020B0604020202020204" pitchFamily="34" charset="0"/>
                <a:cs typeface="Arial" panose="020B0604020202020204" pitchFamily="34" charset="0"/>
              </a:rPr>
              <a:t> Đánh giá cảm xúc chung của toàn bộ văn bản hoặc bài viết.</a:t>
            </a: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Mức thực thể: </a:t>
            </a:r>
            <a:r>
              <a:rPr lang="vi-VN" sz="2000" dirty="0">
                <a:latin typeface="Arial" panose="020B0604020202020204" pitchFamily="34" charset="0"/>
                <a:cs typeface="Arial" panose="020B0604020202020204" pitchFamily="34" charset="0"/>
              </a:rPr>
              <a:t>Phân tích cảm xúc hướng đến các khía cạnh cụ thể</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6009892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95AAB-1F4D-FF00-F495-7A06CB50788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10F6546-1AC5-4AC1-8E67-820D4EACD830}"/>
              </a:ext>
            </a:extLst>
          </p:cNvPr>
          <p:cNvSpPr>
            <a:spLocks noGrp="1"/>
          </p:cNvSpPr>
          <p:nvPr>
            <p:ph type="sldNum" sz="quarter" idx="12"/>
          </p:nvPr>
        </p:nvSpPr>
        <p:spPr/>
        <p:txBody>
          <a:bodyPr/>
          <a:lstStyle/>
          <a:p>
            <a:fld id="{C1DACA90-E1C3-4C19-87AA-D4513B3BCE17}" type="slidenum">
              <a:rPr lang="en-AU" smtClean="0"/>
              <a:t>9</a:t>
            </a:fld>
            <a:endParaRPr lang="en-AU" dirty="0"/>
          </a:p>
        </p:txBody>
      </p:sp>
      <p:sp>
        <p:nvSpPr>
          <p:cNvPr id="11" name="TextBox 10">
            <a:extLst>
              <a:ext uri="{FF2B5EF4-FFF2-40B4-BE49-F238E27FC236}">
                <a16:creationId xmlns:a16="http://schemas.microsoft.com/office/drawing/2014/main" id="{9CF81086-3888-71A2-C444-097D02EDA29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662EE26B-8601-BF28-DDC5-F0650D36A4D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DC307EBF-4BA5-0B9E-8655-F3982B4CD30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5D3E1CB8-16C2-3DEF-1A31-5B2046FDF805}"/>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Các </a:t>
            </a:r>
            <a:r>
              <a:rPr lang="en-US" sz="2000" b="1" dirty="0" err="1">
                <a:latin typeface="Arial" panose="020B0604020202020204" pitchFamily="34" charset="0"/>
                <a:cs typeface="Arial" panose="020B0604020202020204" pitchFamily="34" charset="0"/>
              </a:rPr>
              <a:t>phương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pháp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8539362C-CFA9-D516-ADDC-8C4C17C0E6BA}"/>
              </a:ext>
            </a:extLst>
          </p:cNvPr>
          <p:cNvSpPr txBox="1"/>
          <p:nvPr/>
        </p:nvSpPr>
        <p:spPr>
          <a:xfrm>
            <a:off x="367385" y="2578832"/>
            <a:ext cx="11191876"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Phương pháp dựa trên từ điển cảm xúc:</a:t>
            </a:r>
            <a:r>
              <a:rPr lang="vi-VN" sz="2000" dirty="0">
                <a:latin typeface="Arial" panose="020B0604020202020204" pitchFamily="34" charset="0"/>
                <a:cs typeface="Arial" panose="020B0604020202020204" pitchFamily="34" charset="0"/>
              </a:rPr>
              <a:t> Sử dụng một tập hợp từ điển chứa các từ có gán nhãn cảm xúc (ví dụ: “tuyệt vời” là tích cực, “tệ” là tiêu cực).</a:t>
            </a:r>
            <a:endParaRPr lang="en-US" sz="2000"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Phương pháp học máy truyền thống:</a:t>
            </a:r>
            <a:r>
              <a:rPr lang="en-US" sz="2000" b="1"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Các mô hình học từ dữ liệu huấn luyện đã được gán nhãn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dạng</a:t>
            </a:r>
            <a:r>
              <a:rPr lang="en-US" sz="2000" dirty="0">
                <a:latin typeface="Arial" panose="020B0604020202020204" pitchFamily="34" charset="0"/>
                <a:cs typeface="Arial" panose="020B0604020202020204" pitchFamily="34" charset="0"/>
              </a:rPr>
              <a:t> vector </a:t>
            </a:r>
            <a:r>
              <a:rPr lang="en-US" sz="2000" dirty="0" err="1">
                <a:latin typeface="Arial" panose="020B0604020202020204" pitchFamily="34" charset="0"/>
                <a:cs typeface="Arial" panose="020B0604020202020204" pitchFamily="34" charset="0"/>
              </a:rPr>
              <a:t>thông</a:t>
            </a:r>
            <a:r>
              <a:rPr lang="en-US" sz="2000" dirty="0">
                <a:latin typeface="Arial" panose="020B0604020202020204" pitchFamily="34" charset="0"/>
                <a:cs typeface="Arial" panose="020B0604020202020204" pitchFamily="34" charset="0"/>
              </a:rPr>
              <a:t> qua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trưng</a:t>
            </a:r>
            <a:r>
              <a:rPr lang="vi-VN" sz="2000" dirty="0">
                <a:latin typeface="Arial" panose="020B0604020202020204" pitchFamily="34" charset="0"/>
                <a:cs typeface="Arial" panose="020B0604020202020204" pitchFamily="34" charset="0"/>
              </a:rPr>
              <a:t> để rút ra quy tắc phân loại</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Phương pháp học sâu:</a:t>
            </a:r>
            <a:r>
              <a:rPr lang="vi-V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C</a:t>
            </a:r>
            <a:r>
              <a:rPr lang="vi-VN" sz="2000" dirty="0">
                <a:latin typeface="Arial" panose="020B0604020202020204" pitchFamily="34" charset="0"/>
                <a:cs typeface="Arial" panose="020B0604020202020204" pitchFamily="34" charset="0"/>
              </a:rPr>
              <a:t>ho phép khai thác tốt hơn mối quan hệ ngữ cảnh và cấu trúc ngôn ngữ trong văn bản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nghĩa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theo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giúp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xác</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945051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573A2-4E51-D266-D732-DEDBEC6371A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BE09199-A444-62F3-9460-1B7494FD64A2}"/>
              </a:ext>
            </a:extLst>
          </p:cNvPr>
          <p:cNvSpPr>
            <a:spLocks noGrp="1"/>
          </p:cNvSpPr>
          <p:nvPr>
            <p:ph type="sldNum" sz="quarter" idx="12"/>
          </p:nvPr>
        </p:nvSpPr>
        <p:spPr/>
        <p:txBody>
          <a:bodyPr/>
          <a:lstStyle/>
          <a:p>
            <a:fld id="{C1DACA90-E1C3-4C19-87AA-D4513B3BCE17}" type="slidenum">
              <a:rPr lang="en-AU" smtClean="0"/>
              <a:t>10</a:t>
            </a:fld>
            <a:endParaRPr lang="en-AU" dirty="0"/>
          </a:p>
        </p:txBody>
      </p:sp>
      <p:sp>
        <p:nvSpPr>
          <p:cNvPr id="11" name="TextBox 10">
            <a:extLst>
              <a:ext uri="{FF2B5EF4-FFF2-40B4-BE49-F238E27FC236}">
                <a16:creationId xmlns:a16="http://schemas.microsoft.com/office/drawing/2014/main" id="{36E68B75-9A2B-609B-7348-E902C29324FD}"/>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0BD9721C-EABA-5585-E9BE-9D159912423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2.3. </a:t>
            </a:r>
            <a:r>
              <a:rPr lang="en-US" sz="2000" b="1" dirty="0" err="1">
                <a:latin typeface="Arial" panose="020B0604020202020204" pitchFamily="34" charset="0"/>
                <a:cs typeface="Arial" panose="020B0604020202020204" pitchFamily="34" charset="0"/>
              </a:rPr>
              <a:t>Kỹ</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biểu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diễn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bản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DA94039F-154C-4574-E3EF-0A220ADCBADB}"/>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32A35406-D96A-2E77-884C-CE0FE637EAF9}"/>
              </a:ext>
            </a:extLst>
          </p:cNvPr>
          <p:cNvSpPr txBox="1"/>
          <p:nvPr/>
        </p:nvSpPr>
        <p:spPr>
          <a:xfrm>
            <a:off x="500062" y="1890445"/>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V</a:t>
            </a:r>
            <a:r>
              <a:rPr lang="vi-VN" sz="2000" dirty="0">
                <a:latin typeface="Arial" panose="020B0604020202020204" pitchFamily="34" charset="0"/>
                <a:cs typeface="Arial" panose="020B0604020202020204" pitchFamily="34" charset="0"/>
              </a:rPr>
              <a:t>ăn bản ở dạng tự nhiên là một chuỗi ký tự hoặc từ ngữ, nhưng để xử lý bằng các thuật toán học máy hoặc học sâu, văn bản cần được chuyển đổi sang dạng số hoặc vector đặc trưng.</a:t>
            </a:r>
            <a:endParaRPr lang="en-US" sz="2000" dirty="0">
              <a:latin typeface="Arial" panose="020B0604020202020204" pitchFamily="34" charset="0"/>
              <a:cs typeface="Arial" panose="020B0604020202020204" pitchFamily="34" charset="0"/>
            </a:endParaRP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V</a:t>
            </a:r>
            <a:r>
              <a:rPr lang="vi-VN" sz="2000" dirty="0">
                <a:latin typeface="Arial" panose="020B0604020202020204" pitchFamily="34" charset="0"/>
                <a:cs typeface="Arial" panose="020B0604020202020204" pitchFamily="34" charset="0"/>
              </a:rPr>
              <a:t>iệc biểu diễn văn bản dưới dạng mà máy tính có thể hiểu và xử lý được là một bước quan trọng, đặc biệt trong các bài toán phân loại văn bản như phân loại cảm xúc.</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5852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9A1AD-7B35-CB8F-D3F9-60DEE873937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C17D665-19E3-091E-34E5-C6187A656C3E}"/>
              </a:ext>
            </a:extLst>
          </p:cNvPr>
          <p:cNvSpPr>
            <a:spLocks noGrp="1"/>
          </p:cNvSpPr>
          <p:nvPr>
            <p:ph type="sldNum" sz="quarter" idx="12"/>
          </p:nvPr>
        </p:nvSpPr>
        <p:spPr/>
        <p:txBody>
          <a:bodyPr/>
          <a:lstStyle/>
          <a:p>
            <a:fld id="{C1DACA90-E1C3-4C19-87AA-D4513B3BCE17}" type="slidenum">
              <a:rPr lang="en-AU" smtClean="0"/>
              <a:t>11</a:t>
            </a:fld>
            <a:endParaRPr lang="en-AU" dirty="0"/>
          </a:p>
        </p:txBody>
      </p:sp>
      <p:sp>
        <p:nvSpPr>
          <p:cNvPr id="11" name="TextBox 10">
            <a:extLst>
              <a:ext uri="{FF2B5EF4-FFF2-40B4-BE49-F238E27FC236}">
                <a16:creationId xmlns:a16="http://schemas.microsoft.com/office/drawing/2014/main" id="{18A5C69B-8A78-C13F-171C-A3DA2F6BFA24}"/>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EE1850B2-147C-53ED-9320-40CBC01D784E}"/>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2.3. </a:t>
            </a:r>
            <a:r>
              <a:rPr lang="en-US" sz="2000" b="1" dirty="0" err="1">
                <a:latin typeface="Arial" panose="020B0604020202020204" pitchFamily="34" charset="0"/>
                <a:cs typeface="Arial" panose="020B0604020202020204" pitchFamily="34" charset="0"/>
              </a:rPr>
              <a:t>Kỹ</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biểu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diễn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bản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6405B53C-4EF4-EB55-1473-1957C3B2AE76}"/>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graphicFrame>
        <p:nvGraphicFramePr>
          <p:cNvPr id="5" name="Table 4">
            <a:extLst>
              <a:ext uri="{FF2B5EF4-FFF2-40B4-BE49-F238E27FC236}">
                <a16:creationId xmlns:a16="http://schemas.microsoft.com/office/drawing/2014/main" id="{80339C82-90B8-60C5-E4D6-05C9EA9D4AC3}"/>
              </a:ext>
            </a:extLst>
          </p:cNvPr>
          <p:cNvGraphicFramePr>
            <a:graphicFrameLocks noGrp="1"/>
          </p:cNvGraphicFramePr>
          <p:nvPr>
            <p:extLst>
              <p:ext uri="{D42A27DB-BD31-4B8C-83A1-F6EECF244321}">
                <p14:modId xmlns:p14="http://schemas.microsoft.com/office/powerpoint/2010/main" val="2892870138"/>
              </p:ext>
            </p:extLst>
          </p:nvPr>
        </p:nvGraphicFramePr>
        <p:xfrm>
          <a:off x="574674" y="2193010"/>
          <a:ext cx="10779126" cy="3427380"/>
        </p:xfrm>
        <a:graphic>
          <a:graphicData uri="http://schemas.openxmlformats.org/drawingml/2006/table">
            <a:tbl>
              <a:tblPr firstRow="1" bandRow="1">
                <a:tableStyleId>{5C22544A-7EE6-4342-B048-85BDC9FD1C3A}</a:tableStyleId>
              </a:tblPr>
              <a:tblGrid>
                <a:gridCol w="3593042">
                  <a:extLst>
                    <a:ext uri="{9D8B030D-6E8A-4147-A177-3AD203B41FA5}">
                      <a16:colId xmlns:a16="http://schemas.microsoft.com/office/drawing/2014/main" val="3948808496"/>
                    </a:ext>
                  </a:extLst>
                </a:gridCol>
                <a:gridCol w="3593042">
                  <a:extLst>
                    <a:ext uri="{9D8B030D-6E8A-4147-A177-3AD203B41FA5}">
                      <a16:colId xmlns:a16="http://schemas.microsoft.com/office/drawing/2014/main" val="1690995570"/>
                    </a:ext>
                  </a:extLst>
                </a:gridCol>
                <a:gridCol w="3593042">
                  <a:extLst>
                    <a:ext uri="{9D8B030D-6E8A-4147-A177-3AD203B41FA5}">
                      <a16:colId xmlns:a16="http://schemas.microsoft.com/office/drawing/2014/main" val="581978717"/>
                    </a:ext>
                  </a:extLst>
                </a:gridCol>
              </a:tblGrid>
              <a:tr h="685476">
                <a:tc>
                  <a:txBody>
                    <a:bodyPr/>
                    <a:lstStyle/>
                    <a:p>
                      <a:pPr algn="l"/>
                      <a:r>
                        <a:rPr lang="en-US" sz="1800" dirty="0" err="1">
                          <a:latin typeface="Arial" panose="020B0604020202020204" pitchFamily="34" charset="0"/>
                          <a:cs typeface="Arial" panose="020B0604020202020204" pitchFamily="34" charset="0"/>
                        </a:rPr>
                        <a:t>Đặc</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điểm</a:t>
                      </a:r>
                      <a:endParaRPr lang="en-US" sz="1800" dirty="0">
                        <a:latin typeface="Arial" panose="020B0604020202020204" pitchFamily="34" charset="0"/>
                        <a:cs typeface="Arial" panose="020B0604020202020204" pitchFamily="34" charset="0"/>
                      </a:endParaRPr>
                    </a:p>
                  </a:txBody>
                  <a:tcPr anchor="ctr"/>
                </a:tc>
                <a:tc>
                  <a:txBody>
                    <a:bodyPr/>
                    <a:lstStyle/>
                    <a:p>
                      <a:pPr algn="l"/>
                      <a:r>
                        <a:rPr lang="en-US" sz="1800" dirty="0">
                          <a:latin typeface="Arial" panose="020B0604020202020204" pitchFamily="34" charset="0"/>
                          <a:cs typeface="Arial" panose="020B0604020202020204" pitchFamily="34" charset="0"/>
                        </a:rPr>
                        <a:t>Bag of Words (</a:t>
                      </a:r>
                      <a:r>
                        <a:rPr lang="en-US" sz="1800" dirty="0" err="1">
                          <a:latin typeface="Arial" panose="020B0604020202020204" pitchFamily="34" charset="0"/>
                          <a:cs typeface="Arial" panose="020B0604020202020204" pitchFamily="34" charset="0"/>
                        </a:rPr>
                        <a:t>BoW</a:t>
                      </a:r>
                      <a:r>
                        <a:rPr lang="en-US" sz="1800" dirty="0">
                          <a:latin typeface="Arial" panose="020B0604020202020204" pitchFamily="34" charset="0"/>
                          <a:cs typeface="Arial" panose="020B0604020202020204" pitchFamily="34" charset="0"/>
                        </a:rPr>
                        <a:t>)</a:t>
                      </a:r>
                    </a:p>
                  </a:txBody>
                  <a:tcPr anchor="ctr"/>
                </a:tc>
                <a:tc>
                  <a:txBody>
                    <a:bodyPr/>
                    <a:lstStyle/>
                    <a:p>
                      <a:pPr algn="l"/>
                      <a:r>
                        <a:rPr lang="en-US" sz="1800" dirty="0">
                          <a:latin typeface="Arial" panose="020B0604020202020204" pitchFamily="34" charset="0"/>
                          <a:cs typeface="Arial" panose="020B0604020202020204" pitchFamily="34" charset="0"/>
                        </a:rPr>
                        <a:t>TF-IDF</a:t>
                      </a:r>
                    </a:p>
                  </a:txBody>
                  <a:tcPr anchor="ctr"/>
                </a:tc>
                <a:extLst>
                  <a:ext uri="{0D108BD9-81ED-4DB2-BD59-A6C34878D82A}">
                    <a16:rowId xmlns:a16="http://schemas.microsoft.com/office/drawing/2014/main" val="641435018"/>
                  </a:ext>
                </a:extLst>
              </a:tr>
              <a:tr h="685476">
                <a:tc>
                  <a:txBody>
                    <a:bodyPr/>
                    <a:lstStyle/>
                    <a:p>
                      <a:r>
                        <a:rPr lang="en-US" sz="1800" b="1" dirty="0" err="1">
                          <a:latin typeface="Arial" panose="020B0604020202020204" pitchFamily="34" charset="0"/>
                          <a:cs typeface="Arial" panose="020B0604020202020204" pitchFamily="34" charset="0"/>
                        </a:rPr>
                        <a:t>Cách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biểu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diễn</a:t>
                      </a:r>
                      <a:endParaRPr lang="en-US" sz="1800" b="1" dirty="0">
                        <a:latin typeface="Arial" panose="020B0604020202020204" pitchFamily="34" charset="0"/>
                        <a:cs typeface="Arial" panose="020B0604020202020204" pitchFamily="34" charset="0"/>
                      </a:endParaRPr>
                    </a:p>
                  </a:txBody>
                  <a:tcPr anchor="ctr"/>
                </a:tc>
                <a:tc>
                  <a:txBody>
                    <a:bodyPr/>
                    <a:lstStyle/>
                    <a:p>
                      <a:r>
                        <a:rPr lang="en-US" sz="1800" dirty="0" err="1">
                          <a:latin typeface="Arial" panose="020B0604020202020204" pitchFamily="34" charset="0"/>
                          <a:cs typeface="Arial" panose="020B0604020202020204" pitchFamily="34" charset="0"/>
                        </a:rPr>
                        <a:t>Đếm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số</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lần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từ</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xuất</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hiện</a:t>
                      </a:r>
                      <a:endParaRPr lang="en-US" sz="1800" dirty="0">
                        <a:latin typeface="Arial" panose="020B0604020202020204" pitchFamily="34" charset="0"/>
                        <a:cs typeface="Arial" panose="020B0604020202020204" pitchFamily="34" charset="0"/>
                      </a:endParaRPr>
                    </a:p>
                  </a:txBody>
                  <a:tcPr anchor="ctr"/>
                </a:tc>
                <a:tc>
                  <a:txBody>
                    <a:bodyPr/>
                    <a:lstStyle/>
                    <a:p>
                      <a:r>
                        <a:rPr lang="en-US" sz="1800" dirty="0" err="1">
                          <a:latin typeface="Arial" panose="020B0604020202020204" pitchFamily="34" charset="0"/>
                          <a:cs typeface="Arial" panose="020B0604020202020204" pitchFamily="34" charset="0"/>
                        </a:rPr>
                        <a:t>Đếm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từ</a:t>
                      </a:r>
                      <a:r>
                        <a:rPr lang="en-US" sz="1800" dirty="0">
                          <a:latin typeface="Arial" panose="020B0604020202020204" pitchFamily="34" charset="0"/>
                          <a:cs typeface="Arial" panose="020B0604020202020204" pitchFamily="34" charset="0"/>
                        </a:rPr>
                        <a:t> + </a:t>
                      </a:r>
                      <a:r>
                        <a:rPr lang="en-US" sz="1800" dirty="0" err="1">
                          <a:latin typeface="Arial" panose="020B0604020202020204" pitchFamily="34" charset="0"/>
                          <a:cs typeface="Arial" panose="020B0604020202020204" pitchFamily="34" charset="0"/>
                        </a:rPr>
                        <a:t>gán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trọng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số</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theo</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độ</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quan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trọng</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91317268"/>
                  </a:ext>
                </a:extLst>
              </a:tr>
              <a:tr h="685476">
                <a:tc>
                  <a:txBody>
                    <a:bodyPr/>
                    <a:lstStyle/>
                    <a:p>
                      <a:r>
                        <a:rPr lang="en-US" sz="1800" b="1" dirty="0" err="1">
                          <a:latin typeface="Arial" panose="020B0604020202020204" pitchFamily="34" charset="0"/>
                          <a:cs typeface="Arial" panose="020B0604020202020204" pitchFamily="34" charset="0"/>
                        </a:rPr>
                        <a:t>Đặc</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trưng</a:t>
                      </a:r>
                      <a:endParaRPr lang="en-US" sz="1800" b="1" dirty="0">
                        <a:latin typeface="Arial" panose="020B0604020202020204" pitchFamily="34" charset="0"/>
                        <a:cs typeface="Arial" panose="020B0604020202020204" pitchFamily="34" charset="0"/>
                      </a:endParaRPr>
                    </a:p>
                  </a:txBody>
                  <a:tcPr anchor="ctr"/>
                </a:tc>
                <a:tc>
                  <a:txBody>
                    <a:bodyPr/>
                    <a:lstStyle/>
                    <a:p>
                      <a:r>
                        <a:rPr lang="en-US" sz="1800" dirty="0" err="1">
                          <a:latin typeface="Arial" panose="020B0604020202020204" pitchFamily="34" charset="0"/>
                          <a:cs typeface="Arial" panose="020B0604020202020204" pitchFamily="34" charset="0"/>
                        </a:rPr>
                        <a:t>Từ</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phổ</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biến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cũng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có</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trọng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số</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cao</a:t>
                      </a:r>
                      <a:endParaRPr lang="en-US" sz="1800"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Từ phổ biến bị giảm trọng số, từ hiếm được nổi bật</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43008394"/>
                  </a:ext>
                </a:extLst>
              </a:tr>
              <a:tr h="685476">
                <a:tc>
                  <a:txBody>
                    <a:bodyPr/>
                    <a:lstStyle/>
                    <a:p>
                      <a:r>
                        <a:rPr lang="en-US" sz="1800" b="1" dirty="0" err="1">
                          <a:latin typeface="Arial" panose="020B0604020202020204" pitchFamily="34" charset="0"/>
                          <a:cs typeface="Arial" panose="020B0604020202020204" pitchFamily="34" charset="0"/>
                        </a:rPr>
                        <a:t>Ưu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điểm</a:t>
                      </a:r>
                      <a:endParaRPr lang="en-US" sz="1800" b="1"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Đơn giản, dễ triển khai</a:t>
                      </a:r>
                      <a:endParaRPr lang="en-US" sz="1800"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Giữ được “độ quan trọng” của từ khóa</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05862805"/>
                  </a:ext>
                </a:extLst>
              </a:tr>
              <a:tr h="685476">
                <a:tc>
                  <a:txBody>
                    <a:bodyPr/>
                    <a:lstStyle/>
                    <a:p>
                      <a:r>
                        <a:rPr lang="en-US" sz="1800" b="1" dirty="0" err="1">
                          <a:latin typeface="Arial" panose="020B0604020202020204" pitchFamily="34" charset="0"/>
                          <a:cs typeface="Arial" panose="020B0604020202020204" pitchFamily="34" charset="0"/>
                        </a:rPr>
                        <a:t>Nhược</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điểm</a:t>
                      </a:r>
                      <a:endParaRPr lang="en-US" sz="1800" b="1"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Vector thưa, bỏ qua ngữ cảnh</a:t>
                      </a:r>
                      <a:endParaRPr lang="en-US" sz="1800"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Vẫn bỏ qua ngữ cảnh, tính toán phức tạp hơn</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878782176"/>
                  </a:ext>
                </a:extLst>
              </a:tr>
            </a:tbl>
          </a:graphicData>
        </a:graphic>
      </p:graphicFrame>
    </p:spTree>
    <p:extLst>
      <p:ext uri="{BB962C8B-B14F-4D97-AF65-F5344CB8AC3E}">
        <p14:creationId xmlns:p14="http://schemas.microsoft.com/office/powerpoint/2010/main" val="1822497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AB752-5F1C-A9B6-F425-259A5301AB1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0BEF5D6-93A3-E896-2DEA-601FAB631FC5}"/>
              </a:ext>
            </a:extLst>
          </p:cNvPr>
          <p:cNvSpPr>
            <a:spLocks noGrp="1"/>
          </p:cNvSpPr>
          <p:nvPr>
            <p:ph type="sldNum" sz="quarter" idx="12"/>
          </p:nvPr>
        </p:nvSpPr>
        <p:spPr/>
        <p:txBody>
          <a:bodyPr/>
          <a:lstStyle/>
          <a:p>
            <a:fld id="{C1DACA90-E1C3-4C19-87AA-D4513B3BCE17}" type="slidenum">
              <a:rPr lang="en-AU" smtClean="0"/>
              <a:t>12</a:t>
            </a:fld>
            <a:endParaRPr lang="en-AU" dirty="0"/>
          </a:p>
        </p:txBody>
      </p:sp>
      <p:sp>
        <p:nvSpPr>
          <p:cNvPr id="11" name="TextBox 10">
            <a:extLst>
              <a:ext uri="{FF2B5EF4-FFF2-40B4-BE49-F238E27FC236}">
                <a16:creationId xmlns:a16="http://schemas.microsoft.com/office/drawing/2014/main" id="{08066406-5B57-DD1F-5578-959095B0029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35D2D05B-9A73-7FA8-27A5-03C133ACC865}"/>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2.4.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toán</a:t>
            </a:r>
            <a:r>
              <a:rPr lang="en-US" sz="2000" b="1" dirty="0">
                <a:latin typeface="Arial" panose="020B0604020202020204" pitchFamily="34" charset="0"/>
                <a:cs typeface="Arial" panose="020B0604020202020204" pitchFamily="34" charset="0"/>
              </a:rPr>
              <a:t> Naïve Bayes</a:t>
            </a:r>
          </a:p>
        </p:txBody>
      </p:sp>
      <p:pic>
        <p:nvPicPr>
          <p:cNvPr id="2" name="Picture 1">
            <a:extLst>
              <a:ext uri="{FF2B5EF4-FFF2-40B4-BE49-F238E27FC236}">
                <a16:creationId xmlns:a16="http://schemas.microsoft.com/office/drawing/2014/main" id="{0EBF8F4F-86D7-EF23-4C45-AC375C1960E4}"/>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F70EB536-0432-C2D1-6174-1A38FE873D9C}"/>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FA25351-163E-1E9C-F538-D825C0609545}"/>
              </a:ext>
            </a:extLst>
          </p:cNvPr>
          <p:cNvSpPr txBox="1"/>
          <p:nvPr/>
        </p:nvSpPr>
        <p:spPr>
          <a:xfrm>
            <a:off x="367385" y="2578832"/>
            <a:ext cx="11191876"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vi-VN" sz="2000" b="1" dirty="0">
                <a:latin typeface="Arial" panose="020B0604020202020204" pitchFamily="34" charset="0"/>
                <a:cs typeface="Arial" panose="020B0604020202020204" pitchFamily="34" charset="0"/>
              </a:rPr>
              <a:t>Naïve Bayes</a:t>
            </a:r>
            <a:r>
              <a:rPr lang="vi-VN" sz="2000" dirty="0">
                <a:latin typeface="Arial" panose="020B0604020202020204" pitchFamily="34" charset="0"/>
                <a:cs typeface="Arial" panose="020B0604020202020204" pitchFamily="34" charset="0"/>
              </a:rPr>
              <a:t> là một trong những thuật toán học máy có giám sát đơn giản nhưng hiệu quả, đặc biệt phù hợp với các bài toán phân loại văn bản như phân loại cảm xúc, phân loại thư rác, hoặc phân loại chủ đề văn bản. </a:t>
            </a:r>
            <a:endParaRPr lang="en-US" sz="2000" dirty="0">
              <a:latin typeface="Arial" panose="020B0604020202020204" pitchFamily="34" charset="0"/>
              <a:cs typeface="Arial" panose="020B0604020202020204" pitchFamily="34" charset="0"/>
            </a:endParaRP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D</a:t>
            </a:r>
            <a:r>
              <a:rPr lang="vi-VN" sz="2000" dirty="0">
                <a:latin typeface="Arial" panose="020B0604020202020204" pitchFamily="34" charset="0"/>
                <a:cs typeface="Arial" panose="020B0604020202020204" pitchFamily="34" charset="0"/>
              </a:rPr>
              <a:t>ựa trên </a:t>
            </a:r>
            <a:r>
              <a:rPr lang="vi-VN" sz="2000" b="1" dirty="0">
                <a:latin typeface="Arial" panose="020B0604020202020204" pitchFamily="34" charset="0"/>
                <a:cs typeface="Arial" panose="020B0604020202020204" pitchFamily="34" charset="0"/>
              </a:rPr>
              <a:t>định lý Bayes</a:t>
            </a:r>
            <a:r>
              <a:rPr lang="vi-VN" sz="2000" dirty="0">
                <a:latin typeface="Arial" panose="020B0604020202020204" pitchFamily="34" charset="0"/>
                <a:cs typeface="Arial" panose="020B0604020202020204" pitchFamily="34" charset="0"/>
              </a:rPr>
              <a:t> trong xác suất thống kê, kết hợp với </a:t>
            </a:r>
            <a:r>
              <a:rPr lang="vi-VN" sz="2000" b="1" dirty="0">
                <a:latin typeface="Arial" panose="020B0604020202020204" pitchFamily="34" charset="0"/>
                <a:cs typeface="Arial" panose="020B0604020202020204" pitchFamily="34" charset="0"/>
              </a:rPr>
              <a:t>giả định </a:t>
            </a:r>
            <a:r>
              <a:rPr lang="en-US" sz="2000" b="1" dirty="0">
                <a:latin typeface="Arial" panose="020B0604020202020204" pitchFamily="34" charset="0"/>
                <a:cs typeface="Arial" panose="020B0604020202020204" pitchFamily="34" charset="0"/>
              </a:rPr>
              <a:t>Naïve</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rằng các đặc trưng là độc lập có điều kiện với nhau</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81673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4A5BF-2CF2-69D3-A0E6-A69F8F6C674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996077F-7F29-3856-8EBD-504137C4630F}"/>
              </a:ext>
            </a:extLst>
          </p:cNvPr>
          <p:cNvSpPr>
            <a:spLocks noGrp="1"/>
          </p:cNvSpPr>
          <p:nvPr>
            <p:ph type="sldNum" sz="quarter" idx="12"/>
          </p:nvPr>
        </p:nvSpPr>
        <p:spPr/>
        <p:txBody>
          <a:bodyPr/>
          <a:lstStyle/>
          <a:p>
            <a:fld id="{C1DACA90-E1C3-4C19-87AA-D4513B3BCE17}" type="slidenum">
              <a:rPr lang="en-AU" smtClean="0"/>
              <a:t>13</a:t>
            </a:fld>
            <a:endParaRPr lang="en-AU" dirty="0"/>
          </a:p>
        </p:txBody>
      </p:sp>
      <p:sp>
        <p:nvSpPr>
          <p:cNvPr id="11" name="TextBox 10">
            <a:extLst>
              <a:ext uri="{FF2B5EF4-FFF2-40B4-BE49-F238E27FC236}">
                <a16:creationId xmlns:a16="http://schemas.microsoft.com/office/drawing/2014/main" id="{95BAB756-00D7-4209-10CB-0257CFAD992F}"/>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F0CC3031-6DED-7172-ABEC-6DA48D58911D}"/>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2.4.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toán</a:t>
            </a:r>
            <a:r>
              <a:rPr lang="en-US" sz="2000" b="1" dirty="0">
                <a:latin typeface="Arial" panose="020B0604020202020204" pitchFamily="34" charset="0"/>
                <a:cs typeface="Arial" panose="020B0604020202020204" pitchFamily="34" charset="0"/>
              </a:rPr>
              <a:t> Naïve Bayes</a:t>
            </a:r>
          </a:p>
        </p:txBody>
      </p:sp>
      <p:pic>
        <p:nvPicPr>
          <p:cNvPr id="2" name="Picture 1">
            <a:extLst>
              <a:ext uri="{FF2B5EF4-FFF2-40B4-BE49-F238E27FC236}">
                <a16:creationId xmlns:a16="http://schemas.microsoft.com/office/drawing/2014/main" id="{9B874D82-0528-0129-B25E-647E631CF6FD}"/>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15AAF26A-8917-644F-97EB-01540FC388F6}"/>
              </a:ext>
            </a:extLst>
          </p:cNvPr>
          <p:cNvSpPr txBox="1"/>
          <p:nvPr/>
        </p:nvSpPr>
        <p:spPr>
          <a:xfrm>
            <a:off x="500062" y="1890445"/>
            <a:ext cx="4681538"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Ưu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vi-VN" sz="2000" dirty="0">
                <a:latin typeface="Arial" panose="020B0604020202020204" pitchFamily="34" charset="0"/>
                <a:cs typeface="Arial" panose="020B0604020202020204" pitchFamily="34" charset="0"/>
              </a:rPr>
              <a:t>Đơn giản và dễ triển khai</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Tốc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nhanh</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bị</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hưởng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bởi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nhiễu</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Hoạt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tốt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nhỏ</a:t>
            </a:r>
            <a:r>
              <a:rPr lang="en-US" sz="2000" dirty="0">
                <a:latin typeface="Arial" panose="020B0604020202020204" pitchFamily="34" charset="0"/>
                <a:cs typeface="Arial" panose="020B0604020202020204" pitchFamily="34" charset="0"/>
              </a:rPr>
              <a:t>.</a:t>
            </a:r>
          </a:p>
        </p:txBody>
      </p:sp>
      <p:sp>
        <p:nvSpPr>
          <p:cNvPr id="5" name="TextBox 4">
            <a:extLst>
              <a:ext uri="{FF2B5EF4-FFF2-40B4-BE49-F238E27FC236}">
                <a16:creationId xmlns:a16="http://schemas.microsoft.com/office/drawing/2014/main" id="{CA2E58E3-D16F-F787-95ED-606BDEDFED07}"/>
              </a:ext>
            </a:extLst>
          </p:cNvPr>
          <p:cNvSpPr txBox="1"/>
          <p:nvPr/>
        </p:nvSpPr>
        <p:spPr>
          <a:xfrm>
            <a:off x="5573484" y="1890445"/>
            <a:ext cx="6218465"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Nhược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Giả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định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tế</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Không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Dễ</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bị</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sai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lệch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nếu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chưa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thấp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hơn</a:t>
            </a:r>
            <a:r>
              <a:rPr lang="en-US" sz="2000" dirty="0">
                <a:latin typeface="Arial" panose="020B0604020202020204" pitchFamily="34" charset="0"/>
                <a:cs typeface="Arial" panose="020B0604020202020204" pitchFamily="34" charset="0"/>
              </a:rPr>
              <a:t> so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đại</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902089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C5C1A-1C97-36CD-E5AB-CCEECDDFEF0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688697-4A59-46CD-D5F3-E4C67625D91C}"/>
              </a:ext>
            </a:extLst>
          </p:cNvPr>
          <p:cNvSpPr>
            <a:spLocks noGrp="1"/>
          </p:cNvSpPr>
          <p:nvPr>
            <p:ph type="sldNum" sz="quarter" idx="12"/>
          </p:nvPr>
        </p:nvSpPr>
        <p:spPr/>
        <p:txBody>
          <a:bodyPr/>
          <a:lstStyle/>
          <a:p>
            <a:fld id="{C1DACA90-E1C3-4C19-87AA-D4513B3BCE17}" type="slidenum">
              <a:rPr lang="en-AU" smtClean="0"/>
              <a:t>14</a:t>
            </a:fld>
            <a:endParaRPr lang="en-AU" dirty="0"/>
          </a:p>
        </p:txBody>
      </p:sp>
      <p:sp>
        <p:nvSpPr>
          <p:cNvPr id="11" name="TextBox 10">
            <a:extLst>
              <a:ext uri="{FF2B5EF4-FFF2-40B4-BE49-F238E27FC236}">
                <a16:creationId xmlns:a16="http://schemas.microsoft.com/office/drawing/2014/main" id="{F357A520-86D2-6100-BC9D-67DB3095977F}"/>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9DB65E44-71D7-EA6F-5F3B-6EA7DF40879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2.5.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PhoBERT</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FB105BB0-BE14-EAC2-5EDB-B11F346A7F2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A529C15E-CE8B-348B-5D37-2B3B39125E1F}"/>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505C4339-CD37-680C-3A93-BECE6344B78D}"/>
              </a:ext>
            </a:extLst>
          </p:cNvPr>
          <p:cNvSpPr txBox="1"/>
          <p:nvPr/>
        </p:nvSpPr>
        <p:spPr>
          <a:xfrm>
            <a:off x="367385" y="2578832"/>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vi-VN" sz="2000" b="1" dirty="0">
                <a:latin typeface="Arial" panose="020B0604020202020204" pitchFamily="34" charset="0"/>
                <a:cs typeface="Arial" panose="020B0604020202020204" pitchFamily="34" charset="0"/>
              </a:rPr>
              <a:t>PhoBERT</a:t>
            </a:r>
            <a:r>
              <a:rPr lang="vi-VN" sz="2000" dirty="0">
                <a:latin typeface="Arial" panose="020B0604020202020204" pitchFamily="34" charset="0"/>
                <a:cs typeface="Arial" panose="020B0604020202020204" pitchFamily="34" charset="0"/>
              </a:rPr>
              <a:t> là một mô hình ngôn ngữ tiền huấn luyện dành riêng cho tiếng Việt, được phát triển dựa trên kiến trúc BERT</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B</a:t>
            </a:r>
            <a:r>
              <a:rPr lang="vi-VN" sz="2000" dirty="0">
                <a:latin typeface="Arial" panose="020B0604020202020204" pitchFamily="34" charset="0"/>
                <a:cs typeface="Arial" panose="020B0604020202020204" pitchFamily="34" charset="0"/>
              </a:rPr>
              <a:t>ước tiến quan trọng trong việc áp dụng các kỹ thuật học sâu tiên tiến vào xử lý ngôn ngữ tự nhiên tiếng Việt</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052283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DAA63-58B8-7F7E-4E13-4E41040A80E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38D33B-6780-9D95-4B5D-1C4E6C6F329F}"/>
              </a:ext>
            </a:extLst>
          </p:cNvPr>
          <p:cNvSpPr>
            <a:spLocks noGrp="1"/>
          </p:cNvSpPr>
          <p:nvPr>
            <p:ph type="sldNum" sz="quarter" idx="12"/>
          </p:nvPr>
        </p:nvSpPr>
        <p:spPr/>
        <p:txBody>
          <a:bodyPr/>
          <a:lstStyle/>
          <a:p>
            <a:fld id="{C1DACA90-E1C3-4C19-87AA-D4513B3BCE17}" type="slidenum">
              <a:rPr lang="en-AU" smtClean="0"/>
              <a:t>15</a:t>
            </a:fld>
            <a:endParaRPr lang="en-AU" dirty="0"/>
          </a:p>
        </p:txBody>
      </p:sp>
      <p:sp>
        <p:nvSpPr>
          <p:cNvPr id="11" name="TextBox 10">
            <a:extLst>
              <a:ext uri="{FF2B5EF4-FFF2-40B4-BE49-F238E27FC236}">
                <a16:creationId xmlns:a16="http://schemas.microsoft.com/office/drawing/2014/main" id="{07806254-F698-5D2B-2BB8-8D0C256C0769}"/>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05811F12-C7DB-157D-801D-38824801CA75}"/>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2.5.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PhoBERT</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7F38D8AD-BE7A-CD3F-1105-01E1918B9DF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FA43BE93-6C62-A6FC-CE8A-82D3110F77B5}"/>
              </a:ext>
            </a:extLst>
          </p:cNvPr>
          <p:cNvSpPr txBox="1"/>
          <p:nvPr/>
        </p:nvSpPr>
        <p:spPr>
          <a:xfrm>
            <a:off x="500061" y="1890445"/>
            <a:ext cx="5998709"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Ưu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vi-VN" sz="2000" dirty="0">
                <a:latin typeface="Arial" panose="020B0604020202020204" pitchFamily="34" charset="0"/>
                <a:cs typeface="Arial" panose="020B0604020202020204" pitchFamily="34" charset="0"/>
              </a:rPr>
              <a:t>Được huấn luyện chuyên biệt cho tiếng Việt</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tốt</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Khả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mẽ</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Dễ</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theo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cụ</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a:t>
            </a:r>
          </a:p>
        </p:txBody>
      </p:sp>
      <p:sp>
        <p:nvSpPr>
          <p:cNvPr id="5" name="TextBox 4">
            <a:extLst>
              <a:ext uri="{FF2B5EF4-FFF2-40B4-BE49-F238E27FC236}">
                <a16:creationId xmlns:a16="http://schemas.microsoft.com/office/drawing/2014/main" id="{44FA35FC-6E43-2753-5503-8717D3B9BB39}"/>
              </a:ext>
            </a:extLst>
          </p:cNvPr>
          <p:cNvSpPr txBox="1"/>
          <p:nvPr/>
        </p:nvSpPr>
        <p:spPr>
          <a:xfrm>
            <a:off x="6324600" y="1890445"/>
            <a:ext cx="5867400"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Nhược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Yêu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cầu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nguyên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vi-VN" sz="2000" dirty="0">
                <a:latin typeface="Arial" panose="020B0604020202020204" pitchFamily="34" charset="0"/>
                <a:cs typeface="Arial" panose="020B0604020202020204" pitchFamily="34" charset="0"/>
              </a:rPr>
              <a:t>Thời gian huấn luyện và suy luận chậm hơn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Cần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hợp</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Hiệu </a:t>
            </a:r>
            <a:r>
              <a:rPr lang="en-US" sz="2000" dirty="0" err="1">
                <a:latin typeface="Arial" panose="020B0604020202020204" pitchFamily="34" charset="0"/>
                <a:cs typeface="Arial" panose="020B0604020202020204" pitchFamily="34" charset="0"/>
              </a:rPr>
              <a:t>suất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phụ</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thuộc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chỉnh</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5017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F8436-5577-5C5F-9A59-0FF514F1DB0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C5440B1-DC07-4D04-EA8A-8AC16315DD7D}"/>
              </a:ext>
            </a:extLst>
          </p:cNvPr>
          <p:cNvSpPr>
            <a:spLocks noGrp="1"/>
          </p:cNvSpPr>
          <p:nvPr>
            <p:ph type="sldNum" sz="quarter" idx="12"/>
          </p:nvPr>
        </p:nvSpPr>
        <p:spPr/>
        <p:txBody>
          <a:bodyPr/>
          <a:lstStyle/>
          <a:p>
            <a:fld id="{C1DACA90-E1C3-4C19-87AA-D4513B3BCE17}" type="slidenum">
              <a:rPr lang="en-AU" smtClean="0"/>
              <a:t>16</a:t>
            </a:fld>
            <a:endParaRPr lang="en-AU" dirty="0"/>
          </a:p>
        </p:txBody>
      </p:sp>
      <p:sp>
        <p:nvSpPr>
          <p:cNvPr id="11" name="TextBox 10">
            <a:extLst>
              <a:ext uri="{FF2B5EF4-FFF2-40B4-BE49-F238E27FC236}">
                <a16:creationId xmlns:a16="http://schemas.microsoft.com/office/drawing/2014/main" id="{6CB81A1A-6A8E-A984-47A7-67EC3EDCA595}"/>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9D251302-DDE5-C431-B78E-3B73FDB4FF0E}"/>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2.6. Công </a:t>
            </a:r>
            <a:r>
              <a:rPr lang="en-US" sz="2000" b="1" dirty="0" err="1">
                <a:latin typeface="Arial" panose="020B0604020202020204" pitchFamily="34" charset="0"/>
                <a:cs typeface="Arial" panose="020B0604020202020204" pitchFamily="34" charset="0"/>
              </a:rPr>
              <a:t>nghệ</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phần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mềm</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2169A1A9-E1E9-BAF0-50CC-1BCA5E058F01}"/>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7AC96C28-05E1-BDB9-B0EA-A55EA0F6A20D}"/>
              </a:ext>
            </a:extLst>
          </p:cNvPr>
          <p:cNvSpPr txBox="1"/>
          <p:nvPr/>
        </p:nvSpPr>
        <p:spPr>
          <a:xfrm>
            <a:off x="500062" y="1890445"/>
            <a:ext cx="5367340"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FastAPI</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F</a:t>
            </a:r>
            <a:r>
              <a:rPr lang="vi-VN" sz="2000" dirty="0">
                <a:latin typeface="Arial" panose="020B0604020202020204" pitchFamily="34" charset="0"/>
                <a:cs typeface="Arial" panose="020B0604020202020204" pitchFamily="34" charset="0"/>
              </a:rPr>
              <a:t>ramework hiện đại và hiệu suất cao được sử dụng để xây dựng các ứng dụng web và API</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bằng ngôn ngữ lập trình Python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lĩnh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a:t>
            </a:r>
          </a:p>
        </p:txBody>
      </p:sp>
      <p:sp>
        <p:nvSpPr>
          <p:cNvPr id="5" name="TextBox 4">
            <a:extLst>
              <a:ext uri="{FF2B5EF4-FFF2-40B4-BE49-F238E27FC236}">
                <a16:creationId xmlns:a16="http://schemas.microsoft.com/office/drawing/2014/main" id="{903180AC-470F-24C2-63DF-8F25606568F9}"/>
              </a:ext>
            </a:extLst>
          </p:cNvPr>
          <p:cNvSpPr txBox="1"/>
          <p:nvPr/>
        </p:nvSpPr>
        <p:spPr>
          <a:xfrm>
            <a:off x="6324601" y="1890444"/>
            <a:ext cx="5119838"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NextJS</a:t>
            </a:r>
            <a:r>
              <a:rPr lang="en-US" sz="2000" b="1"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F</a:t>
            </a:r>
            <a:r>
              <a:rPr lang="vi-VN" sz="2000" dirty="0">
                <a:latin typeface="Arial" panose="020B0604020202020204" pitchFamily="34" charset="0"/>
                <a:cs typeface="Arial" panose="020B0604020202020204" pitchFamily="34" charset="0"/>
              </a:rPr>
              <a:t>ramework mã nguồn mở được phát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triển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bởi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Vercel</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dựa trên React, cho phép xây dựng các ứng dụng web với nhiều tính năng tối ưu hóa</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576470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52867-A056-F9C2-2A46-3EF11776DBF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D98776-A8BD-0F06-9E49-3D6F5D10038E}"/>
              </a:ext>
            </a:extLst>
          </p:cNvPr>
          <p:cNvSpPr>
            <a:spLocks noGrp="1"/>
          </p:cNvSpPr>
          <p:nvPr>
            <p:ph type="sldNum" sz="quarter" idx="12"/>
          </p:nvPr>
        </p:nvSpPr>
        <p:spPr/>
        <p:txBody>
          <a:bodyPr/>
          <a:lstStyle/>
          <a:p>
            <a:fld id="{C1DACA90-E1C3-4C19-87AA-D4513B3BCE17}" type="slidenum">
              <a:rPr lang="en-AU" smtClean="0"/>
              <a:t>17</a:t>
            </a:fld>
            <a:endParaRPr lang="en-AU" dirty="0"/>
          </a:p>
        </p:txBody>
      </p:sp>
      <p:sp>
        <p:nvSpPr>
          <p:cNvPr id="11" name="TextBox 10">
            <a:extLst>
              <a:ext uri="{FF2B5EF4-FFF2-40B4-BE49-F238E27FC236}">
                <a16:creationId xmlns:a16="http://schemas.microsoft.com/office/drawing/2014/main" id="{ACC96E60-6BA1-D571-4253-59F2EBED7965}"/>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C34ACC18-58C5-B4DB-8FEA-899790103B0C}"/>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3.1. Thu </a:t>
            </a:r>
            <a:r>
              <a:rPr lang="en-US" sz="2000" b="1" dirty="0" err="1">
                <a:latin typeface="Arial" panose="020B0604020202020204" pitchFamily="34" charset="0"/>
                <a:cs typeface="Arial" panose="020B0604020202020204" pitchFamily="34" charset="0"/>
              </a:rPr>
              <a:t>thập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F951E543-87CC-252E-4EEC-143B8E258259}"/>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BC793884-1F97-9BC6-BC32-F079660079B1}"/>
              </a:ext>
            </a:extLst>
          </p:cNvPr>
          <p:cNvSpPr txBox="1"/>
          <p:nvPr/>
        </p:nvSpPr>
        <p:spPr>
          <a:xfrm>
            <a:off x="263316" y="1832874"/>
            <a:ext cx="2974068" cy="4017133"/>
          </a:xfrm>
          <a:prstGeom prst="roundRect">
            <a:avLst/>
          </a:prstGeom>
          <a:ln/>
        </p:spPr>
        <p:style>
          <a:lnRef idx="2">
            <a:schemeClr val="accent1"/>
          </a:lnRef>
          <a:fillRef idx="1">
            <a:schemeClr val="lt1"/>
          </a:fillRef>
          <a:effectRef idx="0">
            <a:schemeClr val="accent1"/>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Thu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21 </a:t>
            </a:r>
            <a:r>
              <a:rPr lang="en-US" sz="2000" dirty="0" err="1">
                <a:latin typeface="Arial" panose="020B0604020202020204" pitchFamily="34" charset="0"/>
                <a:cs typeface="Arial" panose="020B0604020202020204" pitchFamily="34" charset="0"/>
              </a:rPr>
              <a:t>danh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mục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sàn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 Tiki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mỗi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mục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lấy</a:t>
            </a:r>
            <a:r>
              <a:rPr lang="en-US" sz="2000" dirty="0">
                <a:latin typeface="Arial" panose="020B0604020202020204" pitchFamily="34" charset="0"/>
                <a:cs typeface="Arial" panose="020B0604020202020204" pitchFamily="34" charset="0"/>
              </a:rPr>
              <a:t> 40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gợi</a:t>
            </a:r>
            <a:r>
              <a:rPr lang="en-US" sz="2000" dirty="0">
                <a:latin typeface="Arial" panose="020B0604020202020204" pitchFamily="34" charset="0"/>
                <a:cs typeface="Arial" panose="020B0604020202020204" pitchFamily="34" charset="0"/>
              </a:rPr>
              <a:t> ý </a:t>
            </a:r>
            <a:r>
              <a:rPr lang="en-US" sz="2000" dirty="0" err="1">
                <a:latin typeface="Arial" panose="020B0604020202020204" pitchFamily="34" charset="0"/>
                <a:cs typeface="Arial" panose="020B0604020202020204" pitchFamily="34" charset="0"/>
              </a:rPr>
              <a:t>đầu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tổng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32 502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a:t>
            </a:r>
          </a:p>
        </p:txBody>
      </p:sp>
      <p:pic>
        <p:nvPicPr>
          <p:cNvPr id="1030" name="Picture 6">
            <a:extLst>
              <a:ext uri="{FF2B5EF4-FFF2-40B4-BE49-F238E27FC236}">
                <a16:creationId xmlns:a16="http://schemas.microsoft.com/office/drawing/2014/main" id="{3A9C0C20-019E-CC3B-05E5-CF44EA91546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65297" y="875899"/>
            <a:ext cx="8798133" cy="5845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20556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F322F-5870-B508-81C1-E6B203AFA8E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5CA23FE-E11C-EBAD-E560-9F99625E6AF7}"/>
              </a:ext>
            </a:extLst>
          </p:cNvPr>
          <p:cNvSpPr>
            <a:spLocks noGrp="1"/>
          </p:cNvSpPr>
          <p:nvPr>
            <p:ph type="sldNum" sz="quarter" idx="12"/>
          </p:nvPr>
        </p:nvSpPr>
        <p:spPr/>
        <p:txBody>
          <a:bodyPr/>
          <a:lstStyle/>
          <a:p>
            <a:fld id="{C1DACA90-E1C3-4C19-87AA-D4513B3BCE17}" type="slidenum">
              <a:rPr lang="en-AU" smtClean="0"/>
              <a:t>18</a:t>
            </a:fld>
            <a:endParaRPr lang="en-AU" dirty="0"/>
          </a:p>
        </p:txBody>
      </p:sp>
      <p:sp>
        <p:nvSpPr>
          <p:cNvPr id="11" name="TextBox 10">
            <a:extLst>
              <a:ext uri="{FF2B5EF4-FFF2-40B4-BE49-F238E27FC236}">
                <a16:creationId xmlns:a16="http://schemas.microsoft.com/office/drawing/2014/main" id="{68A03664-2956-D538-8587-AE60930475A2}"/>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5E103ECF-CA5B-B94C-C893-B968B13DF884}"/>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3.2. </a:t>
            </a:r>
            <a:r>
              <a:rPr lang="en-US" sz="2000" b="1" dirty="0" err="1">
                <a:latin typeface="Arial" panose="020B0604020202020204" pitchFamily="34" charset="0"/>
                <a:cs typeface="Arial" panose="020B0604020202020204" pitchFamily="34" charset="0"/>
              </a:rPr>
              <a:t>Làm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sạch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99711DD8-AB11-B76D-6CEE-898E83BE99DB}"/>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5" name="TextBox 4">
            <a:extLst>
              <a:ext uri="{FF2B5EF4-FFF2-40B4-BE49-F238E27FC236}">
                <a16:creationId xmlns:a16="http://schemas.microsoft.com/office/drawing/2014/main" id="{C8D1F82A-81FF-3AB6-FA54-68D207CC5C97}"/>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Các </a:t>
            </a:r>
            <a:r>
              <a:rPr lang="en-US" sz="2000" b="1" dirty="0" err="1">
                <a:latin typeface="Arial" panose="020B0604020202020204" pitchFamily="34" charset="0"/>
                <a:cs typeface="Arial" panose="020B0604020202020204" pitchFamily="34" charset="0"/>
              </a:rPr>
              <a:t>bước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làm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sạch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B658CEC9-99B6-91DD-0670-BCA168832FAD}"/>
              </a:ext>
            </a:extLst>
          </p:cNvPr>
          <p:cNvSpPr txBox="1"/>
          <p:nvPr/>
        </p:nvSpPr>
        <p:spPr>
          <a:xfrm>
            <a:off x="367385" y="2578832"/>
            <a:ext cx="11191876" cy="412531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bỏ</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biệt</a:t>
            </a:r>
            <a:r>
              <a:rPr lang="en-US" sz="2000" dirty="0">
                <a:latin typeface="Arial" panose="020B0604020202020204" pitchFamily="34" charset="0"/>
                <a:cs typeface="Arial" panose="020B0604020202020204" pitchFamily="34" charset="0"/>
              </a:rPr>
              <a:t>, emoji, </a:t>
            </a: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Chuẩn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khoảng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trắng</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Chuyển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thường</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Chuỗi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rỗng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1 </a:t>
            </a:r>
            <a:r>
              <a:rPr lang="en-US" sz="2000" dirty="0" err="1">
                <a:latin typeface="Arial" panose="020B0604020202020204" pitchFamily="34" charset="0"/>
                <a:cs typeface="Arial" panose="020B0604020202020204" pitchFamily="34" charset="0"/>
              </a:rPr>
              <a:t>ký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thì</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bỏ</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bỏ</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chứa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lỗi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lại</a:t>
            </a:r>
            <a:r>
              <a:rPr lang="en-US" sz="2000" dirty="0">
                <a:latin typeface="Arial" panose="020B0604020202020204" pitchFamily="34" charset="0"/>
                <a:cs typeface="Arial" panose="020B0604020202020204" pitchFamily="34" charset="0"/>
              </a:rPr>
              <a:t> 1 </a:t>
            </a:r>
            <a:r>
              <a:rPr lang="en-US" sz="2000" dirty="0" err="1">
                <a:latin typeface="Arial" panose="020B0604020202020204" pitchFamily="34" charset="0"/>
                <a:cs typeface="Arial" panose="020B0604020202020204" pitchFamily="34" charset="0"/>
              </a:rPr>
              <a:t>dòng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nếu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giống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nhau</a:t>
            </a:r>
            <a:r>
              <a:rPr lang="en-US" sz="2000" dirty="0">
                <a:latin typeface="Arial" panose="020B0604020202020204" pitchFamily="34" charset="0"/>
                <a:cs typeface="Arial" panose="020B0604020202020204" pitchFamily="34" charset="0"/>
              </a:rPr>
              <a:t>.</a:t>
            </a:r>
          </a:p>
          <a:p>
            <a:pPr algn="just">
              <a:lnSpc>
                <a:spcPct val="150000"/>
              </a:lnSpc>
            </a:pPr>
            <a:r>
              <a:rPr lang="en-US" sz="2000" dirty="0">
                <a:latin typeface="Arial" panose="020B0604020202020204" pitchFamily="34" charset="0"/>
                <a:cs typeface="Arial" panose="020B0604020202020204" pitchFamily="34" charset="0"/>
              </a:rPr>
              <a:t>Sau </a:t>
            </a:r>
            <a:r>
              <a:rPr lang="en-US" sz="2000" dirty="0" err="1">
                <a:latin typeface="Arial" panose="020B0604020202020204" pitchFamily="34" charset="0"/>
                <a:cs typeface="Arial" panose="020B0604020202020204" pitchFamily="34" charset="0"/>
              </a:rPr>
              <a:t>khi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còn</a:t>
            </a:r>
            <a:r>
              <a:rPr lang="en-US" sz="2000" dirty="0">
                <a:latin typeface="Arial" panose="020B0604020202020204" pitchFamily="34" charset="0"/>
                <a:cs typeface="Arial" panose="020B0604020202020204" pitchFamily="34" charset="0"/>
              </a:rPr>
              <a:t> 30 956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bỏ</a:t>
            </a:r>
            <a:r>
              <a:rPr lang="en-US" sz="2000" dirty="0">
                <a:latin typeface="Arial" panose="020B0604020202020204" pitchFamily="34" charset="0"/>
                <a:cs typeface="Arial" panose="020B0604020202020204" pitchFamily="34" charset="0"/>
              </a:rPr>
              <a:t> 1 546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của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trước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đó</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3572720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1B3F3-68EC-5C45-CE7A-238EF4BC520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B6A2DF7-C1AC-0CAC-8156-631D368C1CC4}"/>
              </a:ext>
            </a:extLst>
          </p:cNvPr>
          <p:cNvSpPr>
            <a:spLocks noGrp="1"/>
          </p:cNvSpPr>
          <p:nvPr>
            <p:ph type="sldNum" sz="quarter" idx="12"/>
          </p:nvPr>
        </p:nvSpPr>
        <p:spPr/>
        <p:txBody>
          <a:bodyPr/>
          <a:lstStyle/>
          <a:p>
            <a:fld id="{C1DACA90-E1C3-4C19-87AA-D4513B3BCE17}" type="slidenum">
              <a:rPr lang="en-AU" smtClean="0"/>
              <a:t>19</a:t>
            </a:fld>
            <a:endParaRPr lang="en-AU" dirty="0"/>
          </a:p>
        </p:txBody>
      </p:sp>
      <p:sp>
        <p:nvSpPr>
          <p:cNvPr id="11" name="TextBox 10">
            <a:extLst>
              <a:ext uri="{FF2B5EF4-FFF2-40B4-BE49-F238E27FC236}">
                <a16:creationId xmlns:a16="http://schemas.microsoft.com/office/drawing/2014/main" id="{AAA4B51E-E74F-7049-2071-278E3F5FFDD4}"/>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8DF735F2-B716-30E2-770A-D5B22697C6D3}"/>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3.3. </a:t>
            </a:r>
            <a:r>
              <a:rPr lang="en-US" sz="2000" b="1" dirty="0" err="1">
                <a:latin typeface="Arial" panose="020B0604020202020204" pitchFamily="34" charset="0"/>
                <a:cs typeface="Arial" panose="020B0604020202020204" pitchFamily="34" charset="0"/>
              </a:rPr>
              <a:t>Gán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nhãn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960F2FF2-9A9F-18CE-7F3B-B85D14D0181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1A070E4D-51EA-2EDF-C3B8-AC2C97BEBC71}"/>
              </a:ext>
            </a:extLst>
          </p:cNvPr>
          <p:cNvSpPr txBox="1"/>
          <p:nvPr/>
        </p:nvSpPr>
        <p:spPr>
          <a:xfrm>
            <a:off x="255040" y="1534108"/>
            <a:ext cx="11416565" cy="5146871"/>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P</a:t>
            </a:r>
            <a:r>
              <a:rPr lang="vi-VN" sz="2000" dirty="0">
                <a:latin typeface="Arial" panose="020B0604020202020204" pitchFamily="34" charset="0"/>
                <a:cs typeface="Arial" panose="020B0604020202020204" pitchFamily="34" charset="0"/>
              </a:rPr>
              <a:t>hân loại cảm xúc </a:t>
            </a:r>
            <a:r>
              <a:rPr lang="en-US" sz="2000" dirty="0" err="1">
                <a:latin typeface="Arial" panose="020B0604020202020204" pitchFamily="34" charset="0"/>
                <a:cs typeface="Arial" panose="020B0604020202020204" pitchFamily="34" charset="0"/>
              </a:rPr>
              <a:t>gồm</a:t>
            </a:r>
            <a:r>
              <a:rPr lang="en-US" sz="2000" dirty="0">
                <a:latin typeface="Arial" panose="020B0604020202020204" pitchFamily="34" charset="0"/>
                <a:cs typeface="Arial" panose="020B0604020202020204" pitchFamily="34" charset="0"/>
              </a:rPr>
              <a:t> 3 </a:t>
            </a:r>
            <a:r>
              <a:rPr lang="en-US" sz="2000" dirty="0" err="1">
                <a:latin typeface="Arial" panose="020B0604020202020204" pitchFamily="34" charset="0"/>
                <a:cs typeface="Arial" panose="020B0604020202020204" pitchFamily="34" charset="0"/>
              </a:rPr>
              <a:t>cấp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bật</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vi-VN" sz="2000" b="1" dirty="0">
                <a:latin typeface="Arial" panose="020B0604020202020204" pitchFamily="34" charset="0"/>
                <a:cs typeface="Arial" panose="020B0604020202020204" pitchFamily="34" charset="0"/>
              </a:rPr>
              <a:t>Tích cực (positive):</a:t>
            </a:r>
            <a:r>
              <a:rPr lang="vi-VN" sz="2000" dirty="0">
                <a:latin typeface="Arial" panose="020B0604020202020204" pitchFamily="34" charset="0"/>
                <a:cs typeface="Arial" panose="020B0604020202020204" pitchFamily="34" charset="0"/>
              </a:rPr>
              <a:t> được gán nhãn là 1, bình luận thể hiện sự hài lòng, đánh giá tốt về sản phẩm hoặc dịch vụ</a:t>
            </a:r>
            <a:r>
              <a:rPr lang="en-US" sz="2000" dirty="0">
                <a:latin typeface="Arial" panose="020B0604020202020204" pitchFamily="34" charset="0"/>
                <a:cs typeface="Arial" panose="020B0604020202020204" pitchFamily="34" charset="0"/>
              </a:rPr>
              <a:t>.</a:t>
            </a:r>
          </a:p>
          <a:p>
            <a:pPr algn="just">
              <a:lnSpc>
                <a:spcPct val="150000"/>
              </a:lnSpc>
            </a:pPr>
            <a:r>
              <a:rPr lang="vi-VN" sz="2000" b="1" dirty="0">
                <a:latin typeface="Arial" panose="020B0604020202020204" pitchFamily="34" charset="0"/>
                <a:cs typeface="Arial" panose="020B0604020202020204" pitchFamily="34" charset="0"/>
              </a:rPr>
              <a:t>Tiêu cực (negative):</a:t>
            </a:r>
            <a:r>
              <a:rPr lang="vi-VN" sz="2000" dirty="0">
                <a:latin typeface="Arial" panose="020B0604020202020204" pitchFamily="34" charset="0"/>
                <a:cs typeface="Arial" panose="020B0604020202020204" pitchFamily="34" charset="0"/>
              </a:rPr>
              <a:t> được gán nhãn là -1, bình luận thể hiện sự không hài lòng, có thái độ phàn nàn, chê bai hoặc tức giận</a:t>
            </a:r>
            <a:r>
              <a:rPr lang="en-US" sz="2000" dirty="0">
                <a:latin typeface="Arial" panose="020B0604020202020204" pitchFamily="34" charset="0"/>
                <a:cs typeface="Arial" panose="020B0604020202020204" pitchFamily="34" charset="0"/>
              </a:rPr>
              <a:t>.</a:t>
            </a:r>
          </a:p>
          <a:p>
            <a:pPr algn="just">
              <a:lnSpc>
                <a:spcPct val="150000"/>
              </a:lnSpc>
            </a:pPr>
            <a:r>
              <a:rPr lang="vi-VN" sz="2000" b="1" dirty="0">
                <a:latin typeface="Arial" panose="020B0604020202020204" pitchFamily="34" charset="0"/>
                <a:cs typeface="Arial" panose="020B0604020202020204" pitchFamily="34" charset="0"/>
              </a:rPr>
              <a:t>Trung lập (neutral):</a:t>
            </a:r>
            <a:r>
              <a:rPr lang="vi-VN" sz="2000" dirty="0">
                <a:latin typeface="Arial" panose="020B0604020202020204" pitchFamily="34" charset="0"/>
                <a:cs typeface="Arial" panose="020B0604020202020204" pitchFamily="34" charset="0"/>
              </a:rPr>
              <a:t> được gán nhãn là 0, bình luận có nội dung khách quan, mang tính mô tả hoặc xác nhận giao dịch, không biểu hiện rõ cảm xúc</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err="1">
                <a:latin typeface="Arial" panose="020B0604020202020204" pitchFamily="34" charset="0"/>
                <a:cs typeface="Arial" panose="020B0604020202020204" pitchFamily="34" charset="0"/>
              </a:rPr>
              <a:t>Việc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bởi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nhóm</a:t>
            </a:r>
            <a:r>
              <a:rPr lang="en-US" sz="2000" dirty="0">
                <a:latin typeface="Arial" panose="020B0604020202020204" pitchFamily="34" charset="0"/>
                <a:cs typeface="Arial" panose="020B0604020202020204" pitchFamily="34" charset="0"/>
              </a:rPr>
              <a:t> 3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sau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thống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nhãn</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6083582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52C7E-B73F-0BE2-8015-F134931E2C4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DB76DA-4378-9523-CFD7-E174D4F05946}"/>
              </a:ext>
            </a:extLst>
          </p:cNvPr>
          <p:cNvSpPr>
            <a:spLocks noGrp="1"/>
          </p:cNvSpPr>
          <p:nvPr>
            <p:ph type="sldNum" sz="quarter" idx="12"/>
          </p:nvPr>
        </p:nvSpPr>
        <p:spPr/>
        <p:txBody>
          <a:bodyPr/>
          <a:lstStyle/>
          <a:p>
            <a:fld id="{C1DACA90-E1C3-4C19-87AA-D4513B3BCE17}" type="slidenum">
              <a:rPr lang="en-AU" smtClean="0"/>
              <a:t>20</a:t>
            </a:fld>
            <a:endParaRPr lang="en-AU" dirty="0"/>
          </a:p>
        </p:txBody>
      </p:sp>
      <p:sp>
        <p:nvSpPr>
          <p:cNvPr id="11" name="TextBox 10">
            <a:extLst>
              <a:ext uri="{FF2B5EF4-FFF2-40B4-BE49-F238E27FC236}">
                <a16:creationId xmlns:a16="http://schemas.microsoft.com/office/drawing/2014/main" id="{60F2F15B-979E-5273-0B9F-1192CA841F8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484908D4-459C-5F0B-A2E3-181C44E87B4A}"/>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3.3. </a:t>
            </a:r>
            <a:r>
              <a:rPr lang="en-US" sz="2000" b="1" dirty="0" err="1">
                <a:latin typeface="Arial" panose="020B0604020202020204" pitchFamily="34" charset="0"/>
                <a:cs typeface="Arial" panose="020B0604020202020204" pitchFamily="34" charset="0"/>
              </a:rPr>
              <a:t>Gán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nhãn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B2E100F1-B3B4-4FD2-FB6C-640FDB15C1D5}"/>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EDC857D8-A8F3-1E67-8B19-47927758CC5C}"/>
              </a:ext>
            </a:extLst>
          </p:cNvPr>
          <p:cNvSpPr txBox="1"/>
          <p:nvPr/>
        </p:nvSpPr>
        <p:spPr>
          <a:xfrm>
            <a:off x="2010872" y="1925997"/>
            <a:ext cx="3843018" cy="2082202"/>
          </a:xfrm>
          <a:prstGeom prst="roundRect">
            <a:avLst/>
          </a:prstGeom>
          <a:ln/>
        </p:spPr>
        <p:style>
          <a:lnRef idx="2">
            <a:schemeClr val="accent1"/>
          </a:lnRef>
          <a:fillRef idx="1">
            <a:schemeClr val="lt1"/>
          </a:fillRef>
          <a:effectRef idx="0">
            <a:schemeClr val="accent1"/>
          </a:effectRef>
          <a:fontRef idx="minor">
            <a:schemeClr val="dk1"/>
          </a:fontRef>
        </p:style>
        <p:txBody>
          <a:bodyPr wrap="square" rtlCol="0">
            <a:spAutoFit/>
          </a:bodyPr>
          <a:lstStyle/>
          <a:p>
            <a:pPr algn="just">
              <a:lnSpc>
                <a:spcPct val="150000"/>
              </a:lnSpc>
            </a:pP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nhãn</a:t>
            </a:r>
            <a:r>
              <a:rPr lang="en-US" sz="2000" dirty="0">
                <a:latin typeface="Arial" panose="020B0604020202020204" pitchFamily="34" charset="0"/>
                <a:cs typeface="Arial" panose="020B0604020202020204" pitchFamily="34" charset="0"/>
              </a:rPr>
              <a:t>:</a:t>
            </a:r>
          </a:p>
          <a:p>
            <a:pPr algn="just">
              <a:lnSpc>
                <a:spcPct val="150000"/>
              </a:lnSpc>
            </a:pP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16 871 (54.5%)</a:t>
            </a:r>
          </a:p>
          <a:p>
            <a:pPr algn="just">
              <a:lnSpc>
                <a:spcPct val="150000"/>
              </a:lnSpc>
            </a:pP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10 672 (34.5%)</a:t>
            </a:r>
          </a:p>
          <a:p>
            <a:pPr algn="just">
              <a:lnSpc>
                <a:spcPct val="150000"/>
              </a:lnSpc>
            </a:pPr>
            <a:r>
              <a:rPr lang="en-US" sz="2000" b="1" dirty="0">
                <a:latin typeface="Arial" panose="020B0604020202020204" pitchFamily="34" charset="0"/>
                <a:cs typeface="Arial" panose="020B0604020202020204" pitchFamily="34" charset="0"/>
              </a:rPr>
              <a:t>Trung </a:t>
            </a:r>
            <a:r>
              <a:rPr lang="en-US" sz="2000" b="1" dirty="0" err="1">
                <a:latin typeface="Arial" panose="020B0604020202020204" pitchFamily="34" charset="0"/>
                <a:cs typeface="Arial" panose="020B0604020202020204" pitchFamily="34" charset="0"/>
              </a:rPr>
              <a:t>lập</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3 413 (11%)</a:t>
            </a:r>
          </a:p>
        </p:txBody>
      </p:sp>
      <p:pic>
        <p:nvPicPr>
          <p:cNvPr id="5" name="Picture 4">
            <a:extLst>
              <a:ext uri="{FF2B5EF4-FFF2-40B4-BE49-F238E27FC236}">
                <a16:creationId xmlns:a16="http://schemas.microsoft.com/office/drawing/2014/main" id="{FE196D11-0B77-4EC9-0EBE-7CE9DB433E16}"/>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228300" y="656945"/>
            <a:ext cx="5429100" cy="5578354"/>
          </a:xfrm>
          <a:prstGeom prst="rect">
            <a:avLst/>
          </a:prstGeom>
          <a:noFill/>
          <a:ln>
            <a:noFill/>
          </a:ln>
        </p:spPr>
      </p:pic>
      <p:sp>
        <p:nvSpPr>
          <p:cNvPr id="6" name="TextBox 5">
            <a:extLst>
              <a:ext uri="{FF2B5EF4-FFF2-40B4-BE49-F238E27FC236}">
                <a16:creationId xmlns:a16="http://schemas.microsoft.com/office/drawing/2014/main" id="{20BD8E1D-7C67-8AEF-1A8B-CA7B675A5C6F}"/>
              </a:ext>
            </a:extLst>
          </p:cNvPr>
          <p:cNvSpPr txBox="1"/>
          <p:nvPr/>
        </p:nvSpPr>
        <p:spPr>
          <a:xfrm>
            <a:off x="263315" y="4110230"/>
            <a:ext cx="5700385" cy="2082202"/>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đồng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đều</a:t>
            </a:r>
            <a:r>
              <a:rPr lang="en-US" sz="2000" dirty="0">
                <a:latin typeface="Arial" panose="020B0604020202020204" pitchFamily="34" charset="0"/>
                <a:cs typeface="Arial" panose="020B0604020202020204" pitchFamily="34" charset="0"/>
              </a:rPr>
              <a:t>, p</a:t>
            </a:r>
            <a:r>
              <a:rPr lang="vi-VN" sz="2000" dirty="0">
                <a:latin typeface="Arial" panose="020B0604020202020204" pitchFamily="34" charset="0"/>
                <a:cs typeface="Arial" panose="020B0604020202020204" pitchFamily="34" charset="0"/>
              </a:rPr>
              <a:t>hản ánh khá trung thực hành vi và cảm xúc thực tế của người tiêu d</a:t>
            </a:r>
            <a:r>
              <a:rPr lang="en-US" sz="2000" dirty="0" err="1">
                <a:latin typeface="Arial" panose="020B0604020202020204" pitchFamily="34" charset="0"/>
                <a:cs typeface="Arial" panose="020B0604020202020204" pitchFamily="34" charset="0"/>
              </a:rPr>
              <a:t>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thường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hồi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thấy</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quá</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hài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lòng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quá</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không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hài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lòng</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3524913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C0734-BEDC-A8FA-F232-1A779315A90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8B5FE2-E57B-957E-567B-70B060CACA2F}"/>
              </a:ext>
            </a:extLst>
          </p:cNvPr>
          <p:cNvSpPr>
            <a:spLocks noGrp="1"/>
          </p:cNvSpPr>
          <p:nvPr>
            <p:ph type="sldNum" sz="quarter" idx="12"/>
          </p:nvPr>
        </p:nvSpPr>
        <p:spPr/>
        <p:txBody>
          <a:bodyPr/>
          <a:lstStyle/>
          <a:p>
            <a:fld id="{C1DACA90-E1C3-4C19-87AA-D4513B3BCE17}" type="slidenum">
              <a:rPr lang="en-AU" smtClean="0"/>
              <a:t>21</a:t>
            </a:fld>
            <a:endParaRPr lang="en-AU" dirty="0"/>
          </a:p>
        </p:txBody>
      </p:sp>
      <p:sp>
        <p:nvSpPr>
          <p:cNvPr id="11" name="TextBox 10">
            <a:extLst>
              <a:ext uri="{FF2B5EF4-FFF2-40B4-BE49-F238E27FC236}">
                <a16:creationId xmlns:a16="http://schemas.microsoft.com/office/drawing/2014/main" id="{7BE8857C-5824-F77A-A61E-7E6184C14530}"/>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DD28289E-CE99-64F5-493E-17792E2E28EE}"/>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3EDAF011-C0DB-3273-5D2B-D2503A5CDD2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3F55872D-298E-67B2-BCB4-C241297028AB}"/>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Naïve Bayes + TF-IDF:</a:t>
            </a:r>
          </a:p>
        </p:txBody>
      </p:sp>
      <p:graphicFrame>
        <p:nvGraphicFramePr>
          <p:cNvPr id="9" name="Table 8">
            <a:extLst>
              <a:ext uri="{FF2B5EF4-FFF2-40B4-BE49-F238E27FC236}">
                <a16:creationId xmlns:a16="http://schemas.microsoft.com/office/drawing/2014/main" id="{5EC0733D-9E30-2F36-C207-7BB7BE46D60A}"/>
              </a:ext>
            </a:extLst>
          </p:cNvPr>
          <p:cNvGraphicFramePr>
            <a:graphicFrameLocks noGrp="1"/>
          </p:cNvGraphicFramePr>
          <p:nvPr>
            <p:extLst>
              <p:ext uri="{D42A27DB-BD31-4B8C-83A1-F6EECF244321}">
                <p14:modId xmlns:p14="http://schemas.microsoft.com/office/powerpoint/2010/main" val="2703813605"/>
              </p:ext>
            </p:extLst>
          </p:nvPr>
        </p:nvGraphicFramePr>
        <p:xfrm>
          <a:off x="819216" y="2540320"/>
          <a:ext cx="10413056" cy="1900384"/>
        </p:xfrm>
        <a:graphic>
          <a:graphicData uri="http://schemas.openxmlformats.org/drawingml/2006/table">
            <a:tbl>
              <a:tblPr firstRow="1" bandRow="1">
                <a:tableStyleId>{5C22544A-7EE6-4342-B048-85BDC9FD1C3A}</a:tableStyleId>
              </a:tblPr>
              <a:tblGrid>
                <a:gridCol w="2603264">
                  <a:extLst>
                    <a:ext uri="{9D8B030D-6E8A-4147-A177-3AD203B41FA5}">
                      <a16:colId xmlns:a16="http://schemas.microsoft.com/office/drawing/2014/main" val="3459951826"/>
                    </a:ext>
                  </a:extLst>
                </a:gridCol>
                <a:gridCol w="2603264">
                  <a:extLst>
                    <a:ext uri="{9D8B030D-6E8A-4147-A177-3AD203B41FA5}">
                      <a16:colId xmlns:a16="http://schemas.microsoft.com/office/drawing/2014/main" val="2651727898"/>
                    </a:ext>
                  </a:extLst>
                </a:gridCol>
                <a:gridCol w="2603264">
                  <a:extLst>
                    <a:ext uri="{9D8B030D-6E8A-4147-A177-3AD203B41FA5}">
                      <a16:colId xmlns:a16="http://schemas.microsoft.com/office/drawing/2014/main" val="1997468019"/>
                    </a:ext>
                  </a:extLst>
                </a:gridCol>
                <a:gridCol w="2603264">
                  <a:extLst>
                    <a:ext uri="{9D8B030D-6E8A-4147-A177-3AD203B41FA5}">
                      <a16:colId xmlns:a16="http://schemas.microsoft.com/office/drawing/2014/main" val="1783388317"/>
                    </a:ext>
                  </a:extLst>
                </a:gridCol>
              </a:tblGrid>
              <a:tr h="475096">
                <a:tc>
                  <a:txBody>
                    <a:bodyPr/>
                    <a:lstStyle/>
                    <a:p>
                      <a:r>
                        <a:rPr lang="en-US" sz="1800" dirty="0">
                          <a:latin typeface="Arial" panose="020B0604020202020204" pitchFamily="34" charset="0"/>
                          <a:cs typeface="Arial" panose="020B0604020202020204" pitchFamily="34" charset="0"/>
                        </a:rPr>
                        <a:t>Label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Precision</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Recall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F1-score</a:t>
                      </a:r>
                    </a:p>
                  </a:txBody>
                  <a:tcPr marL="117147" marR="117147" marT="58573" marB="58573" anchor="ctr"/>
                </a:tc>
                <a:extLst>
                  <a:ext uri="{0D108BD9-81ED-4DB2-BD59-A6C34878D82A}">
                    <a16:rowId xmlns:a16="http://schemas.microsoft.com/office/drawing/2014/main" val="2617872089"/>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Tiêu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0.83</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0.78</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0.80</a:t>
                      </a:r>
                    </a:p>
                  </a:txBody>
                  <a:tcPr marL="117147" marR="117147" marT="58573" marB="58573" anchor="ctr"/>
                </a:tc>
                <a:extLst>
                  <a:ext uri="{0D108BD9-81ED-4DB2-BD59-A6C34878D82A}">
                    <a16:rowId xmlns:a16="http://schemas.microsoft.com/office/drawing/2014/main" val="310542397"/>
                  </a:ext>
                </a:extLst>
              </a:tr>
              <a:tr h="475096">
                <a:tc>
                  <a:txBody>
                    <a:bodyPr/>
                    <a:lstStyle/>
                    <a:p>
                      <a:r>
                        <a:rPr lang="en-US" sz="1800" b="1" dirty="0">
                          <a:latin typeface="Arial" panose="020B0604020202020204" pitchFamily="34" charset="0"/>
                          <a:cs typeface="Arial" panose="020B0604020202020204" pitchFamily="34" charset="0"/>
                        </a:rPr>
                        <a:t>0 (Trung </a:t>
                      </a:r>
                      <a:r>
                        <a:rPr lang="en-US" sz="1800" b="1" dirty="0" err="1">
                          <a:latin typeface="Arial" panose="020B0604020202020204" pitchFamily="34" charset="0"/>
                          <a:cs typeface="Arial" panose="020B0604020202020204" pitchFamily="34" charset="0"/>
                        </a:rPr>
                        <a:t>lập</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0.86</a:t>
                      </a:r>
                    </a:p>
                  </a:txBody>
                  <a:tcPr marL="117147" marR="117147" marT="58573" marB="58573" anchor="ctr"/>
                </a:tc>
                <a:tc>
                  <a:txBody>
                    <a:bodyPr/>
                    <a:lstStyle/>
                    <a:p>
                      <a:pPr algn="ctr"/>
                      <a:r>
                        <a:rPr lang="en-US" sz="1800" kern="1200" dirty="0">
                          <a:solidFill>
                            <a:schemeClr val="dk1"/>
                          </a:solidFill>
                          <a:effectLst/>
                          <a:latin typeface="+mn-lt"/>
                          <a:ea typeface="+mn-ea"/>
                          <a:cs typeface="+mn-cs"/>
                        </a:rPr>
                        <a:t>0.04</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0.08</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3764874553"/>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Tích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kern="1200" dirty="0">
                          <a:solidFill>
                            <a:schemeClr val="dk1"/>
                          </a:solidFill>
                          <a:effectLst/>
                          <a:latin typeface="+mn-lt"/>
                          <a:ea typeface="+mn-ea"/>
                          <a:cs typeface="+mn-cs"/>
                        </a:rPr>
                        <a:t>0.77</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0.95</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0.85</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73556931"/>
                  </a:ext>
                </a:extLst>
              </a:tr>
            </a:tbl>
          </a:graphicData>
        </a:graphic>
      </p:graphicFrame>
      <p:sp>
        <p:nvSpPr>
          <p:cNvPr id="10" name="TextBox 9">
            <a:extLst>
              <a:ext uri="{FF2B5EF4-FFF2-40B4-BE49-F238E27FC236}">
                <a16:creationId xmlns:a16="http://schemas.microsoft.com/office/drawing/2014/main" id="{AD64A56B-AA84-35EC-B4BC-DDCE8039C235}"/>
              </a:ext>
            </a:extLst>
          </p:cNvPr>
          <p:cNvSpPr txBox="1"/>
          <p:nvPr/>
        </p:nvSpPr>
        <p:spPr>
          <a:xfrm>
            <a:off x="694471" y="4726946"/>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Acurracy</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0.7879</a:t>
            </a:r>
          </a:p>
        </p:txBody>
      </p:sp>
    </p:spTree>
    <p:extLst>
      <p:ext uri="{BB962C8B-B14F-4D97-AF65-F5344CB8AC3E}">
        <p14:creationId xmlns:p14="http://schemas.microsoft.com/office/powerpoint/2010/main" val="42642530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DA4A3C-9D92-AD00-7A70-16CA4744AFF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6AAE578-E783-B9D2-2F9A-B2E337B77C52}"/>
              </a:ext>
            </a:extLst>
          </p:cNvPr>
          <p:cNvSpPr>
            <a:spLocks noGrp="1"/>
          </p:cNvSpPr>
          <p:nvPr>
            <p:ph type="sldNum" sz="quarter" idx="12"/>
          </p:nvPr>
        </p:nvSpPr>
        <p:spPr/>
        <p:txBody>
          <a:bodyPr/>
          <a:lstStyle/>
          <a:p>
            <a:fld id="{C1DACA90-E1C3-4C19-87AA-D4513B3BCE17}" type="slidenum">
              <a:rPr lang="en-AU" smtClean="0"/>
              <a:t>22</a:t>
            </a:fld>
            <a:endParaRPr lang="en-AU" dirty="0"/>
          </a:p>
        </p:txBody>
      </p:sp>
      <p:sp>
        <p:nvSpPr>
          <p:cNvPr id="11" name="TextBox 10">
            <a:extLst>
              <a:ext uri="{FF2B5EF4-FFF2-40B4-BE49-F238E27FC236}">
                <a16:creationId xmlns:a16="http://schemas.microsoft.com/office/drawing/2014/main" id="{29724D1F-5C33-7105-6D66-9A84B403A9F5}"/>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81C1076E-58BC-6967-1843-ADA087D7FEA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35077493-7DDE-59BD-5F7B-BD062B7CAE6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002C7006-9832-2BDE-8D4A-B24490EA737B}"/>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Naïve Bayes + TF-IDF:</a:t>
            </a:r>
          </a:p>
        </p:txBody>
      </p:sp>
      <p:pic>
        <p:nvPicPr>
          <p:cNvPr id="3" name="Picture 2">
            <a:extLst>
              <a:ext uri="{FF2B5EF4-FFF2-40B4-BE49-F238E27FC236}">
                <a16:creationId xmlns:a16="http://schemas.microsoft.com/office/drawing/2014/main" id="{486CF27D-DD86-1762-93A6-6072BE3D83F1}"/>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837237" y="841883"/>
            <a:ext cx="7073169" cy="5879592"/>
          </a:xfrm>
          <a:prstGeom prst="rect">
            <a:avLst/>
          </a:prstGeom>
          <a:noFill/>
          <a:ln>
            <a:noFill/>
          </a:ln>
        </p:spPr>
      </p:pic>
    </p:spTree>
    <p:extLst>
      <p:ext uri="{BB962C8B-B14F-4D97-AF65-F5344CB8AC3E}">
        <p14:creationId xmlns:p14="http://schemas.microsoft.com/office/powerpoint/2010/main" val="39422209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880E3-AE63-2239-F03C-6449594F266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D5592BE-8483-A55F-C315-209D44487971}"/>
              </a:ext>
            </a:extLst>
          </p:cNvPr>
          <p:cNvSpPr>
            <a:spLocks noGrp="1"/>
          </p:cNvSpPr>
          <p:nvPr>
            <p:ph type="sldNum" sz="quarter" idx="12"/>
          </p:nvPr>
        </p:nvSpPr>
        <p:spPr/>
        <p:txBody>
          <a:bodyPr/>
          <a:lstStyle/>
          <a:p>
            <a:fld id="{C1DACA90-E1C3-4C19-87AA-D4513B3BCE17}" type="slidenum">
              <a:rPr lang="en-AU" smtClean="0"/>
              <a:t>23</a:t>
            </a:fld>
            <a:endParaRPr lang="en-AU" dirty="0"/>
          </a:p>
        </p:txBody>
      </p:sp>
      <p:sp>
        <p:nvSpPr>
          <p:cNvPr id="11" name="TextBox 10">
            <a:extLst>
              <a:ext uri="{FF2B5EF4-FFF2-40B4-BE49-F238E27FC236}">
                <a16:creationId xmlns:a16="http://schemas.microsoft.com/office/drawing/2014/main" id="{B0EA134B-3170-2AE5-B123-F1633D71D688}"/>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B24E233D-9BF7-C499-E260-AE46761BFB32}"/>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5901EE4F-C44E-7529-8AAE-C23E2CA993C9}"/>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FD3DB3C1-3219-47E2-85BB-D09883BEFAE5}"/>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Naïve Bayes + </a:t>
            </a:r>
            <a:r>
              <a:rPr lang="en-US" sz="2000" b="1" dirty="0" err="1">
                <a:latin typeface="Arial" panose="020B0604020202020204" pitchFamily="34" charset="0"/>
                <a:cs typeface="Arial" panose="020B0604020202020204" pitchFamily="34" charset="0"/>
              </a:rPr>
              <a:t>BoW</a:t>
            </a:r>
            <a:r>
              <a:rPr lang="en-US" sz="2000" b="1" dirty="0">
                <a:latin typeface="Arial" panose="020B0604020202020204" pitchFamily="34" charset="0"/>
                <a:cs typeface="Arial" panose="020B0604020202020204" pitchFamily="34" charset="0"/>
              </a:rPr>
              <a:t>:</a:t>
            </a:r>
          </a:p>
        </p:txBody>
      </p:sp>
      <p:graphicFrame>
        <p:nvGraphicFramePr>
          <p:cNvPr id="9" name="Table 8">
            <a:extLst>
              <a:ext uri="{FF2B5EF4-FFF2-40B4-BE49-F238E27FC236}">
                <a16:creationId xmlns:a16="http://schemas.microsoft.com/office/drawing/2014/main" id="{A87EA238-FF11-B594-5E50-07958573D5AE}"/>
              </a:ext>
            </a:extLst>
          </p:cNvPr>
          <p:cNvGraphicFramePr>
            <a:graphicFrameLocks noGrp="1"/>
          </p:cNvGraphicFramePr>
          <p:nvPr/>
        </p:nvGraphicFramePr>
        <p:xfrm>
          <a:off x="819216" y="2540320"/>
          <a:ext cx="10413056" cy="1900384"/>
        </p:xfrm>
        <a:graphic>
          <a:graphicData uri="http://schemas.openxmlformats.org/drawingml/2006/table">
            <a:tbl>
              <a:tblPr firstRow="1" bandRow="1">
                <a:tableStyleId>{5C22544A-7EE6-4342-B048-85BDC9FD1C3A}</a:tableStyleId>
              </a:tblPr>
              <a:tblGrid>
                <a:gridCol w="2603264">
                  <a:extLst>
                    <a:ext uri="{9D8B030D-6E8A-4147-A177-3AD203B41FA5}">
                      <a16:colId xmlns:a16="http://schemas.microsoft.com/office/drawing/2014/main" val="3459951826"/>
                    </a:ext>
                  </a:extLst>
                </a:gridCol>
                <a:gridCol w="2603264">
                  <a:extLst>
                    <a:ext uri="{9D8B030D-6E8A-4147-A177-3AD203B41FA5}">
                      <a16:colId xmlns:a16="http://schemas.microsoft.com/office/drawing/2014/main" val="2651727898"/>
                    </a:ext>
                  </a:extLst>
                </a:gridCol>
                <a:gridCol w="2603264">
                  <a:extLst>
                    <a:ext uri="{9D8B030D-6E8A-4147-A177-3AD203B41FA5}">
                      <a16:colId xmlns:a16="http://schemas.microsoft.com/office/drawing/2014/main" val="1997468019"/>
                    </a:ext>
                  </a:extLst>
                </a:gridCol>
                <a:gridCol w="2603264">
                  <a:extLst>
                    <a:ext uri="{9D8B030D-6E8A-4147-A177-3AD203B41FA5}">
                      <a16:colId xmlns:a16="http://schemas.microsoft.com/office/drawing/2014/main" val="1783388317"/>
                    </a:ext>
                  </a:extLst>
                </a:gridCol>
              </a:tblGrid>
              <a:tr h="475096">
                <a:tc>
                  <a:txBody>
                    <a:bodyPr/>
                    <a:lstStyle/>
                    <a:p>
                      <a:r>
                        <a:rPr lang="en-US" sz="1800" dirty="0">
                          <a:latin typeface="Arial" panose="020B0604020202020204" pitchFamily="34" charset="0"/>
                          <a:cs typeface="Arial" panose="020B0604020202020204" pitchFamily="34" charset="0"/>
                        </a:rPr>
                        <a:t>Label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Precision</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Recall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F1-score</a:t>
                      </a:r>
                    </a:p>
                  </a:txBody>
                  <a:tcPr marL="117147" marR="117147" marT="58573" marB="58573" anchor="ctr"/>
                </a:tc>
                <a:extLst>
                  <a:ext uri="{0D108BD9-81ED-4DB2-BD59-A6C34878D82A}">
                    <a16:rowId xmlns:a16="http://schemas.microsoft.com/office/drawing/2014/main" val="2617872089"/>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Tiêu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0.81</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0.81</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0.81</a:t>
                      </a:r>
                    </a:p>
                  </a:txBody>
                  <a:tcPr marL="117147" marR="117147" marT="58573" marB="58573" anchor="ctr"/>
                </a:tc>
                <a:extLst>
                  <a:ext uri="{0D108BD9-81ED-4DB2-BD59-A6C34878D82A}">
                    <a16:rowId xmlns:a16="http://schemas.microsoft.com/office/drawing/2014/main" val="310542397"/>
                  </a:ext>
                </a:extLst>
              </a:tr>
              <a:tr h="475096">
                <a:tc>
                  <a:txBody>
                    <a:bodyPr/>
                    <a:lstStyle/>
                    <a:p>
                      <a:r>
                        <a:rPr lang="en-US" sz="1800" b="1" dirty="0">
                          <a:latin typeface="Arial" panose="020B0604020202020204" pitchFamily="34" charset="0"/>
                          <a:cs typeface="Arial" panose="020B0604020202020204" pitchFamily="34" charset="0"/>
                        </a:rPr>
                        <a:t>0 (Trung </a:t>
                      </a:r>
                      <a:r>
                        <a:rPr lang="en-US" sz="1800" b="1" dirty="0" err="1">
                          <a:latin typeface="Arial" panose="020B0604020202020204" pitchFamily="34" charset="0"/>
                          <a:cs typeface="Arial" panose="020B0604020202020204" pitchFamily="34" charset="0"/>
                        </a:rPr>
                        <a:t>lập</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0.66</a:t>
                      </a:r>
                    </a:p>
                  </a:txBody>
                  <a:tcPr marL="117147" marR="117147" marT="58573" marB="58573" anchor="ctr"/>
                </a:tc>
                <a:tc>
                  <a:txBody>
                    <a:bodyPr/>
                    <a:lstStyle/>
                    <a:p>
                      <a:pPr algn="ctr"/>
                      <a:r>
                        <a:rPr lang="en-US" sz="1800" kern="1200" dirty="0">
                          <a:solidFill>
                            <a:schemeClr val="dk1"/>
                          </a:solidFill>
                          <a:effectLst/>
                          <a:latin typeface="+mn-lt"/>
                          <a:ea typeface="+mn-ea"/>
                          <a:cs typeface="+mn-cs"/>
                        </a:rPr>
                        <a:t>0.32</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0.43</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3764874553"/>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Tích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kern="1200" dirty="0">
                          <a:solidFill>
                            <a:schemeClr val="dk1"/>
                          </a:solidFill>
                          <a:effectLst/>
                          <a:latin typeface="+mn-lt"/>
                          <a:ea typeface="+mn-ea"/>
                          <a:cs typeface="+mn-cs"/>
                        </a:rPr>
                        <a:t>0.82</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0.91</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0.86</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73556931"/>
                  </a:ext>
                </a:extLst>
              </a:tr>
            </a:tbl>
          </a:graphicData>
        </a:graphic>
      </p:graphicFrame>
      <p:sp>
        <p:nvSpPr>
          <p:cNvPr id="10" name="TextBox 9">
            <a:extLst>
              <a:ext uri="{FF2B5EF4-FFF2-40B4-BE49-F238E27FC236}">
                <a16:creationId xmlns:a16="http://schemas.microsoft.com/office/drawing/2014/main" id="{0012F8D6-78FD-3A64-DED4-2C1FCF27F4B7}"/>
              </a:ext>
            </a:extLst>
          </p:cNvPr>
          <p:cNvSpPr txBox="1"/>
          <p:nvPr/>
        </p:nvSpPr>
        <p:spPr>
          <a:xfrm>
            <a:off x="694471" y="4726946"/>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Acurracy</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0.8111</a:t>
            </a:r>
          </a:p>
        </p:txBody>
      </p:sp>
    </p:spTree>
    <p:extLst>
      <p:ext uri="{BB962C8B-B14F-4D97-AF65-F5344CB8AC3E}">
        <p14:creationId xmlns:p14="http://schemas.microsoft.com/office/powerpoint/2010/main" val="42297371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EF5F1-4EA8-ABA6-3601-8959A1DBE96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B392A4-642D-AFF7-84C4-A4B36D47BF41}"/>
              </a:ext>
            </a:extLst>
          </p:cNvPr>
          <p:cNvSpPr>
            <a:spLocks noGrp="1"/>
          </p:cNvSpPr>
          <p:nvPr>
            <p:ph type="sldNum" sz="quarter" idx="12"/>
          </p:nvPr>
        </p:nvSpPr>
        <p:spPr/>
        <p:txBody>
          <a:bodyPr/>
          <a:lstStyle/>
          <a:p>
            <a:fld id="{C1DACA90-E1C3-4C19-87AA-D4513B3BCE17}" type="slidenum">
              <a:rPr lang="en-AU" smtClean="0"/>
              <a:t>24</a:t>
            </a:fld>
            <a:endParaRPr lang="en-AU" dirty="0"/>
          </a:p>
        </p:txBody>
      </p:sp>
      <p:sp>
        <p:nvSpPr>
          <p:cNvPr id="11" name="TextBox 10">
            <a:extLst>
              <a:ext uri="{FF2B5EF4-FFF2-40B4-BE49-F238E27FC236}">
                <a16:creationId xmlns:a16="http://schemas.microsoft.com/office/drawing/2014/main" id="{237B7743-0220-ADB0-BD4F-6D473ED71868}"/>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09A2007B-F4DC-BC6A-59B0-9CB4001DF1BF}"/>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F834B3EF-B771-1C7F-944F-00F9AB8E9B06}"/>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pic>
        <p:nvPicPr>
          <p:cNvPr id="7" name="Picture 6">
            <a:extLst>
              <a:ext uri="{FF2B5EF4-FFF2-40B4-BE49-F238E27FC236}">
                <a16:creationId xmlns:a16="http://schemas.microsoft.com/office/drawing/2014/main" id="{9DA5957F-59AF-872A-2DE3-982F6FCCD009}"/>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798946" y="841026"/>
            <a:ext cx="7065972" cy="5880449"/>
          </a:xfrm>
          <a:prstGeom prst="rect">
            <a:avLst/>
          </a:prstGeom>
          <a:noFill/>
          <a:ln>
            <a:noFill/>
          </a:ln>
        </p:spPr>
      </p:pic>
      <p:sp>
        <p:nvSpPr>
          <p:cNvPr id="8" name="TextBox 7">
            <a:extLst>
              <a:ext uri="{FF2B5EF4-FFF2-40B4-BE49-F238E27FC236}">
                <a16:creationId xmlns:a16="http://schemas.microsoft.com/office/drawing/2014/main" id="{55601D7C-4A3F-BCB8-F699-EE3BEDC460F5}"/>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Naïve Bayes + </a:t>
            </a:r>
            <a:r>
              <a:rPr lang="en-US" sz="2000" b="1" dirty="0" err="1">
                <a:latin typeface="Arial" panose="020B0604020202020204" pitchFamily="34" charset="0"/>
                <a:cs typeface="Arial" panose="020B0604020202020204" pitchFamily="34" charset="0"/>
              </a:rPr>
              <a:t>BoW</a:t>
            </a:r>
            <a:r>
              <a:rPr lang="en-US" sz="2000" b="1"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6144423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E1330-52DE-3463-7923-B292AC43C3A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97F14F5-553A-373D-E03E-06BD78463B28}"/>
              </a:ext>
            </a:extLst>
          </p:cNvPr>
          <p:cNvSpPr>
            <a:spLocks noGrp="1"/>
          </p:cNvSpPr>
          <p:nvPr>
            <p:ph type="sldNum" sz="quarter" idx="12"/>
          </p:nvPr>
        </p:nvSpPr>
        <p:spPr/>
        <p:txBody>
          <a:bodyPr/>
          <a:lstStyle/>
          <a:p>
            <a:fld id="{C1DACA90-E1C3-4C19-87AA-D4513B3BCE17}" type="slidenum">
              <a:rPr lang="en-AU" smtClean="0"/>
              <a:t>25</a:t>
            </a:fld>
            <a:endParaRPr lang="en-AU" dirty="0"/>
          </a:p>
        </p:txBody>
      </p:sp>
      <p:sp>
        <p:nvSpPr>
          <p:cNvPr id="11" name="TextBox 10">
            <a:extLst>
              <a:ext uri="{FF2B5EF4-FFF2-40B4-BE49-F238E27FC236}">
                <a16:creationId xmlns:a16="http://schemas.microsoft.com/office/drawing/2014/main" id="{8B8F61AF-9089-ADC2-DE29-DA37E87230E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7A549286-7BD4-A931-472E-A3DB911D7E1F}"/>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BF929C5A-E2B4-CB0F-F6EB-88673F5863CD}"/>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DF9A107A-6B75-1AAA-1FB2-398C3B713C75}"/>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PhoBERT</a:t>
            </a:r>
            <a:r>
              <a:rPr lang="en-US" sz="2000" b="1" dirty="0">
                <a:latin typeface="Arial" panose="020B0604020202020204" pitchFamily="34" charset="0"/>
                <a:cs typeface="Arial" panose="020B0604020202020204" pitchFamily="34" charset="0"/>
              </a:rPr>
              <a:t>:</a:t>
            </a:r>
          </a:p>
        </p:txBody>
      </p:sp>
      <p:pic>
        <p:nvPicPr>
          <p:cNvPr id="3" name="Picture 2">
            <a:extLst>
              <a:ext uri="{FF2B5EF4-FFF2-40B4-BE49-F238E27FC236}">
                <a16:creationId xmlns:a16="http://schemas.microsoft.com/office/drawing/2014/main" id="{F013D2B7-7E95-3B63-0E52-AADB43C4A950}"/>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290445" y="872836"/>
            <a:ext cx="8638616" cy="5529945"/>
          </a:xfrm>
          <a:prstGeom prst="rect">
            <a:avLst/>
          </a:prstGeom>
          <a:noFill/>
          <a:ln>
            <a:noFill/>
          </a:ln>
        </p:spPr>
      </p:pic>
    </p:spTree>
    <p:extLst>
      <p:ext uri="{BB962C8B-B14F-4D97-AF65-F5344CB8AC3E}">
        <p14:creationId xmlns:p14="http://schemas.microsoft.com/office/powerpoint/2010/main" val="13961290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94F16-8497-A3FF-45FA-45C0C6C80F8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732680D-1C32-F77C-D517-5BCD42F64A83}"/>
              </a:ext>
            </a:extLst>
          </p:cNvPr>
          <p:cNvSpPr>
            <a:spLocks noGrp="1"/>
          </p:cNvSpPr>
          <p:nvPr>
            <p:ph type="sldNum" sz="quarter" idx="12"/>
          </p:nvPr>
        </p:nvSpPr>
        <p:spPr/>
        <p:txBody>
          <a:bodyPr/>
          <a:lstStyle/>
          <a:p>
            <a:fld id="{C1DACA90-E1C3-4C19-87AA-D4513B3BCE17}" type="slidenum">
              <a:rPr lang="en-AU" smtClean="0"/>
              <a:t>26</a:t>
            </a:fld>
            <a:endParaRPr lang="en-AU" dirty="0"/>
          </a:p>
        </p:txBody>
      </p:sp>
      <p:sp>
        <p:nvSpPr>
          <p:cNvPr id="11" name="TextBox 10">
            <a:extLst>
              <a:ext uri="{FF2B5EF4-FFF2-40B4-BE49-F238E27FC236}">
                <a16:creationId xmlns:a16="http://schemas.microsoft.com/office/drawing/2014/main" id="{642735E2-6C44-B05F-4967-4AA1A9D34FBD}"/>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95858064-DF3F-D303-09BE-ABFC870DBF8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EF3DD108-AD50-322C-2819-4164A842F5A7}"/>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8E3AEF6D-67B0-AA9D-228A-B1880C196A5E}"/>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PhoBERT</a:t>
            </a:r>
            <a:r>
              <a:rPr lang="en-US" sz="2000" b="1" dirty="0">
                <a:latin typeface="Arial" panose="020B0604020202020204" pitchFamily="34" charset="0"/>
                <a:cs typeface="Arial" panose="020B0604020202020204" pitchFamily="34" charset="0"/>
              </a:rPr>
              <a:t>:</a:t>
            </a:r>
          </a:p>
        </p:txBody>
      </p:sp>
      <p:graphicFrame>
        <p:nvGraphicFramePr>
          <p:cNvPr id="9" name="Table 8">
            <a:extLst>
              <a:ext uri="{FF2B5EF4-FFF2-40B4-BE49-F238E27FC236}">
                <a16:creationId xmlns:a16="http://schemas.microsoft.com/office/drawing/2014/main" id="{3A8F17EC-0FF9-71E3-CA5C-AE19349B09F3}"/>
              </a:ext>
            </a:extLst>
          </p:cNvPr>
          <p:cNvGraphicFramePr>
            <a:graphicFrameLocks noGrp="1"/>
          </p:cNvGraphicFramePr>
          <p:nvPr>
            <p:extLst>
              <p:ext uri="{D42A27DB-BD31-4B8C-83A1-F6EECF244321}">
                <p14:modId xmlns:p14="http://schemas.microsoft.com/office/powerpoint/2010/main" val="2015536822"/>
              </p:ext>
            </p:extLst>
          </p:nvPr>
        </p:nvGraphicFramePr>
        <p:xfrm>
          <a:off x="819216" y="2540320"/>
          <a:ext cx="10413056" cy="1900384"/>
        </p:xfrm>
        <a:graphic>
          <a:graphicData uri="http://schemas.openxmlformats.org/drawingml/2006/table">
            <a:tbl>
              <a:tblPr firstRow="1" bandRow="1">
                <a:tableStyleId>{5C22544A-7EE6-4342-B048-85BDC9FD1C3A}</a:tableStyleId>
              </a:tblPr>
              <a:tblGrid>
                <a:gridCol w="2603264">
                  <a:extLst>
                    <a:ext uri="{9D8B030D-6E8A-4147-A177-3AD203B41FA5}">
                      <a16:colId xmlns:a16="http://schemas.microsoft.com/office/drawing/2014/main" val="3459951826"/>
                    </a:ext>
                  </a:extLst>
                </a:gridCol>
                <a:gridCol w="2603264">
                  <a:extLst>
                    <a:ext uri="{9D8B030D-6E8A-4147-A177-3AD203B41FA5}">
                      <a16:colId xmlns:a16="http://schemas.microsoft.com/office/drawing/2014/main" val="2651727898"/>
                    </a:ext>
                  </a:extLst>
                </a:gridCol>
                <a:gridCol w="2603264">
                  <a:extLst>
                    <a:ext uri="{9D8B030D-6E8A-4147-A177-3AD203B41FA5}">
                      <a16:colId xmlns:a16="http://schemas.microsoft.com/office/drawing/2014/main" val="1997468019"/>
                    </a:ext>
                  </a:extLst>
                </a:gridCol>
                <a:gridCol w="2603264">
                  <a:extLst>
                    <a:ext uri="{9D8B030D-6E8A-4147-A177-3AD203B41FA5}">
                      <a16:colId xmlns:a16="http://schemas.microsoft.com/office/drawing/2014/main" val="1783388317"/>
                    </a:ext>
                  </a:extLst>
                </a:gridCol>
              </a:tblGrid>
              <a:tr h="475096">
                <a:tc>
                  <a:txBody>
                    <a:bodyPr/>
                    <a:lstStyle/>
                    <a:p>
                      <a:r>
                        <a:rPr lang="en-US" sz="1800" dirty="0">
                          <a:latin typeface="Arial" panose="020B0604020202020204" pitchFamily="34" charset="0"/>
                          <a:cs typeface="Arial" panose="020B0604020202020204" pitchFamily="34" charset="0"/>
                        </a:rPr>
                        <a:t>Label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Precision</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Recall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F1-score</a:t>
                      </a:r>
                    </a:p>
                  </a:txBody>
                  <a:tcPr marL="117147" marR="117147" marT="58573" marB="58573" anchor="ctr"/>
                </a:tc>
                <a:extLst>
                  <a:ext uri="{0D108BD9-81ED-4DB2-BD59-A6C34878D82A}">
                    <a16:rowId xmlns:a16="http://schemas.microsoft.com/office/drawing/2014/main" val="2617872089"/>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Tiêu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0.92</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0.90</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0.91</a:t>
                      </a:r>
                    </a:p>
                  </a:txBody>
                  <a:tcPr marL="117147" marR="117147" marT="58573" marB="58573" anchor="ctr"/>
                </a:tc>
                <a:extLst>
                  <a:ext uri="{0D108BD9-81ED-4DB2-BD59-A6C34878D82A}">
                    <a16:rowId xmlns:a16="http://schemas.microsoft.com/office/drawing/2014/main" val="310542397"/>
                  </a:ext>
                </a:extLst>
              </a:tr>
              <a:tr h="475096">
                <a:tc>
                  <a:txBody>
                    <a:bodyPr/>
                    <a:lstStyle/>
                    <a:p>
                      <a:r>
                        <a:rPr lang="en-US" sz="1800" b="1" dirty="0">
                          <a:latin typeface="Arial" panose="020B0604020202020204" pitchFamily="34" charset="0"/>
                          <a:cs typeface="Arial" panose="020B0604020202020204" pitchFamily="34" charset="0"/>
                        </a:rPr>
                        <a:t>0 (Trung </a:t>
                      </a:r>
                      <a:r>
                        <a:rPr lang="en-US" sz="1800" b="1" dirty="0" err="1">
                          <a:latin typeface="Arial" panose="020B0604020202020204" pitchFamily="34" charset="0"/>
                          <a:cs typeface="Arial" panose="020B0604020202020204" pitchFamily="34" charset="0"/>
                        </a:rPr>
                        <a:t>lập</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0.71</a:t>
                      </a:r>
                    </a:p>
                  </a:txBody>
                  <a:tcPr marL="117147" marR="117147" marT="58573" marB="58573" anchor="ctr"/>
                </a:tc>
                <a:tc>
                  <a:txBody>
                    <a:bodyPr/>
                    <a:lstStyle/>
                    <a:p>
                      <a:pPr algn="ctr"/>
                      <a:r>
                        <a:rPr lang="en-US" sz="1800" kern="1200" dirty="0">
                          <a:solidFill>
                            <a:schemeClr val="dk1"/>
                          </a:solidFill>
                          <a:effectLst/>
                          <a:latin typeface="+mn-lt"/>
                          <a:ea typeface="+mn-ea"/>
                          <a:cs typeface="+mn-cs"/>
                        </a:rPr>
                        <a:t>0.72</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0.72</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3764874553"/>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Tích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kern="1200" dirty="0">
                          <a:solidFill>
                            <a:schemeClr val="dk1"/>
                          </a:solidFill>
                          <a:effectLst/>
                          <a:latin typeface="+mn-lt"/>
                          <a:ea typeface="+mn-ea"/>
                          <a:cs typeface="+mn-cs"/>
                        </a:rPr>
                        <a:t>0.93</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0.94</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0.94</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73556931"/>
                  </a:ext>
                </a:extLst>
              </a:tr>
            </a:tbl>
          </a:graphicData>
        </a:graphic>
      </p:graphicFrame>
      <p:sp>
        <p:nvSpPr>
          <p:cNvPr id="10" name="TextBox 9">
            <a:extLst>
              <a:ext uri="{FF2B5EF4-FFF2-40B4-BE49-F238E27FC236}">
                <a16:creationId xmlns:a16="http://schemas.microsoft.com/office/drawing/2014/main" id="{C3757311-F3F9-D2AA-3A13-C08EFC079146}"/>
              </a:ext>
            </a:extLst>
          </p:cNvPr>
          <p:cNvSpPr txBox="1"/>
          <p:nvPr/>
        </p:nvSpPr>
        <p:spPr>
          <a:xfrm>
            <a:off x="694471" y="4726946"/>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Acurracy</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0.9079</a:t>
            </a:r>
          </a:p>
        </p:txBody>
      </p:sp>
    </p:spTree>
    <p:extLst>
      <p:ext uri="{BB962C8B-B14F-4D97-AF65-F5344CB8AC3E}">
        <p14:creationId xmlns:p14="http://schemas.microsoft.com/office/powerpoint/2010/main" val="887264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EE4E4-4B79-2D9E-6586-F6ED4B860CF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E1E2FBA-7F2B-E4F1-87F9-730EB92A431F}"/>
              </a:ext>
            </a:extLst>
          </p:cNvPr>
          <p:cNvSpPr>
            <a:spLocks noGrp="1"/>
          </p:cNvSpPr>
          <p:nvPr>
            <p:ph type="sldNum" sz="quarter" idx="12"/>
          </p:nvPr>
        </p:nvSpPr>
        <p:spPr/>
        <p:txBody>
          <a:bodyPr/>
          <a:lstStyle/>
          <a:p>
            <a:fld id="{C1DACA90-E1C3-4C19-87AA-D4513B3BCE17}" type="slidenum">
              <a:rPr lang="en-AU" smtClean="0"/>
              <a:t>27</a:t>
            </a:fld>
            <a:endParaRPr lang="en-AU" dirty="0"/>
          </a:p>
        </p:txBody>
      </p:sp>
      <p:sp>
        <p:nvSpPr>
          <p:cNvPr id="11" name="TextBox 10">
            <a:extLst>
              <a:ext uri="{FF2B5EF4-FFF2-40B4-BE49-F238E27FC236}">
                <a16:creationId xmlns:a16="http://schemas.microsoft.com/office/drawing/2014/main" id="{9040E888-07E1-2A5C-B8AB-00D3818BE7AC}"/>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2A11C2E8-5E28-2ED1-138A-20AE04034BF0}"/>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013AD419-AF4B-7885-BEC9-ACD1731CD5B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94C612EE-0111-9B8D-7398-406F1F45DBE5}"/>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PhoBERT</a:t>
            </a:r>
            <a:r>
              <a:rPr lang="en-US" sz="2000" b="1" dirty="0">
                <a:latin typeface="Arial" panose="020B0604020202020204" pitchFamily="34" charset="0"/>
                <a:cs typeface="Arial" panose="020B0604020202020204" pitchFamily="34" charset="0"/>
              </a:rPr>
              <a:t>:</a:t>
            </a:r>
          </a:p>
        </p:txBody>
      </p:sp>
      <p:pic>
        <p:nvPicPr>
          <p:cNvPr id="3" name="Picture 2">
            <a:extLst>
              <a:ext uri="{FF2B5EF4-FFF2-40B4-BE49-F238E27FC236}">
                <a16:creationId xmlns:a16="http://schemas.microsoft.com/office/drawing/2014/main" id="{601CB27A-3119-E2A5-C1E3-9D3CF4501EF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920109" y="841883"/>
            <a:ext cx="7073681" cy="5879592"/>
          </a:xfrm>
          <a:prstGeom prst="rect">
            <a:avLst/>
          </a:prstGeom>
          <a:noFill/>
          <a:ln>
            <a:noFill/>
          </a:ln>
        </p:spPr>
      </p:pic>
    </p:spTree>
    <p:extLst>
      <p:ext uri="{BB962C8B-B14F-4D97-AF65-F5344CB8AC3E}">
        <p14:creationId xmlns:p14="http://schemas.microsoft.com/office/powerpoint/2010/main" val="5349250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9C167-7368-E9C1-BBD8-7E70D731905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44783F3-FE9A-50E2-9469-0E5F6B309086}"/>
              </a:ext>
            </a:extLst>
          </p:cNvPr>
          <p:cNvSpPr>
            <a:spLocks noGrp="1"/>
          </p:cNvSpPr>
          <p:nvPr>
            <p:ph type="sldNum" sz="quarter" idx="12"/>
          </p:nvPr>
        </p:nvSpPr>
        <p:spPr/>
        <p:txBody>
          <a:bodyPr/>
          <a:lstStyle/>
          <a:p>
            <a:fld id="{C1DACA90-E1C3-4C19-87AA-D4513B3BCE17}" type="slidenum">
              <a:rPr lang="en-AU" smtClean="0"/>
              <a:t>28</a:t>
            </a:fld>
            <a:endParaRPr lang="en-AU" dirty="0"/>
          </a:p>
        </p:txBody>
      </p:sp>
      <p:sp>
        <p:nvSpPr>
          <p:cNvPr id="11" name="TextBox 10">
            <a:extLst>
              <a:ext uri="{FF2B5EF4-FFF2-40B4-BE49-F238E27FC236}">
                <a16:creationId xmlns:a16="http://schemas.microsoft.com/office/drawing/2014/main" id="{8EF29627-724E-376F-F6EC-11D51A86ECE1}"/>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74BFF535-C632-F0F0-866E-77DD4A09976D}"/>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B24A0D51-0E7B-B6C4-96EF-D9D8D697000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FE1AB7C9-52A5-90E5-1F50-75D829230E1F}"/>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So </a:t>
            </a:r>
            <a:r>
              <a:rPr lang="en-US" sz="2000" b="1" dirty="0" err="1">
                <a:latin typeface="Arial" panose="020B0604020202020204" pitchFamily="34" charset="0"/>
                <a:cs typeface="Arial" panose="020B0604020202020204" pitchFamily="34" charset="0"/>
              </a:rPr>
              <a:t>sánh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kết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quả</a:t>
            </a:r>
            <a:r>
              <a:rPr lang="en-US" sz="2000" b="1" dirty="0">
                <a:latin typeface="Arial" panose="020B0604020202020204" pitchFamily="34" charset="0"/>
                <a:cs typeface="Arial" panose="020B0604020202020204" pitchFamily="34" charset="0"/>
              </a:rPr>
              <a:t>:</a:t>
            </a:r>
          </a:p>
        </p:txBody>
      </p:sp>
      <p:graphicFrame>
        <p:nvGraphicFramePr>
          <p:cNvPr id="9" name="Table 8">
            <a:extLst>
              <a:ext uri="{FF2B5EF4-FFF2-40B4-BE49-F238E27FC236}">
                <a16:creationId xmlns:a16="http://schemas.microsoft.com/office/drawing/2014/main" id="{09F1D46A-5A62-0FBB-E149-A939FA6F651D}"/>
              </a:ext>
            </a:extLst>
          </p:cNvPr>
          <p:cNvGraphicFramePr>
            <a:graphicFrameLocks noGrp="1"/>
          </p:cNvGraphicFramePr>
          <p:nvPr>
            <p:extLst>
              <p:ext uri="{D42A27DB-BD31-4B8C-83A1-F6EECF244321}">
                <p14:modId xmlns:p14="http://schemas.microsoft.com/office/powerpoint/2010/main" val="1989578020"/>
              </p:ext>
            </p:extLst>
          </p:nvPr>
        </p:nvGraphicFramePr>
        <p:xfrm>
          <a:off x="756795" y="2820876"/>
          <a:ext cx="10413055" cy="1900384"/>
        </p:xfrm>
        <a:graphic>
          <a:graphicData uri="http://schemas.openxmlformats.org/drawingml/2006/table">
            <a:tbl>
              <a:tblPr firstRow="1" bandRow="1">
                <a:tableStyleId>{5C22544A-7EE6-4342-B048-85BDC9FD1C3A}</a:tableStyleId>
              </a:tblPr>
              <a:tblGrid>
                <a:gridCol w="3524184">
                  <a:extLst>
                    <a:ext uri="{9D8B030D-6E8A-4147-A177-3AD203B41FA5}">
                      <a16:colId xmlns:a16="http://schemas.microsoft.com/office/drawing/2014/main" val="3459951826"/>
                    </a:ext>
                  </a:extLst>
                </a:gridCol>
                <a:gridCol w="1704109">
                  <a:extLst>
                    <a:ext uri="{9D8B030D-6E8A-4147-A177-3AD203B41FA5}">
                      <a16:colId xmlns:a16="http://schemas.microsoft.com/office/drawing/2014/main" val="2651727898"/>
                    </a:ext>
                  </a:extLst>
                </a:gridCol>
                <a:gridCol w="1756064">
                  <a:extLst>
                    <a:ext uri="{9D8B030D-6E8A-4147-A177-3AD203B41FA5}">
                      <a16:colId xmlns:a16="http://schemas.microsoft.com/office/drawing/2014/main" val="1997468019"/>
                    </a:ext>
                  </a:extLst>
                </a:gridCol>
                <a:gridCol w="1756063">
                  <a:extLst>
                    <a:ext uri="{9D8B030D-6E8A-4147-A177-3AD203B41FA5}">
                      <a16:colId xmlns:a16="http://schemas.microsoft.com/office/drawing/2014/main" val="1783388317"/>
                    </a:ext>
                  </a:extLst>
                </a:gridCol>
                <a:gridCol w="1672635">
                  <a:extLst>
                    <a:ext uri="{9D8B030D-6E8A-4147-A177-3AD203B41FA5}">
                      <a16:colId xmlns:a16="http://schemas.microsoft.com/office/drawing/2014/main" val="462568489"/>
                    </a:ext>
                  </a:extLst>
                </a:gridCol>
              </a:tblGrid>
              <a:tr h="475096">
                <a:tc>
                  <a:txBody>
                    <a:bodyPr/>
                    <a:lstStyle/>
                    <a:p>
                      <a:r>
                        <a:rPr lang="en-US" sz="1800" dirty="0" err="1">
                          <a:latin typeface="Arial" panose="020B0604020202020204" pitchFamily="34" charset="0"/>
                          <a:cs typeface="Arial" panose="020B0604020202020204" pitchFamily="34" charset="0"/>
                        </a:rPr>
                        <a:t>Mô</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hình</a:t>
                      </a:r>
                      <a:r>
                        <a:rPr lang="en-US" sz="1800" dirty="0">
                          <a:latin typeface="Arial" panose="020B0604020202020204" pitchFamily="34" charset="0"/>
                          <a:cs typeface="Arial" panose="020B0604020202020204" pitchFamily="34" charset="0"/>
                        </a:rPr>
                        <a:t>\ Macro avg</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Precision</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Recall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F1-score</a:t>
                      </a:r>
                    </a:p>
                  </a:txBody>
                  <a:tcPr marL="117147" marR="117147" marT="58573" marB="58573" anchor="ctr"/>
                </a:tc>
                <a:tc>
                  <a:txBody>
                    <a:bodyPr/>
                    <a:lstStyle/>
                    <a:p>
                      <a:pPr algn="ctr"/>
                      <a:r>
                        <a:rPr lang="en-US" sz="1800" dirty="0" err="1">
                          <a:latin typeface="Arial" panose="020B0604020202020204" pitchFamily="34" charset="0"/>
                          <a:cs typeface="Arial" panose="020B0604020202020204" pitchFamily="34" charset="0"/>
                        </a:rPr>
                        <a:t>Acurracy</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2617872089"/>
                  </a:ext>
                </a:extLst>
              </a:tr>
              <a:tr h="475096">
                <a:tc>
                  <a:txBody>
                    <a:bodyPr/>
                    <a:lstStyle/>
                    <a:p>
                      <a:r>
                        <a:rPr lang="en-US" sz="1800" b="1" dirty="0">
                          <a:latin typeface="Arial" panose="020B0604020202020204" pitchFamily="34" charset="0"/>
                          <a:cs typeface="Arial" panose="020B0604020202020204" pitchFamily="34" charset="0"/>
                        </a:rPr>
                        <a:t>Naïve Bayes + IF-IDF</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0.82</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0.59</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0.58</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0.79</a:t>
                      </a:r>
                    </a:p>
                  </a:txBody>
                  <a:tcPr marL="117147" marR="117147" marT="58573" marB="58573" anchor="ctr"/>
                </a:tc>
                <a:extLst>
                  <a:ext uri="{0D108BD9-81ED-4DB2-BD59-A6C34878D82A}">
                    <a16:rowId xmlns:a16="http://schemas.microsoft.com/office/drawing/2014/main" val="310542397"/>
                  </a:ext>
                </a:extLst>
              </a:tr>
              <a:tr h="475096">
                <a:tc>
                  <a:txBody>
                    <a:bodyPr/>
                    <a:lstStyle/>
                    <a:p>
                      <a:r>
                        <a:rPr lang="en-US" sz="1800" b="1" dirty="0">
                          <a:latin typeface="Arial" panose="020B0604020202020204" pitchFamily="34" charset="0"/>
                          <a:cs typeface="Arial" panose="020B0604020202020204" pitchFamily="34" charset="0"/>
                        </a:rPr>
                        <a:t>Naïve Bayes + </a:t>
                      </a:r>
                      <a:r>
                        <a:rPr lang="en-US" sz="1800" b="1" dirty="0" err="1">
                          <a:latin typeface="Arial" panose="020B0604020202020204" pitchFamily="34" charset="0"/>
                          <a:cs typeface="Arial" panose="020B0604020202020204" pitchFamily="34" charset="0"/>
                        </a:rPr>
                        <a:t>BoW</a:t>
                      </a:r>
                      <a:endParaRPr lang="en-US" sz="1800" b="1"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0.77</a:t>
                      </a:r>
                    </a:p>
                  </a:txBody>
                  <a:tcPr marL="117147" marR="117147" marT="58573" marB="58573" anchor="ctr"/>
                </a:tc>
                <a:tc>
                  <a:txBody>
                    <a:bodyPr/>
                    <a:lstStyle/>
                    <a:p>
                      <a:pPr algn="ctr"/>
                      <a:r>
                        <a:rPr lang="en-US" sz="1800" kern="1200" dirty="0">
                          <a:solidFill>
                            <a:schemeClr val="dk1"/>
                          </a:solidFill>
                          <a:effectLst/>
                          <a:latin typeface="+mn-lt"/>
                          <a:ea typeface="+mn-ea"/>
                          <a:cs typeface="+mn-cs"/>
                        </a:rPr>
                        <a:t>0.68</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0.71</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0.81</a:t>
                      </a:r>
                    </a:p>
                  </a:txBody>
                  <a:tcPr marL="117147" marR="117147" marT="58573" marB="58573" anchor="ctr"/>
                </a:tc>
                <a:extLst>
                  <a:ext uri="{0D108BD9-81ED-4DB2-BD59-A6C34878D82A}">
                    <a16:rowId xmlns:a16="http://schemas.microsoft.com/office/drawing/2014/main" val="3764874553"/>
                  </a:ext>
                </a:extLst>
              </a:tr>
              <a:tr h="475096">
                <a:tc>
                  <a:txBody>
                    <a:bodyPr/>
                    <a:lstStyle/>
                    <a:p>
                      <a:r>
                        <a:rPr lang="en-US" sz="1800" b="1" dirty="0" err="1">
                          <a:latin typeface="Arial" panose="020B0604020202020204" pitchFamily="34" charset="0"/>
                          <a:cs typeface="Arial" panose="020B0604020202020204" pitchFamily="34" charset="0"/>
                        </a:rPr>
                        <a:t>PhoBERT</a:t>
                      </a:r>
                      <a:endParaRPr lang="en-US" sz="1800" b="1"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0.86</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0.86</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0.86</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0.91</a:t>
                      </a:r>
                    </a:p>
                  </a:txBody>
                  <a:tcPr marL="117147" marR="117147" marT="58573" marB="58573" anchor="ctr"/>
                </a:tc>
                <a:extLst>
                  <a:ext uri="{0D108BD9-81ED-4DB2-BD59-A6C34878D82A}">
                    <a16:rowId xmlns:a16="http://schemas.microsoft.com/office/drawing/2014/main" val="73556931"/>
                  </a:ext>
                </a:extLst>
              </a:tr>
            </a:tbl>
          </a:graphicData>
        </a:graphic>
      </p:graphicFrame>
    </p:spTree>
    <p:extLst>
      <p:ext uri="{BB962C8B-B14F-4D97-AF65-F5344CB8AC3E}">
        <p14:creationId xmlns:p14="http://schemas.microsoft.com/office/powerpoint/2010/main" val="15721705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FA730-113D-9C21-1509-C237E57499D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03028B8-A768-266F-D00B-21F63AC441C9}"/>
              </a:ext>
            </a:extLst>
          </p:cNvPr>
          <p:cNvSpPr>
            <a:spLocks noGrp="1"/>
          </p:cNvSpPr>
          <p:nvPr>
            <p:ph type="sldNum" sz="quarter" idx="12"/>
          </p:nvPr>
        </p:nvSpPr>
        <p:spPr/>
        <p:txBody>
          <a:bodyPr/>
          <a:lstStyle/>
          <a:p>
            <a:fld id="{C1DACA90-E1C3-4C19-87AA-D4513B3BCE17}" type="slidenum">
              <a:rPr lang="en-AU" smtClean="0"/>
              <a:t>29</a:t>
            </a:fld>
            <a:endParaRPr lang="en-AU" dirty="0"/>
          </a:p>
        </p:txBody>
      </p:sp>
      <p:sp>
        <p:nvSpPr>
          <p:cNvPr id="11" name="TextBox 10">
            <a:extLst>
              <a:ext uri="{FF2B5EF4-FFF2-40B4-BE49-F238E27FC236}">
                <a16:creationId xmlns:a16="http://schemas.microsoft.com/office/drawing/2014/main" id="{881760C9-E3CC-9DD6-A8F7-9AFB547F7347}"/>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IV. XÂY DỰNG ỨNG DỤNG THỬ NGHIỆM</a:t>
            </a:r>
          </a:p>
        </p:txBody>
      </p:sp>
      <p:sp>
        <p:nvSpPr>
          <p:cNvPr id="12" name="TextBox 11">
            <a:extLst>
              <a:ext uri="{FF2B5EF4-FFF2-40B4-BE49-F238E27FC236}">
                <a16:creationId xmlns:a16="http://schemas.microsoft.com/office/drawing/2014/main" id="{BDF8383F-455E-EF5F-9FE0-B727B19237B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4.1. Giao </a:t>
            </a:r>
            <a:r>
              <a:rPr lang="en-US" sz="2000" b="1" dirty="0" err="1">
                <a:latin typeface="Arial" panose="020B0604020202020204" pitchFamily="34" charset="0"/>
                <a:cs typeface="Arial" panose="020B0604020202020204" pitchFamily="34" charset="0"/>
              </a:rPr>
              <a:t>diện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nhập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93A7D057-2AF7-7BA5-AF7A-6DB8E1371CDE}"/>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pic>
        <p:nvPicPr>
          <p:cNvPr id="3" name="Picture 2">
            <a:extLst>
              <a:ext uri="{FF2B5EF4-FFF2-40B4-BE49-F238E27FC236}">
                <a16:creationId xmlns:a16="http://schemas.microsoft.com/office/drawing/2014/main" id="{689B356C-CE08-21C8-CC61-0211B8A0F97B}"/>
              </a:ext>
            </a:extLst>
          </p:cNvPr>
          <p:cNvPicPr>
            <a:picLocks noChangeAspect="1"/>
          </p:cNvPicPr>
          <p:nvPr/>
        </p:nvPicPr>
        <p:blipFill>
          <a:blip r:embed="rId4"/>
          <a:srcRect b="19855"/>
          <a:stretch>
            <a:fillRect/>
          </a:stretch>
        </p:blipFill>
        <p:spPr>
          <a:xfrm>
            <a:off x="1560975" y="1741039"/>
            <a:ext cx="8451274" cy="4464692"/>
          </a:xfrm>
          <a:prstGeom prst="rect">
            <a:avLst/>
          </a:prstGeom>
        </p:spPr>
      </p:pic>
    </p:spTree>
    <p:extLst>
      <p:ext uri="{BB962C8B-B14F-4D97-AF65-F5344CB8AC3E}">
        <p14:creationId xmlns:p14="http://schemas.microsoft.com/office/powerpoint/2010/main" val="20735783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A3D56-61D5-8A01-9BB5-85F53F61DCF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ADEEDFD-71F9-D72F-623A-EF8B482579C4}"/>
              </a:ext>
            </a:extLst>
          </p:cNvPr>
          <p:cNvSpPr>
            <a:spLocks noGrp="1"/>
          </p:cNvSpPr>
          <p:nvPr>
            <p:ph type="sldNum" sz="quarter" idx="12"/>
          </p:nvPr>
        </p:nvSpPr>
        <p:spPr/>
        <p:txBody>
          <a:bodyPr/>
          <a:lstStyle/>
          <a:p>
            <a:fld id="{C1DACA90-E1C3-4C19-87AA-D4513B3BCE17}" type="slidenum">
              <a:rPr lang="en-AU" smtClean="0"/>
              <a:t>30</a:t>
            </a:fld>
            <a:endParaRPr lang="en-AU" dirty="0"/>
          </a:p>
        </p:txBody>
      </p:sp>
      <p:sp>
        <p:nvSpPr>
          <p:cNvPr id="11" name="TextBox 10">
            <a:extLst>
              <a:ext uri="{FF2B5EF4-FFF2-40B4-BE49-F238E27FC236}">
                <a16:creationId xmlns:a16="http://schemas.microsoft.com/office/drawing/2014/main" id="{1CE01B36-A16B-D372-E490-F994CDF4FCF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IV. XÂY DỰNG ỨNG DỤNG THỬ NGHIỆM</a:t>
            </a:r>
          </a:p>
        </p:txBody>
      </p:sp>
      <p:sp>
        <p:nvSpPr>
          <p:cNvPr id="12" name="TextBox 11">
            <a:extLst>
              <a:ext uri="{FF2B5EF4-FFF2-40B4-BE49-F238E27FC236}">
                <a16:creationId xmlns:a16="http://schemas.microsoft.com/office/drawing/2014/main" id="{EB2238DC-8D2F-A5EE-34F4-F401DF8AC48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4.2. Giao </a:t>
            </a:r>
            <a:r>
              <a:rPr lang="en-US" sz="2000" b="1" dirty="0" err="1">
                <a:latin typeface="Arial" panose="020B0604020202020204" pitchFamily="34" charset="0"/>
                <a:cs typeface="Arial" panose="020B0604020202020204" pitchFamily="34" charset="0"/>
              </a:rPr>
              <a:t>diện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kết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quả</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một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câu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bản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8BE524DD-4FBF-A18F-50DA-33CF672A72B4}"/>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pic>
        <p:nvPicPr>
          <p:cNvPr id="5" name="Picture 4">
            <a:extLst>
              <a:ext uri="{FF2B5EF4-FFF2-40B4-BE49-F238E27FC236}">
                <a16:creationId xmlns:a16="http://schemas.microsoft.com/office/drawing/2014/main" id="{EC7B195F-75E8-8C85-9E65-DA170EFC16DD}"/>
              </a:ext>
            </a:extLst>
          </p:cNvPr>
          <p:cNvPicPr>
            <a:picLocks noChangeAspect="1"/>
          </p:cNvPicPr>
          <p:nvPr/>
        </p:nvPicPr>
        <p:blipFill>
          <a:blip r:embed="rId4"/>
          <a:srcRect r="675"/>
          <a:stretch>
            <a:fillRect/>
          </a:stretch>
        </p:blipFill>
        <p:spPr>
          <a:xfrm>
            <a:off x="269278" y="1714268"/>
            <a:ext cx="7155988" cy="4741086"/>
          </a:xfrm>
          <a:prstGeom prst="rect">
            <a:avLst/>
          </a:prstGeom>
          <a:ln>
            <a:solidFill>
              <a:schemeClr val="tx2">
                <a:lumMod val="90000"/>
                <a:lumOff val="10000"/>
              </a:schemeClr>
            </a:solidFill>
          </a:ln>
        </p:spPr>
      </p:pic>
      <p:pic>
        <p:nvPicPr>
          <p:cNvPr id="6" name="Picture 5">
            <a:extLst>
              <a:ext uri="{FF2B5EF4-FFF2-40B4-BE49-F238E27FC236}">
                <a16:creationId xmlns:a16="http://schemas.microsoft.com/office/drawing/2014/main" id="{149E9E79-CC1F-9D5D-9402-66C4A69E3117}"/>
              </a:ext>
            </a:extLst>
          </p:cNvPr>
          <p:cNvPicPr>
            <a:picLocks noChangeAspect="1"/>
          </p:cNvPicPr>
          <p:nvPr/>
        </p:nvPicPr>
        <p:blipFill>
          <a:blip r:embed="rId5"/>
          <a:stretch>
            <a:fillRect/>
          </a:stretch>
        </p:blipFill>
        <p:spPr>
          <a:xfrm>
            <a:off x="7730067" y="1085869"/>
            <a:ext cx="3928534" cy="2586738"/>
          </a:xfrm>
          <a:prstGeom prst="rect">
            <a:avLst/>
          </a:prstGeom>
          <a:ln>
            <a:solidFill>
              <a:schemeClr val="tx2">
                <a:lumMod val="90000"/>
                <a:lumOff val="10000"/>
              </a:schemeClr>
            </a:solidFill>
          </a:ln>
        </p:spPr>
      </p:pic>
      <p:pic>
        <p:nvPicPr>
          <p:cNvPr id="7" name="Picture 6">
            <a:extLst>
              <a:ext uri="{FF2B5EF4-FFF2-40B4-BE49-F238E27FC236}">
                <a16:creationId xmlns:a16="http://schemas.microsoft.com/office/drawing/2014/main" id="{6ABCED65-3EC5-1A7E-0CDB-56CC18210CF5}"/>
              </a:ext>
            </a:extLst>
          </p:cNvPr>
          <p:cNvPicPr>
            <a:picLocks noChangeAspect="1"/>
          </p:cNvPicPr>
          <p:nvPr/>
        </p:nvPicPr>
        <p:blipFill>
          <a:blip r:embed="rId6"/>
          <a:stretch>
            <a:fillRect/>
          </a:stretch>
        </p:blipFill>
        <p:spPr>
          <a:xfrm>
            <a:off x="7730067" y="3854182"/>
            <a:ext cx="3928534" cy="2566972"/>
          </a:xfrm>
          <a:prstGeom prst="rect">
            <a:avLst/>
          </a:prstGeom>
          <a:ln>
            <a:solidFill>
              <a:schemeClr val="tx2">
                <a:lumMod val="90000"/>
                <a:lumOff val="10000"/>
              </a:schemeClr>
            </a:solidFill>
          </a:ln>
        </p:spPr>
      </p:pic>
    </p:spTree>
    <p:extLst>
      <p:ext uri="{BB962C8B-B14F-4D97-AF65-F5344CB8AC3E}">
        <p14:creationId xmlns:p14="http://schemas.microsoft.com/office/powerpoint/2010/main" val="34912700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DDFCA-1445-8575-B4BF-8ECFE2E6CE2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142D94C-C527-0EC5-6995-B721B8436EB4}"/>
              </a:ext>
            </a:extLst>
          </p:cNvPr>
          <p:cNvSpPr>
            <a:spLocks noGrp="1"/>
          </p:cNvSpPr>
          <p:nvPr>
            <p:ph type="sldNum" sz="quarter" idx="12"/>
          </p:nvPr>
        </p:nvSpPr>
        <p:spPr/>
        <p:txBody>
          <a:bodyPr/>
          <a:lstStyle/>
          <a:p>
            <a:fld id="{C1DACA90-E1C3-4C19-87AA-D4513B3BCE17}" type="slidenum">
              <a:rPr lang="en-AU" smtClean="0"/>
              <a:t>31</a:t>
            </a:fld>
            <a:endParaRPr lang="en-AU" dirty="0"/>
          </a:p>
        </p:txBody>
      </p:sp>
      <p:sp>
        <p:nvSpPr>
          <p:cNvPr id="11" name="TextBox 10">
            <a:extLst>
              <a:ext uri="{FF2B5EF4-FFF2-40B4-BE49-F238E27FC236}">
                <a16:creationId xmlns:a16="http://schemas.microsoft.com/office/drawing/2014/main" id="{630C3B14-5A72-5C48-1979-9882B1351F4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IV. XÂY DỰNG ỨNG DỤNG THỬ NGHIỆM</a:t>
            </a:r>
          </a:p>
        </p:txBody>
      </p:sp>
      <p:sp>
        <p:nvSpPr>
          <p:cNvPr id="12" name="TextBox 11">
            <a:extLst>
              <a:ext uri="{FF2B5EF4-FFF2-40B4-BE49-F238E27FC236}">
                <a16:creationId xmlns:a16="http://schemas.microsoft.com/office/drawing/2014/main" id="{9A107FFA-FE1E-8D51-1C64-FE74D8B2AFC3}"/>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4.3. Giao </a:t>
            </a:r>
            <a:r>
              <a:rPr lang="en-US" sz="2000" b="1" dirty="0" err="1">
                <a:latin typeface="Arial" panose="020B0604020202020204" pitchFamily="34" charset="0"/>
                <a:cs typeface="Arial" panose="020B0604020202020204" pitchFamily="34" charset="0"/>
              </a:rPr>
              <a:t>diện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kết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quả</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một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sản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phẩm</a:t>
            </a:r>
            <a:r>
              <a:rPr lang="en-US" sz="2000" b="1" dirty="0">
                <a:latin typeface="Arial" panose="020B0604020202020204" pitchFamily="34" charset="0"/>
                <a:cs typeface="Arial" panose="020B0604020202020204" pitchFamily="34" charset="0"/>
              </a:rPr>
              <a:t> </a:t>
            </a:r>
          </a:p>
        </p:txBody>
      </p:sp>
      <p:pic>
        <p:nvPicPr>
          <p:cNvPr id="2" name="Picture 1">
            <a:extLst>
              <a:ext uri="{FF2B5EF4-FFF2-40B4-BE49-F238E27FC236}">
                <a16:creationId xmlns:a16="http://schemas.microsoft.com/office/drawing/2014/main" id="{6A2A0757-5471-2A35-6579-5F05CABF3A3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pic>
        <p:nvPicPr>
          <p:cNvPr id="3" name="Picture 2">
            <a:extLst>
              <a:ext uri="{FF2B5EF4-FFF2-40B4-BE49-F238E27FC236}">
                <a16:creationId xmlns:a16="http://schemas.microsoft.com/office/drawing/2014/main" id="{3EA9AB52-81C2-A867-ECFD-32F759C26225}"/>
              </a:ext>
            </a:extLst>
          </p:cNvPr>
          <p:cNvPicPr>
            <a:picLocks noChangeAspect="1"/>
          </p:cNvPicPr>
          <p:nvPr/>
        </p:nvPicPr>
        <p:blipFill>
          <a:blip r:embed="rId4"/>
          <a:stretch>
            <a:fillRect/>
          </a:stretch>
        </p:blipFill>
        <p:spPr>
          <a:xfrm>
            <a:off x="2383447" y="1637720"/>
            <a:ext cx="7159752" cy="5040545"/>
          </a:xfrm>
          <a:prstGeom prst="rect">
            <a:avLst/>
          </a:prstGeom>
          <a:ln>
            <a:solidFill>
              <a:schemeClr val="tx2">
                <a:lumMod val="90000"/>
                <a:lumOff val="10000"/>
              </a:schemeClr>
            </a:solidFill>
          </a:ln>
        </p:spPr>
      </p:pic>
    </p:spTree>
    <p:extLst>
      <p:ext uri="{BB962C8B-B14F-4D97-AF65-F5344CB8AC3E}">
        <p14:creationId xmlns:p14="http://schemas.microsoft.com/office/powerpoint/2010/main" val="38873727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0F209-4F9F-715D-B777-C86AE7DD209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6C95B48-FABB-844A-417F-570D9F716961}"/>
              </a:ext>
            </a:extLst>
          </p:cNvPr>
          <p:cNvSpPr>
            <a:spLocks noGrp="1"/>
          </p:cNvSpPr>
          <p:nvPr>
            <p:ph type="sldNum" sz="quarter" idx="12"/>
          </p:nvPr>
        </p:nvSpPr>
        <p:spPr/>
        <p:txBody>
          <a:bodyPr/>
          <a:lstStyle/>
          <a:p>
            <a:fld id="{C1DACA90-E1C3-4C19-87AA-D4513B3BCE17}" type="slidenum">
              <a:rPr lang="en-AU" smtClean="0"/>
              <a:t>32</a:t>
            </a:fld>
            <a:endParaRPr lang="en-AU" dirty="0"/>
          </a:p>
        </p:txBody>
      </p:sp>
      <p:sp>
        <p:nvSpPr>
          <p:cNvPr id="11" name="TextBox 10">
            <a:extLst>
              <a:ext uri="{FF2B5EF4-FFF2-40B4-BE49-F238E27FC236}">
                <a16:creationId xmlns:a16="http://schemas.microsoft.com/office/drawing/2014/main" id="{E731793C-76B2-009E-6B9A-BB1B7524229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V. KẾT LUẬN VÀ HƯỚNG PHÁT TRIỂN</a:t>
            </a:r>
          </a:p>
        </p:txBody>
      </p:sp>
      <p:sp>
        <p:nvSpPr>
          <p:cNvPr id="12" name="TextBox 11">
            <a:extLst>
              <a:ext uri="{FF2B5EF4-FFF2-40B4-BE49-F238E27FC236}">
                <a16:creationId xmlns:a16="http://schemas.microsoft.com/office/drawing/2014/main" id="{646EABEF-FB8B-E94A-799E-7D194F39D63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5.1. </a:t>
            </a:r>
            <a:r>
              <a:rPr lang="en-US" sz="2000" b="1" dirty="0" err="1">
                <a:latin typeface="Arial" panose="020B0604020202020204" pitchFamily="34" charset="0"/>
                <a:cs typeface="Arial" panose="020B0604020202020204" pitchFamily="34" charset="0"/>
              </a:rPr>
              <a:t>Kết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luận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C4EA1D67-FF84-35BE-A38A-07000EB609A0}"/>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5" name="TextBox 4">
            <a:extLst>
              <a:ext uri="{FF2B5EF4-FFF2-40B4-BE49-F238E27FC236}">
                <a16:creationId xmlns:a16="http://schemas.microsoft.com/office/drawing/2014/main" id="{5B690D6A-57C9-93BB-A7E7-5CB3FA3EE90F}"/>
              </a:ext>
            </a:extLst>
          </p:cNvPr>
          <p:cNvSpPr txBox="1"/>
          <p:nvPr/>
        </p:nvSpPr>
        <p:spPr>
          <a:xfrm>
            <a:off x="255040" y="1637720"/>
            <a:ext cx="11416565" cy="412531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Về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mặt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nghiên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cứu</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cứu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huấn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xúc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tiếng</a:t>
            </a:r>
            <a:r>
              <a:rPr lang="en-US" sz="2000" dirty="0">
                <a:latin typeface="Arial" panose="020B0604020202020204" pitchFamily="34" charset="0"/>
                <a:cs typeface="Arial" panose="020B0604020202020204" pitchFamily="34" charset="0"/>
              </a:rPr>
              <a:t> Việt,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nhóm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xúc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chính</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trung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lập</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b="1" dirty="0" err="1">
                <a:latin typeface="Arial" panose="020B0604020202020204" pitchFamily="34" charset="0"/>
                <a:cs typeface="Arial" panose="020B0604020202020204" pitchFamily="34" charset="0"/>
              </a:rPr>
              <a:t>Về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mặt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ứng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dụng</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Cho </a:t>
            </a:r>
            <a:r>
              <a:rPr lang="en-US" sz="2000" dirty="0" err="1">
                <a:latin typeface="Arial" panose="020B0604020202020204" pitchFamily="34" charset="0"/>
                <a:cs typeface="Arial" panose="020B0604020202020204" pitchFamily="34" charset="0"/>
              </a:rPr>
              <a:t>thấy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tiềm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ứng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bối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phát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triển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của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tuyến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tại</a:t>
            </a:r>
            <a:r>
              <a:rPr lang="en-US" sz="2000" dirty="0">
                <a:latin typeface="Arial" panose="020B0604020202020204" pitchFamily="34" charset="0"/>
                <a:cs typeface="Arial" panose="020B0604020202020204" pitchFamily="34" charset="0"/>
              </a:rPr>
              <a:t> Việt Nam.</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b="1" dirty="0" err="1">
                <a:latin typeface="Arial" panose="020B0604020202020204" pitchFamily="34" charset="0"/>
                <a:cs typeface="Arial" panose="020B0604020202020204" pitchFamily="34" charset="0"/>
              </a:rPr>
              <a:t>Về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mặt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học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tập</a:t>
            </a:r>
            <a:r>
              <a:rPr lang="en-US" sz="2000" b="1"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giúp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áp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mang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nhiều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trị</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mặt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rèn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4938409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836A1-5D5C-FD7A-C3C3-97D774A1351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EBF39D-CFFE-3570-8AD1-779904E5D86E}"/>
              </a:ext>
            </a:extLst>
          </p:cNvPr>
          <p:cNvSpPr>
            <a:spLocks noGrp="1"/>
          </p:cNvSpPr>
          <p:nvPr>
            <p:ph type="sldNum" sz="quarter" idx="12"/>
          </p:nvPr>
        </p:nvSpPr>
        <p:spPr/>
        <p:txBody>
          <a:bodyPr/>
          <a:lstStyle/>
          <a:p>
            <a:fld id="{C1DACA90-E1C3-4C19-87AA-D4513B3BCE17}" type="slidenum">
              <a:rPr lang="en-AU" smtClean="0"/>
              <a:t>33</a:t>
            </a:fld>
            <a:endParaRPr lang="en-AU" dirty="0"/>
          </a:p>
        </p:txBody>
      </p:sp>
      <p:sp>
        <p:nvSpPr>
          <p:cNvPr id="11" name="TextBox 10">
            <a:extLst>
              <a:ext uri="{FF2B5EF4-FFF2-40B4-BE49-F238E27FC236}">
                <a16:creationId xmlns:a16="http://schemas.microsoft.com/office/drawing/2014/main" id="{70CAF056-D359-3586-CA3E-1A619F892370}"/>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V. KẾT LUẬN VÀ HƯỚNG PHÁT TRIỂN</a:t>
            </a:r>
          </a:p>
        </p:txBody>
      </p:sp>
      <p:sp>
        <p:nvSpPr>
          <p:cNvPr id="12" name="TextBox 11">
            <a:extLst>
              <a:ext uri="{FF2B5EF4-FFF2-40B4-BE49-F238E27FC236}">
                <a16:creationId xmlns:a16="http://schemas.microsoft.com/office/drawing/2014/main" id="{4C1DCE98-514E-99A7-E1AE-6F8586B842C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5.2. </a:t>
            </a:r>
            <a:r>
              <a:rPr lang="en-US" sz="2000" b="1" dirty="0" err="1">
                <a:latin typeface="Arial" panose="020B0604020202020204" pitchFamily="34" charset="0"/>
                <a:cs typeface="Arial" panose="020B0604020202020204" pitchFamily="34" charset="0"/>
              </a:rPr>
              <a:t>Hướng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phát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triển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10FC1340-5562-C30E-1D8B-994AA630DF8E}"/>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5" name="TextBox 4">
            <a:extLst>
              <a:ext uri="{FF2B5EF4-FFF2-40B4-BE49-F238E27FC236}">
                <a16:creationId xmlns:a16="http://schemas.microsoft.com/office/drawing/2014/main" id="{C44637A1-8A78-D5F8-1BEF-BA6DE41EE154}"/>
              </a:ext>
            </a:extLst>
          </p:cNvPr>
          <p:cNvSpPr txBox="1"/>
          <p:nvPr/>
        </p:nvSpPr>
        <p:spPr>
          <a:xfrm>
            <a:off x="255040" y="1637720"/>
            <a:ext cx="10021569" cy="4636092"/>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Thu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thêm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kết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err="1">
                <a:latin typeface="Arial" panose="020B0604020202020204" pitchFamily="34" charset="0"/>
                <a:cs typeface="Arial" panose="020B0604020202020204" pitchFamily="34" charset="0"/>
              </a:rPr>
              <a:t>Huấn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thêm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sâu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sau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đó</a:t>
            </a:r>
            <a:r>
              <a:rPr lang="en-US" sz="2000" dirty="0">
                <a:latin typeface="Arial" panose="020B0604020202020204" pitchFamily="34" charset="0"/>
                <a:cs typeface="Arial" panose="020B0604020202020204" pitchFamily="34" charset="0"/>
              </a:rPr>
              <a:t> so </a:t>
            </a:r>
            <a:r>
              <a:rPr lang="en-US" sz="2000" dirty="0" err="1">
                <a:latin typeface="Arial" panose="020B0604020202020204" pitchFamily="34" charset="0"/>
                <a:cs typeface="Arial" panose="020B0604020202020204" pitchFamily="34" charset="0"/>
              </a:rPr>
              <a:t>sánh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kết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tại</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err="1">
                <a:latin typeface="Arial" panose="020B0604020202020204" pitchFamily="34" charset="0"/>
                <a:cs typeface="Arial" panose="020B0604020202020204" pitchFamily="34" charset="0"/>
              </a:rPr>
              <a:t>Xây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ứng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mở</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duyệt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phép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kết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trang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giúp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người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dễ</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nhiều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nhau</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6631204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97A65-8FD1-D2AC-1591-870FE7B4460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CDDD86-E8F1-56AA-C6BC-38BA8983B37F}"/>
              </a:ext>
            </a:extLst>
          </p:cNvPr>
          <p:cNvSpPr>
            <a:spLocks noGrp="1"/>
          </p:cNvSpPr>
          <p:nvPr>
            <p:ph type="sldNum" sz="quarter" idx="12"/>
          </p:nvPr>
        </p:nvSpPr>
        <p:spPr/>
        <p:txBody>
          <a:bodyPr/>
          <a:lstStyle/>
          <a:p>
            <a:fld id="{C1DACA90-E1C3-4C19-87AA-D4513B3BCE17}" type="slidenum">
              <a:rPr lang="en-AU" smtClean="0"/>
              <a:t>34</a:t>
            </a:fld>
            <a:endParaRPr lang="en-AU" dirty="0"/>
          </a:p>
        </p:txBody>
      </p:sp>
      <p:sp>
        <p:nvSpPr>
          <p:cNvPr id="3" name="Title 1">
            <a:extLst>
              <a:ext uri="{FF2B5EF4-FFF2-40B4-BE49-F238E27FC236}">
                <a16:creationId xmlns:a16="http://schemas.microsoft.com/office/drawing/2014/main" id="{C9219971-A26D-A088-3967-B7E0F05A2C3F}"/>
              </a:ext>
            </a:extLst>
          </p:cNvPr>
          <p:cNvSpPr txBox="1">
            <a:spLocks/>
          </p:cNvSpPr>
          <p:nvPr/>
        </p:nvSpPr>
        <p:spPr>
          <a:xfrm>
            <a:off x="2117957" y="2699860"/>
            <a:ext cx="7956086" cy="145828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000" b="1" dirty="0" err="1">
                <a:solidFill>
                  <a:srgbClr val="053384"/>
                </a:solidFill>
                <a:latin typeface="Arial" panose="020B0604020202020204" pitchFamily="34" charset="0"/>
                <a:cs typeface="Arial" panose="020B0604020202020204" pitchFamily="34" charset="0"/>
              </a:rPr>
              <a:t>Cảm</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ơn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tất</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cả</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thầy</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cô</a:t>
            </a:r>
            <a:endParaRPr lang="en-US" sz="5000" b="1" dirty="0">
              <a:solidFill>
                <a:srgbClr val="053384"/>
              </a:solidFill>
              <a:latin typeface="Arial" panose="020B0604020202020204" pitchFamily="34" charset="0"/>
              <a:cs typeface="Arial" panose="020B0604020202020204" pitchFamily="34" charset="0"/>
            </a:endParaRPr>
          </a:p>
          <a:p>
            <a:r>
              <a:rPr lang="en-US" sz="5000" b="1" dirty="0" err="1">
                <a:solidFill>
                  <a:srgbClr val="053384"/>
                </a:solidFill>
                <a:latin typeface="Arial" panose="020B0604020202020204" pitchFamily="34" charset="0"/>
                <a:cs typeface="Arial" panose="020B0604020202020204" pitchFamily="34" charset="0"/>
              </a:rPr>
              <a:t>và</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các</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bạn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đã</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lắng</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nghe</a:t>
            </a:r>
            <a:r>
              <a:rPr lang="en-US" sz="5000" b="1" dirty="0">
                <a:solidFill>
                  <a:srgbClr val="053384"/>
                </a:solidFill>
                <a:latin typeface="Arial" panose="020B0604020202020204" pitchFamily="34" charset="0"/>
                <a:cs typeface="Arial" panose="020B0604020202020204" pitchFamily="34" charset="0"/>
              </a:rPr>
              <a:t>!</a:t>
            </a:r>
            <a:endParaRPr lang="en-AU" sz="5000" b="1" dirty="0">
              <a:solidFill>
                <a:srgbClr val="053384"/>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4104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Roboto"/>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615</TotalTime>
  <Words>5366</Words>
  <Application>Microsoft Office PowerPoint</Application>
  <PresentationFormat>Widescreen</PresentationFormat>
  <Paragraphs>435</Paragraphs>
  <Slides>35</Slides>
  <Notes>35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Aptos</vt:lpstr>
      <vt:lpstr>Arial</vt:lpstr>
      <vt:lpstr>Cambria Math</vt:lpstr>
      <vt:lpstr>Roboto</vt:lpstr>
      <vt:lpstr>Times New Roman</vt:lpstr>
      <vt:lpstr>Office Theme</vt:lpstr>
      <vt:lpstr>Nhận diện cảm xúc từ văn bản tiếng Việt bằng mô hình NLP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VANHIEP</cp:lastModifiedBy>
  <cp:revision>665</cp:revision>
  <dcterms:created xsi:type="dcterms:W3CDTF">2025-08-31T05:07:06Z</dcterms:created>
  <dcterms:modified xsi:type="dcterms:W3CDTF">2025-09-03T18:47:00Z</dcterms:modified>
</cp:coreProperties>
</file>